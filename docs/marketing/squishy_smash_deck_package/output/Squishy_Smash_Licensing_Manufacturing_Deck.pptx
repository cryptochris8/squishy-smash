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0B17"/>
        </a:solidFill>
      </p:bgPr>
    </p:bg>
    <p:spTree>
      <p:nvGrpSpPr>
        <p:cNvPr id="1" name=""/>
        <p:cNvGrpSpPr/>
        <p:nvPr/>
      </p:nvGrpSpPr>
      <p:grpSpPr>
        <a:xfrm>
          <a:off x="0" y="0"/>
          <a:ext cx="0" cy="0"/>
          <a:chOff x="0" y="0"/>
          <a:chExt cx="0" cy="0"/>
        </a:xfrm>
      </p:grpSpPr>
      <p:pic>
        <p:nvPicPr>
          <p:cNvPr id="2" name="Image 0" descr="D:\squishy-smash\docs\marketing\squishy_smash_deck_package\assets\staged\logo.png">    </p:cNvPr>
          <p:cNvPicPr>
            <a:picLocks noChangeAspect="1"/>
          </p:cNvPicPr>
          <p:nvPr/>
        </p:nvPicPr>
        <p:blipFill>
          <a:blip r:embed="rId1"/>
          <a:stretch>
            <a:fillRect/>
          </a:stretch>
        </p:blipFill>
        <p:spPr>
          <a:xfrm>
            <a:off x="4456593" y="457200"/>
            <a:ext cx="3294054" cy="2331720"/>
          </a:xfrm>
          <a:prstGeom prst="rect">
            <a:avLst/>
          </a:prstGeom>
        </p:spPr>
      </p:pic>
      <p:sp>
        <p:nvSpPr>
          <p:cNvPr id="3" name="Text 0"/>
          <p:cNvSpPr/>
          <p:nvPr/>
        </p:nvSpPr>
        <p:spPr>
          <a:xfrm>
            <a:off x="658368" y="2926080"/>
            <a:ext cx="10881360" cy="420624"/>
          </a:xfrm>
          <a:prstGeom prst="rect">
            <a:avLst/>
          </a:prstGeom>
          <a:noFill/>
          <a:ln/>
        </p:spPr>
        <p:txBody>
          <a:bodyPr wrap="square" rtlCol="0" anchor="ctr"/>
          <a:lstStyle/>
          <a:p>
            <a:pPr algn="ctr" indent="0" marL="0">
              <a:buNone/>
            </a:pPr>
            <a:r>
              <a:rPr lang="en-US" sz="2100" b="1" spc="120" kern="0" dirty="0">
                <a:solidFill>
                  <a:srgbClr val="FFD36E"/>
                </a:solidFill>
                <a:latin typeface="Trebuchet MS" pitchFamily="34" charset="0"/>
                <a:ea typeface="Trebuchet MS" pitchFamily="34" charset="-122"/>
                <a:cs typeface="Trebuchet MS" pitchFamily="34" charset="-120"/>
              </a:rPr>
              <a:t>Licensing &amp; Manufacturing Opportunity</a:t>
            </a:r>
            <a:endParaRPr lang="en-US" sz="2100" dirty="0"/>
          </a:p>
        </p:txBody>
      </p:sp>
      <p:sp>
        <p:nvSpPr>
          <p:cNvPr id="4" name="Text 1"/>
          <p:cNvSpPr/>
          <p:nvPr/>
        </p:nvSpPr>
        <p:spPr>
          <a:xfrm>
            <a:off x="2194560" y="3438144"/>
            <a:ext cx="7772400" cy="420624"/>
          </a:xfrm>
          <a:prstGeom prst="rect">
            <a:avLst/>
          </a:prstGeom>
          <a:noFill/>
          <a:ln/>
        </p:spPr>
        <p:txBody>
          <a:bodyPr wrap="square" rtlCol="0" anchor="ctr"/>
          <a:lstStyle/>
          <a:p>
            <a:pPr algn="ctr" indent="0" marL="0">
              <a:buNone/>
            </a:pPr>
            <a:r>
              <a:rPr lang="en-US" sz="1350" dirty="0">
                <a:solidFill>
                  <a:srgbClr val="C9BCD2"/>
                </a:solidFill>
                <a:latin typeface="Arial" pitchFamily="34" charset="0"/>
                <a:ea typeface="Arial" pitchFamily="34" charset="-122"/>
                <a:cs typeface="Arial" pitchFamily="34" charset="-120"/>
              </a:rPr>
              <a:t>An original character universe ready to become a physical collectible toy line.</a:t>
            </a:r>
            <a:endParaRPr lang="en-US" sz="1350" dirty="0"/>
          </a:p>
        </p:txBody>
      </p:sp>
      <p:pic>
        <p:nvPicPr>
          <p:cNvPr id="5" name="Image 1" descr="D:\squishy-smash\docs\marketing\squishy_smash_deck_package\assets\staged\model_blushy_bun_bunny.png">    </p:cNvPr>
          <p:cNvPicPr>
            <a:picLocks noChangeAspect="1"/>
          </p:cNvPicPr>
          <p:nvPr/>
        </p:nvPicPr>
        <p:blipFill>
          <a:blip r:embed="rId2"/>
          <a:stretch>
            <a:fillRect/>
          </a:stretch>
        </p:blipFill>
        <p:spPr>
          <a:xfrm>
            <a:off x="1194664" y="4187952"/>
            <a:ext cx="1755648" cy="1755648"/>
          </a:xfrm>
          <a:prstGeom prst="rect">
            <a:avLst/>
          </a:prstGeom>
        </p:spPr>
      </p:pic>
      <p:pic>
        <p:nvPicPr>
          <p:cNvPr id="6" name="Image 2" descr="D:\squishy-smash\docs\marketing\squishy_smash_deck_package\assets\staged\model_soft_dumpling.png">    </p:cNvPr>
          <p:cNvPicPr>
            <a:picLocks noChangeAspect="1"/>
          </p:cNvPicPr>
          <p:nvPr/>
        </p:nvPicPr>
        <p:blipFill>
          <a:blip r:embed="rId3"/>
          <a:stretch>
            <a:fillRect/>
          </a:stretch>
        </p:blipFill>
        <p:spPr>
          <a:xfrm>
            <a:off x="3206344" y="4187952"/>
            <a:ext cx="1755648" cy="1755648"/>
          </a:xfrm>
          <a:prstGeom prst="rect">
            <a:avLst/>
          </a:prstGeom>
        </p:spPr>
      </p:pic>
      <p:pic>
        <p:nvPicPr>
          <p:cNvPr id="7" name="Image 3" descr="D:\squishy-smash\docs\marketing\squishy_smash_deck_package\assets\staged\model_goo_ball.png">    </p:cNvPr>
          <p:cNvPicPr>
            <a:picLocks noChangeAspect="1"/>
          </p:cNvPicPr>
          <p:nvPr/>
        </p:nvPicPr>
        <p:blipFill>
          <a:blip r:embed="rId4"/>
          <a:stretch>
            <a:fillRect/>
          </a:stretch>
        </p:blipFill>
        <p:spPr>
          <a:xfrm>
            <a:off x="5218024" y="4187952"/>
            <a:ext cx="1755648" cy="1755648"/>
          </a:xfrm>
          <a:prstGeom prst="rect">
            <a:avLst/>
          </a:prstGeom>
        </p:spPr>
      </p:pic>
      <p:pic>
        <p:nvPicPr>
          <p:cNvPr id="8" name="Image 4" descr="D:\squishy-smash\docs\marketing\squishy_smash_deck_package\assets\staged\model_celestial_dumpling_core.png">    </p:cNvPr>
          <p:cNvPicPr>
            <a:picLocks noChangeAspect="1"/>
          </p:cNvPicPr>
          <p:nvPr/>
        </p:nvPicPr>
        <p:blipFill>
          <a:blip r:embed="rId5"/>
          <a:stretch>
            <a:fillRect/>
          </a:stretch>
        </p:blipFill>
        <p:spPr>
          <a:xfrm>
            <a:off x="7229704" y="4187952"/>
            <a:ext cx="1755648" cy="1755648"/>
          </a:xfrm>
          <a:prstGeom prst="rect">
            <a:avLst/>
          </a:prstGeom>
        </p:spPr>
      </p:pic>
      <p:pic>
        <p:nvPicPr>
          <p:cNvPr id="9" name="Image 5" descr="D:\squishy-smash\docs\marketing\squishy_smash_deck_package\assets\staged\model_mythic_plush_familiar.png">    </p:cNvPr>
          <p:cNvPicPr>
            <a:picLocks noChangeAspect="1"/>
          </p:cNvPicPr>
          <p:nvPr/>
        </p:nvPicPr>
        <p:blipFill>
          <a:blip r:embed="rId6"/>
          <a:stretch>
            <a:fillRect/>
          </a:stretch>
        </p:blipFill>
        <p:spPr>
          <a:xfrm>
            <a:off x="9241384" y="4187952"/>
            <a:ext cx="1755648" cy="1755648"/>
          </a:xfrm>
          <a:prstGeom prst="rect">
            <a:avLst/>
          </a:prstGeom>
        </p:spPr>
      </p:pic>
      <p:sp>
        <p:nvSpPr>
          <p:cNvPr id="10" name="Text 2"/>
          <p:cNvSpPr/>
          <p:nvPr/>
        </p:nvSpPr>
        <p:spPr>
          <a:xfrm>
            <a:off x="658368" y="6455664"/>
            <a:ext cx="7315200" cy="228600"/>
          </a:xfrm>
          <a:prstGeom prst="rect">
            <a:avLst/>
          </a:prstGeom>
          <a:noFill/>
          <a:ln/>
        </p:spPr>
        <p:txBody>
          <a:bodyPr wrap="square" rtlCol="0" anchor="ctr"/>
          <a:lstStyle/>
          <a:p>
            <a:pPr indent="0" marL="0">
              <a:buNone/>
            </a:pPr>
            <a:r>
              <a:rPr lang="en-US" sz="950" dirty="0">
                <a:solidFill>
                  <a:srgbClr val="6F6079"/>
                </a:solidFill>
                <a:latin typeface="Arial" pitchFamily="34" charset="0"/>
                <a:ea typeface="Arial" pitchFamily="34" charset="-122"/>
                <a:cs typeface="Arial" pitchFamily="34" charset="-120"/>
              </a:rPr>
              <a:t>Squishy Smash  |  Confidential Concept Presentation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1</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6E37B0"/>
                </a:solidFill>
                <a:latin typeface="Arial" pitchFamily="34" charset="0"/>
                <a:ea typeface="Arial" pitchFamily="34" charset="-122"/>
                <a:cs typeface="Arial" pitchFamily="34" charset="-120"/>
              </a:rPr>
              <a:t>THE OPPORTUNITY</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From Digital Characters to Real-World Collectibles</a:t>
            </a:r>
            <a:endParaRPr lang="en-US" sz="3000" dirty="0"/>
          </a:p>
        </p:txBody>
      </p:sp>
      <p:sp>
        <p:nvSpPr>
          <p:cNvPr id="6" name="Shape 4"/>
          <p:cNvSpPr/>
          <p:nvPr/>
        </p:nvSpPr>
        <p:spPr>
          <a:xfrm>
            <a:off x="658368" y="1737360"/>
            <a:ext cx="786384" cy="50292"/>
          </a:xfrm>
          <a:prstGeom prst="rect">
            <a:avLst/>
          </a:prstGeom>
          <a:solidFill>
            <a:srgbClr val="6E37B0"/>
          </a:solidFill>
          <a:ln w="12700">
            <a:solidFill>
              <a:srgbClr val="333333"/>
            </a:solidFill>
            <a:prstDash val="solid"/>
          </a:ln>
        </p:spPr>
      </p:sp>
      <p:sp>
        <p:nvSpPr>
          <p:cNvPr id="7" name="Text 5"/>
          <p:cNvSpPr/>
          <p:nvPr/>
        </p:nvSpPr>
        <p:spPr>
          <a:xfrm>
            <a:off x="658368" y="2084832"/>
            <a:ext cx="6492240" cy="2194560"/>
          </a:xfrm>
          <a:prstGeom prst="rect">
            <a:avLst/>
          </a:prstGeom>
          <a:noFill/>
          <a:ln/>
        </p:spPr>
        <p:txBody>
          <a:bodyPr wrap="square" rtlCol="0" anchor="t"/>
          <a:lstStyle/>
          <a:p>
            <a:pPr indent="0" marL="0">
              <a:lnSpc>
                <a:spcPct val="130000"/>
              </a:lnSpc>
              <a:buNone/>
            </a:pPr>
            <a:r>
              <a:rPr lang="en-US" sz="1450" dirty="0">
                <a:solidFill>
                  <a:srgbClr val="4A3F52"/>
                </a:solidFill>
                <a:latin typeface="Arial" pitchFamily="34" charset="0"/>
                <a:ea typeface="Arial" pitchFamily="34" charset="-122"/>
                <a:cs typeface="Arial" pitchFamily="34" charset="-120"/>
              </a:rPr>
              <a:t>Squishy Smash is a developed children’s character brand with original art, two published books, trading cards, a mobile game, a Roblox experience, and 3D character models already in place.</a:t>
            </a:r>
            <a:endParaRPr lang="en-US" sz="1450" dirty="0"/>
          </a:p>
          <a:p>
            <a:pPr indent="0" marL="0">
              <a:lnSpc>
                <a:spcPct val="130000"/>
              </a:lnSpc>
              <a:buNone/>
            </a:pPr>
            <a:endParaRPr lang="en-US" sz="1450" dirty="0"/>
          </a:p>
          <a:p>
            <a:pPr indent="0" marL="0">
              <a:lnSpc>
                <a:spcPct val="130000"/>
              </a:lnSpc>
              <a:buNone/>
            </a:pPr>
            <a:r>
              <a:rPr lang="en-US" sz="1450" dirty="0">
                <a:solidFill>
                  <a:srgbClr val="4A3F52"/>
                </a:solidFill>
                <a:latin typeface="Arial" pitchFamily="34" charset="0"/>
                <a:ea typeface="Arial" pitchFamily="34" charset="-122"/>
                <a:cs typeface="Arial" pitchFamily="34" charset="-120"/>
              </a:rPr>
              <a:t>The next step is bringing selected characters into the physical world as collectible slow-rise squishy toys.</a:t>
            </a:r>
            <a:endParaRPr lang="en-US" sz="1450" dirty="0"/>
          </a:p>
        </p:txBody>
      </p:sp>
      <p:sp>
        <p:nvSpPr>
          <p:cNvPr id="8" name="Shape 6"/>
          <p:cNvSpPr/>
          <p:nvPr/>
        </p:nvSpPr>
        <p:spPr>
          <a:xfrm>
            <a:off x="658368" y="4416552"/>
            <a:ext cx="6492240" cy="1051560"/>
          </a:xfrm>
          <a:prstGeom prst="roundRect">
            <a:avLst>
              <a:gd name="adj" fmla="val 12174"/>
            </a:avLst>
          </a:prstGeom>
          <a:solidFill>
            <a:srgbClr val="FFF0F6"/>
          </a:solidFill>
          <a:ln w="12700">
            <a:solidFill>
              <a:srgbClr val="333333"/>
            </a:solidFill>
            <a:prstDash val="solid"/>
          </a:ln>
        </p:spPr>
      </p:sp>
      <p:sp>
        <p:nvSpPr>
          <p:cNvPr id="9" name="Shape 7"/>
          <p:cNvSpPr/>
          <p:nvPr/>
        </p:nvSpPr>
        <p:spPr>
          <a:xfrm>
            <a:off x="658368" y="4416552"/>
            <a:ext cx="64008" cy="1051560"/>
          </a:xfrm>
          <a:prstGeom prst="rect">
            <a:avLst/>
          </a:prstGeom>
          <a:solidFill>
            <a:srgbClr val="C4306E"/>
          </a:solidFill>
          <a:ln w="12700">
            <a:solidFill>
              <a:srgbClr val="333333"/>
            </a:solidFill>
            <a:prstDash val="solid"/>
          </a:ln>
        </p:spPr>
      </p:sp>
      <p:sp>
        <p:nvSpPr>
          <p:cNvPr id="10" name="Text 8"/>
          <p:cNvSpPr/>
          <p:nvPr/>
        </p:nvSpPr>
        <p:spPr>
          <a:xfrm>
            <a:off x="950976" y="4416552"/>
            <a:ext cx="5943600" cy="1051560"/>
          </a:xfrm>
          <a:prstGeom prst="rect">
            <a:avLst/>
          </a:prstGeom>
          <a:noFill/>
          <a:ln/>
        </p:spPr>
        <p:txBody>
          <a:bodyPr wrap="square" rtlCol="0" anchor="ctr"/>
          <a:lstStyle/>
          <a:p>
            <a:pPr indent="0" marL="0">
              <a:buNone/>
            </a:pPr>
            <a:r>
              <a:rPr lang="en-US" sz="1550" b="1" dirty="0">
                <a:solidFill>
                  <a:srgbClr val="120B17"/>
                </a:solidFill>
                <a:latin typeface="Trebuchet MS" pitchFamily="34" charset="0"/>
                <a:ea typeface="Trebuchet MS" pitchFamily="34" charset="-122"/>
                <a:cs typeface="Trebuchet MS" pitchFamily="34" charset="-120"/>
              </a:rPr>
              <a:t>The brand foundation is built. Product development can begin from existing character assets.</a:t>
            </a:r>
            <a:endParaRPr lang="en-US" sz="1550" dirty="0"/>
          </a:p>
        </p:txBody>
      </p:sp>
      <p:sp>
        <p:nvSpPr>
          <p:cNvPr id="11" name="Shape 9"/>
          <p:cNvSpPr/>
          <p:nvPr/>
        </p:nvSpPr>
        <p:spPr>
          <a:xfrm>
            <a:off x="7879385" y="2237537"/>
            <a:ext cx="3352190" cy="3352190"/>
          </a:xfrm>
          <a:prstGeom prst="ellipse">
            <a:avLst/>
          </a:prstGeom>
          <a:solidFill>
            <a:srgbClr val="FFF0F6"/>
          </a:solidFill>
          <a:ln w="12700">
            <a:solidFill>
              <a:srgbClr val="333333"/>
            </a:solidFill>
            <a:prstDash val="solid"/>
          </a:ln>
        </p:spPr>
      </p:sp>
      <p:pic>
        <p:nvPicPr>
          <p:cNvPr id="12" name="Image 0" descr="D:\squishy-smash\docs\marketing\squishy_smash_deck_package\assets\staged\model_soft_dumpling.png">    </p:cNvPr>
          <p:cNvPicPr>
            <a:picLocks noChangeAspect="1"/>
          </p:cNvPicPr>
          <p:nvPr/>
        </p:nvPicPr>
        <p:blipFill>
          <a:blip r:embed="rId1"/>
          <a:stretch>
            <a:fillRect/>
          </a:stretch>
        </p:blipFill>
        <p:spPr>
          <a:xfrm>
            <a:off x="8022031" y="2380183"/>
            <a:ext cx="3066898" cy="30668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2</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17788F"/>
                </a:solidFill>
                <a:latin typeface="Arial" pitchFamily="34" charset="0"/>
                <a:ea typeface="Arial" pitchFamily="34" charset="-122"/>
                <a:cs typeface="Arial" pitchFamily="34" charset="-120"/>
              </a:rPr>
              <a:t>BRAND ECOSYSTEM</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A Connected Character Universe</a:t>
            </a:r>
            <a:endParaRPr lang="en-US" sz="3000" dirty="0"/>
          </a:p>
        </p:txBody>
      </p:sp>
      <p:sp>
        <p:nvSpPr>
          <p:cNvPr id="6" name="Shape 4"/>
          <p:cNvSpPr/>
          <p:nvPr/>
        </p:nvSpPr>
        <p:spPr>
          <a:xfrm>
            <a:off x="658368" y="1737360"/>
            <a:ext cx="786384" cy="50292"/>
          </a:xfrm>
          <a:prstGeom prst="rect">
            <a:avLst/>
          </a:prstGeom>
          <a:solidFill>
            <a:srgbClr val="17788F"/>
          </a:solidFill>
          <a:ln w="12700">
            <a:solidFill>
              <a:srgbClr val="333333"/>
            </a:solidFill>
            <a:prstDash val="solid"/>
          </a:ln>
        </p:spPr>
      </p:sp>
      <p:sp>
        <p:nvSpPr>
          <p:cNvPr id="7" name="Shape 5"/>
          <p:cNvSpPr/>
          <p:nvPr/>
        </p:nvSpPr>
        <p:spPr>
          <a:xfrm>
            <a:off x="6096305" y="4041648"/>
            <a:ext cx="0" cy="-1810512"/>
          </a:xfrm>
          <a:prstGeom prst="line">
            <a:avLst/>
          </a:prstGeom>
          <a:noFill/>
          <a:ln w="13970">
            <a:solidFill>
              <a:srgbClr val="E7DEE8"/>
            </a:solidFill>
            <a:prstDash val="solid"/>
          </a:ln>
        </p:spPr>
      </p:sp>
      <p:sp>
        <p:nvSpPr>
          <p:cNvPr id="8" name="Shape 6"/>
          <p:cNvSpPr/>
          <p:nvPr/>
        </p:nvSpPr>
        <p:spPr>
          <a:xfrm>
            <a:off x="6096305" y="4041648"/>
            <a:ext cx="3038354" cy="-1128836"/>
          </a:xfrm>
          <a:prstGeom prst="line">
            <a:avLst/>
          </a:prstGeom>
          <a:noFill/>
          <a:ln w="13970">
            <a:solidFill>
              <a:srgbClr val="E7DEE8"/>
            </a:solidFill>
            <a:prstDash val="solid"/>
          </a:ln>
        </p:spPr>
      </p:sp>
      <p:sp>
        <p:nvSpPr>
          <p:cNvPr id="9" name="Shape 7"/>
          <p:cNvSpPr/>
          <p:nvPr/>
        </p:nvSpPr>
        <p:spPr>
          <a:xfrm>
            <a:off x="6096305" y="4041648"/>
            <a:ext cx="3788765" cy="402877"/>
          </a:xfrm>
          <a:prstGeom prst="line">
            <a:avLst/>
          </a:prstGeom>
          <a:noFill/>
          <a:ln w="13970">
            <a:solidFill>
              <a:srgbClr val="E7DEE8"/>
            </a:solidFill>
            <a:prstDash val="solid"/>
          </a:ln>
        </p:spPr>
      </p:sp>
      <p:sp>
        <p:nvSpPr>
          <p:cNvPr id="10" name="Shape 8"/>
          <p:cNvSpPr/>
          <p:nvPr/>
        </p:nvSpPr>
        <p:spPr>
          <a:xfrm>
            <a:off x="6096305" y="4041648"/>
            <a:ext cx="1686159" cy="1631215"/>
          </a:xfrm>
          <a:prstGeom prst="line">
            <a:avLst/>
          </a:prstGeom>
          <a:noFill/>
          <a:ln w="13970">
            <a:solidFill>
              <a:srgbClr val="E7DEE8"/>
            </a:solidFill>
            <a:prstDash val="solid"/>
          </a:ln>
        </p:spPr>
      </p:sp>
      <p:sp>
        <p:nvSpPr>
          <p:cNvPr id="11" name="Shape 9"/>
          <p:cNvSpPr/>
          <p:nvPr/>
        </p:nvSpPr>
        <p:spPr>
          <a:xfrm>
            <a:off x="6096305" y="4041648"/>
            <a:ext cx="-1686159" cy="1631215"/>
          </a:xfrm>
          <a:prstGeom prst="line">
            <a:avLst/>
          </a:prstGeom>
          <a:noFill/>
          <a:ln w="13970">
            <a:solidFill>
              <a:srgbClr val="E7DEE8"/>
            </a:solidFill>
            <a:prstDash val="solid"/>
          </a:ln>
        </p:spPr>
      </p:sp>
      <p:sp>
        <p:nvSpPr>
          <p:cNvPr id="12" name="Shape 10"/>
          <p:cNvSpPr/>
          <p:nvPr/>
        </p:nvSpPr>
        <p:spPr>
          <a:xfrm>
            <a:off x="6096305" y="4041648"/>
            <a:ext cx="-3788765" cy="402877"/>
          </a:xfrm>
          <a:prstGeom prst="line">
            <a:avLst/>
          </a:prstGeom>
          <a:noFill/>
          <a:ln w="13970">
            <a:solidFill>
              <a:srgbClr val="E7DEE8"/>
            </a:solidFill>
            <a:prstDash val="solid"/>
          </a:ln>
        </p:spPr>
      </p:sp>
      <p:sp>
        <p:nvSpPr>
          <p:cNvPr id="13" name="Shape 11"/>
          <p:cNvSpPr/>
          <p:nvPr/>
        </p:nvSpPr>
        <p:spPr>
          <a:xfrm>
            <a:off x="6096305" y="4041648"/>
            <a:ext cx="-3038354" cy="-1128836"/>
          </a:xfrm>
          <a:prstGeom prst="line">
            <a:avLst/>
          </a:prstGeom>
          <a:noFill/>
          <a:ln w="20320">
            <a:solidFill>
              <a:srgbClr val="C4306E"/>
            </a:solidFill>
            <a:prstDash val="dash"/>
          </a:ln>
        </p:spPr>
      </p:sp>
      <p:sp>
        <p:nvSpPr>
          <p:cNvPr id="14" name="Shape 12"/>
          <p:cNvSpPr/>
          <p:nvPr/>
        </p:nvSpPr>
        <p:spPr>
          <a:xfrm>
            <a:off x="5163617" y="3255264"/>
            <a:ext cx="1865376" cy="1572768"/>
          </a:xfrm>
          <a:prstGeom prst="ellipse">
            <a:avLst/>
          </a:prstGeom>
          <a:solidFill>
            <a:srgbClr val="120B17"/>
          </a:solidFill>
          <a:ln w="25400">
            <a:solidFill>
              <a:srgbClr val="FF8FB8"/>
            </a:solidFill>
            <a:prstDash val="solid"/>
          </a:ln>
        </p:spPr>
      </p:sp>
      <p:sp>
        <p:nvSpPr>
          <p:cNvPr id="15" name="Text 13"/>
          <p:cNvSpPr/>
          <p:nvPr/>
        </p:nvSpPr>
        <p:spPr>
          <a:xfrm>
            <a:off x="5163617" y="3255264"/>
            <a:ext cx="1865376" cy="1572768"/>
          </a:xfrm>
          <a:prstGeom prst="rect">
            <a:avLst/>
          </a:prstGeom>
          <a:noFill/>
          <a:ln/>
        </p:spPr>
        <p:txBody>
          <a:bodyPr wrap="square" rtlCol="0" anchor="ctr"/>
          <a:lstStyle/>
          <a:p>
            <a:pPr algn="ctr" indent="0" marL="0">
              <a:lnSpc>
                <a:spcPct val="95000"/>
              </a:lnSpc>
              <a:buNone/>
            </a:pPr>
            <a:r>
              <a:rPr lang="en-US" sz="1500" b="1" dirty="0">
                <a:solidFill>
                  <a:srgbClr val="FFFFFF"/>
                </a:solidFill>
                <a:latin typeface="Trebuchet MS" pitchFamily="34" charset="0"/>
                <a:ea typeface="Trebuchet MS" pitchFamily="34" charset="-122"/>
                <a:cs typeface="Trebuchet MS" pitchFamily="34" charset="-120"/>
              </a:rPr>
              <a:t>SQUISHY</a:t>
            </a:r>
            <a:endParaRPr lang="en-US" sz="1500" dirty="0"/>
          </a:p>
          <a:p>
            <a:pPr algn="ctr" indent="0" marL="0">
              <a:lnSpc>
                <a:spcPct val="95000"/>
              </a:lnSpc>
              <a:buNone/>
            </a:pPr>
            <a:r>
              <a:rPr lang="en-US" sz="1500" b="1" dirty="0">
                <a:solidFill>
                  <a:srgbClr val="FFFFFF"/>
                </a:solidFill>
                <a:latin typeface="Trebuchet MS" pitchFamily="34" charset="0"/>
                <a:ea typeface="Trebuchet MS" pitchFamily="34" charset="-122"/>
                <a:cs typeface="Trebuchet MS" pitchFamily="34" charset="-120"/>
              </a:rPr>
              <a:t>SMASH</a:t>
            </a:r>
            <a:endParaRPr lang="en-US" sz="1500" dirty="0"/>
          </a:p>
        </p:txBody>
      </p:sp>
      <p:sp>
        <p:nvSpPr>
          <p:cNvPr id="16" name="Shape 14"/>
          <p:cNvSpPr/>
          <p:nvPr/>
        </p:nvSpPr>
        <p:spPr>
          <a:xfrm>
            <a:off x="5181905" y="1892808"/>
            <a:ext cx="1828800" cy="676656"/>
          </a:xfrm>
          <a:prstGeom prst="roundRect">
            <a:avLst>
              <a:gd name="adj" fmla="val 13514"/>
            </a:avLst>
          </a:prstGeom>
          <a:solidFill>
            <a:srgbClr val="FFFFFF"/>
          </a:solidFill>
          <a:ln w="12700">
            <a:solidFill>
              <a:srgbClr val="E7DEE8"/>
            </a:solidFill>
            <a:prstDash val="solid"/>
          </a:ln>
        </p:spPr>
      </p:sp>
      <p:sp>
        <p:nvSpPr>
          <p:cNvPr id="17" name="Text 15"/>
          <p:cNvSpPr/>
          <p:nvPr/>
        </p:nvSpPr>
        <p:spPr>
          <a:xfrm>
            <a:off x="5181905" y="1965960"/>
            <a:ext cx="1828800" cy="256032"/>
          </a:xfrm>
          <a:prstGeom prst="rect">
            <a:avLst/>
          </a:prstGeom>
          <a:noFill/>
          <a:ln/>
        </p:spPr>
        <p:txBody>
          <a:bodyPr wrap="square" rtlCol="0" anchor="ctr"/>
          <a:lstStyle/>
          <a:p>
            <a:pPr algn="ctr" indent="0" marL="0">
              <a:buNone/>
            </a:pPr>
            <a:r>
              <a:rPr lang="en-US" sz="1150" b="1" dirty="0">
                <a:solidFill>
                  <a:srgbClr val="120B17"/>
                </a:solidFill>
                <a:latin typeface="Trebuchet MS" pitchFamily="34" charset="0"/>
                <a:ea typeface="Trebuchet MS" pitchFamily="34" charset="-122"/>
                <a:cs typeface="Trebuchet MS" pitchFamily="34" charset="-120"/>
              </a:rPr>
              <a:t>Storybook</a:t>
            </a:r>
            <a:endParaRPr lang="en-US" sz="1150" dirty="0"/>
          </a:p>
        </p:txBody>
      </p:sp>
      <p:sp>
        <p:nvSpPr>
          <p:cNvPr id="18" name="Text 16"/>
          <p:cNvSpPr/>
          <p:nvPr/>
        </p:nvSpPr>
        <p:spPr>
          <a:xfrm>
            <a:off x="5181905" y="2221992"/>
            <a:ext cx="1828800" cy="237744"/>
          </a:xfrm>
          <a:prstGeom prst="rect">
            <a:avLst/>
          </a:prstGeom>
          <a:noFill/>
          <a:ln/>
        </p:spPr>
        <p:txBody>
          <a:bodyPr wrap="square" rtlCol="0" anchor="ctr"/>
          <a:lstStyle/>
          <a:p>
            <a:pPr algn="ctr" indent="0" marL="0">
              <a:buNone/>
            </a:pPr>
            <a:r>
              <a:rPr lang="en-US" sz="880" dirty="0">
                <a:solidFill>
                  <a:srgbClr val="8B7F92"/>
                </a:solidFill>
                <a:latin typeface="Arial" pitchFamily="34" charset="0"/>
                <a:ea typeface="Arial" pitchFamily="34" charset="-122"/>
                <a:cs typeface="Arial" pitchFamily="34" charset="-120"/>
              </a:rPr>
              <a:t>The Lost Sparkle</a:t>
            </a:r>
            <a:endParaRPr lang="en-US" sz="880" dirty="0"/>
          </a:p>
        </p:txBody>
      </p:sp>
      <p:sp>
        <p:nvSpPr>
          <p:cNvPr id="19" name="Shape 17"/>
          <p:cNvSpPr/>
          <p:nvPr/>
        </p:nvSpPr>
        <p:spPr>
          <a:xfrm>
            <a:off x="8220258" y="2574484"/>
            <a:ext cx="1828800" cy="676656"/>
          </a:xfrm>
          <a:prstGeom prst="roundRect">
            <a:avLst>
              <a:gd name="adj" fmla="val 13514"/>
            </a:avLst>
          </a:prstGeom>
          <a:solidFill>
            <a:srgbClr val="FFFFFF"/>
          </a:solidFill>
          <a:ln w="12700">
            <a:solidFill>
              <a:srgbClr val="E7DEE8"/>
            </a:solidFill>
            <a:prstDash val="solid"/>
          </a:ln>
        </p:spPr>
      </p:sp>
      <p:sp>
        <p:nvSpPr>
          <p:cNvPr id="20" name="Text 18"/>
          <p:cNvSpPr/>
          <p:nvPr/>
        </p:nvSpPr>
        <p:spPr>
          <a:xfrm>
            <a:off x="8220258" y="2647636"/>
            <a:ext cx="1828800" cy="256032"/>
          </a:xfrm>
          <a:prstGeom prst="rect">
            <a:avLst/>
          </a:prstGeom>
          <a:noFill/>
          <a:ln/>
        </p:spPr>
        <p:txBody>
          <a:bodyPr wrap="square" rtlCol="0" anchor="ctr"/>
          <a:lstStyle/>
          <a:p>
            <a:pPr algn="ctr" indent="0" marL="0">
              <a:buNone/>
            </a:pPr>
            <a:r>
              <a:rPr lang="en-US" sz="1150" b="1" dirty="0">
                <a:solidFill>
                  <a:srgbClr val="120B17"/>
                </a:solidFill>
                <a:latin typeface="Trebuchet MS" pitchFamily="34" charset="0"/>
                <a:ea typeface="Trebuchet MS" pitchFamily="34" charset="-122"/>
                <a:cs typeface="Trebuchet MS" pitchFamily="34" charset="-120"/>
              </a:rPr>
              <a:t>Character Book</a:t>
            </a:r>
            <a:endParaRPr lang="en-US" sz="1150" dirty="0"/>
          </a:p>
        </p:txBody>
      </p:sp>
      <p:sp>
        <p:nvSpPr>
          <p:cNvPr id="21" name="Text 19"/>
          <p:cNvSpPr/>
          <p:nvPr/>
        </p:nvSpPr>
        <p:spPr>
          <a:xfrm>
            <a:off x="8220258" y="2903668"/>
            <a:ext cx="1828800" cy="237744"/>
          </a:xfrm>
          <a:prstGeom prst="rect">
            <a:avLst/>
          </a:prstGeom>
          <a:noFill/>
          <a:ln/>
        </p:spPr>
        <p:txBody>
          <a:bodyPr wrap="square" rtlCol="0" anchor="ctr"/>
          <a:lstStyle/>
          <a:p>
            <a:pPr algn="ctr" indent="0" marL="0">
              <a:buNone/>
            </a:pPr>
            <a:r>
              <a:rPr lang="en-US" sz="880" dirty="0">
                <a:solidFill>
                  <a:srgbClr val="8B7F92"/>
                </a:solidFill>
                <a:latin typeface="Arial" pitchFamily="34" charset="0"/>
                <a:ea typeface="Arial" pitchFamily="34" charset="-122"/>
                <a:cs typeface="Arial" pitchFamily="34" charset="-120"/>
              </a:rPr>
              <a:t>Meet the Squishies</a:t>
            </a:r>
            <a:endParaRPr lang="en-US" sz="880" dirty="0"/>
          </a:p>
        </p:txBody>
      </p:sp>
      <p:sp>
        <p:nvSpPr>
          <p:cNvPr id="22" name="Shape 20"/>
          <p:cNvSpPr/>
          <p:nvPr/>
        </p:nvSpPr>
        <p:spPr>
          <a:xfrm>
            <a:off x="8970670" y="4106197"/>
            <a:ext cx="1828800" cy="676656"/>
          </a:xfrm>
          <a:prstGeom prst="roundRect">
            <a:avLst>
              <a:gd name="adj" fmla="val 13514"/>
            </a:avLst>
          </a:prstGeom>
          <a:solidFill>
            <a:srgbClr val="FFFFFF"/>
          </a:solidFill>
          <a:ln w="12700">
            <a:solidFill>
              <a:srgbClr val="E7DEE8"/>
            </a:solidFill>
            <a:prstDash val="solid"/>
          </a:ln>
        </p:spPr>
      </p:sp>
      <p:sp>
        <p:nvSpPr>
          <p:cNvPr id="23" name="Text 21"/>
          <p:cNvSpPr/>
          <p:nvPr/>
        </p:nvSpPr>
        <p:spPr>
          <a:xfrm>
            <a:off x="8970670" y="4179349"/>
            <a:ext cx="1828800" cy="256032"/>
          </a:xfrm>
          <a:prstGeom prst="rect">
            <a:avLst/>
          </a:prstGeom>
          <a:noFill/>
          <a:ln/>
        </p:spPr>
        <p:txBody>
          <a:bodyPr wrap="square" rtlCol="0" anchor="ctr"/>
          <a:lstStyle/>
          <a:p>
            <a:pPr algn="ctr" indent="0" marL="0">
              <a:buNone/>
            </a:pPr>
            <a:r>
              <a:rPr lang="en-US" sz="1150" b="1" dirty="0">
                <a:solidFill>
                  <a:srgbClr val="120B17"/>
                </a:solidFill>
                <a:latin typeface="Trebuchet MS" pitchFamily="34" charset="0"/>
                <a:ea typeface="Trebuchet MS" pitchFamily="34" charset="-122"/>
                <a:cs typeface="Trebuchet MS" pitchFamily="34" charset="-120"/>
              </a:rPr>
              <a:t>Trading Cards</a:t>
            </a:r>
            <a:endParaRPr lang="en-US" sz="1150" dirty="0"/>
          </a:p>
        </p:txBody>
      </p:sp>
      <p:sp>
        <p:nvSpPr>
          <p:cNvPr id="24" name="Text 22"/>
          <p:cNvSpPr/>
          <p:nvPr/>
        </p:nvSpPr>
        <p:spPr>
          <a:xfrm>
            <a:off x="8970670" y="4435381"/>
            <a:ext cx="1828800" cy="237744"/>
          </a:xfrm>
          <a:prstGeom prst="rect">
            <a:avLst/>
          </a:prstGeom>
          <a:noFill/>
          <a:ln/>
        </p:spPr>
        <p:txBody>
          <a:bodyPr wrap="square" rtlCol="0" anchor="ctr"/>
          <a:lstStyle/>
          <a:p>
            <a:pPr algn="ctr" indent="0" marL="0">
              <a:buNone/>
            </a:pPr>
            <a:r>
              <a:rPr lang="en-US" sz="880" dirty="0">
                <a:solidFill>
                  <a:srgbClr val="8B7F92"/>
                </a:solidFill>
                <a:latin typeface="Arial" pitchFamily="34" charset="0"/>
                <a:ea typeface="Arial" pitchFamily="34" charset="-122"/>
                <a:cs typeface="Arial" pitchFamily="34" charset="-120"/>
              </a:rPr>
              <a:t>48 collectible cards</a:t>
            </a:r>
            <a:endParaRPr lang="en-US" sz="880" dirty="0"/>
          </a:p>
        </p:txBody>
      </p:sp>
      <p:sp>
        <p:nvSpPr>
          <p:cNvPr id="25" name="Shape 23"/>
          <p:cNvSpPr/>
          <p:nvPr/>
        </p:nvSpPr>
        <p:spPr>
          <a:xfrm>
            <a:off x="6868064" y="5334535"/>
            <a:ext cx="1828800" cy="676656"/>
          </a:xfrm>
          <a:prstGeom prst="roundRect">
            <a:avLst>
              <a:gd name="adj" fmla="val 13514"/>
            </a:avLst>
          </a:prstGeom>
          <a:solidFill>
            <a:srgbClr val="FFFFFF"/>
          </a:solidFill>
          <a:ln w="12700">
            <a:solidFill>
              <a:srgbClr val="E7DEE8"/>
            </a:solidFill>
            <a:prstDash val="solid"/>
          </a:ln>
        </p:spPr>
      </p:sp>
      <p:sp>
        <p:nvSpPr>
          <p:cNvPr id="26" name="Text 24"/>
          <p:cNvSpPr/>
          <p:nvPr/>
        </p:nvSpPr>
        <p:spPr>
          <a:xfrm>
            <a:off x="6868064" y="5407687"/>
            <a:ext cx="1828800" cy="256032"/>
          </a:xfrm>
          <a:prstGeom prst="rect">
            <a:avLst/>
          </a:prstGeom>
          <a:noFill/>
          <a:ln/>
        </p:spPr>
        <p:txBody>
          <a:bodyPr wrap="square" rtlCol="0" anchor="ctr"/>
          <a:lstStyle/>
          <a:p>
            <a:pPr algn="ctr" indent="0" marL="0">
              <a:buNone/>
            </a:pPr>
            <a:r>
              <a:rPr lang="en-US" sz="1150" b="1" dirty="0">
                <a:solidFill>
                  <a:srgbClr val="120B17"/>
                </a:solidFill>
                <a:latin typeface="Trebuchet MS" pitchFamily="34" charset="0"/>
                <a:ea typeface="Trebuchet MS" pitchFamily="34" charset="-122"/>
                <a:cs typeface="Trebuchet MS" pitchFamily="34" charset="-120"/>
              </a:rPr>
              <a:t>iOS App</a:t>
            </a:r>
            <a:endParaRPr lang="en-US" sz="1150" dirty="0"/>
          </a:p>
        </p:txBody>
      </p:sp>
      <p:sp>
        <p:nvSpPr>
          <p:cNvPr id="27" name="Text 25"/>
          <p:cNvSpPr/>
          <p:nvPr/>
        </p:nvSpPr>
        <p:spPr>
          <a:xfrm>
            <a:off x="6868064" y="5663719"/>
            <a:ext cx="1828800" cy="237744"/>
          </a:xfrm>
          <a:prstGeom prst="rect">
            <a:avLst/>
          </a:prstGeom>
          <a:noFill/>
          <a:ln/>
        </p:spPr>
        <p:txBody>
          <a:bodyPr wrap="square" rtlCol="0" anchor="ctr"/>
          <a:lstStyle/>
          <a:p>
            <a:pPr algn="ctr" indent="0" marL="0">
              <a:buNone/>
            </a:pPr>
            <a:r>
              <a:rPr lang="en-US" sz="880" dirty="0">
                <a:solidFill>
                  <a:srgbClr val="8B7F92"/>
                </a:solidFill>
                <a:latin typeface="Arial" pitchFamily="34" charset="0"/>
                <a:ea typeface="Arial" pitchFamily="34" charset="-122"/>
                <a:cs typeface="Arial" pitchFamily="34" charset="-120"/>
              </a:rPr>
              <a:t>Live on the App Store</a:t>
            </a:r>
            <a:endParaRPr lang="en-US" sz="880" dirty="0"/>
          </a:p>
        </p:txBody>
      </p:sp>
      <p:sp>
        <p:nvSpPr>
          <p:cNvPr id="28" name="Shape 26"/>
          <p:cNvSpPr/>
          <p:nvPr/>
        </p:nvSpPr>
        <p:spPr>
          <a:xfrm>
            <a:off x="3495746" y="5334535"/>
            <a:ext cx="1828800" cy="676656"/>
          </a:xfrm>
          <a:prstGeom prst="roundRect">
            <a:avLst>
              <a:gd name="adj" fmla="val 13514"/>
            </a:avLst>
          </a:prstGeom>
          <a:solidFill>
            <a:srgbClr val="FFFFFF"/>
          </a:solidFill>
          <a:ln w="12700">
            <a:solidFill>
              <a:srgbClr val="E7DEE8"/>
            </a:solidFill>
            <a:prstDash val="solid"/>
          </a:ln>
        </p:spPr>
      </p:sp>
      <p:sp>
        <p:nvSpPr>
          <p:cNvPr id="29" name="Text 27"/>
          <p:cNvSpPr/>
          <p:nvPr/>
        </p:nvSpPr>
        <p:spPr>
          <a:xfrm>
            <a:off x="3495746" y="5407687"/>
            <a:ext cx="1828800" cy="256032"/>
          </a:xfrm>
          <a:prstGeom prst="rect">
            <a:avLst/>
          </a:prstGeom>
          <a:noFill/>
          <a:ln/>
        </p:spPr>
        <p:txBody>
          <a:bodyPr wrap="square" rtlCol="0" anchor="ctr"/>
          <a:lstStyle/>
          <a:p>
            <a:pPr algn="ctr" indent="0" marL="0">
              <a:buNone/>
            </a:pPr>
            <a:r>
              <a:rPr lang="en-US" sz="1150" b="1" dirty="0">
                <a:solidFill>
                  <a:srgbClr val="120B17"/>
                </a:solidFill>
                <a:latin typeface="Trebuchet MS" pitchFamily="34" charset="0"/>
                <a:ea typeface="Trebuchet MS" pitchFamily="34" charset="-122"/>
                <a:cs typeface="Trebuchet MS" pitchFamily="34" charset="-120"/>
              </a:rPr>
              <a:t>Roblox Game</a:t>
            </a:r>
            <a:endParaRPr lang="en-US" sz="1150" dirty="0"/>
          </a:p>
        </p:txBody>
      </p:sp>
      <p:sp>
        <p:nvSpPr>
          <p:cNvPr id="30" name="Text 28"/>
          <p:cNvSpPr/>
          <p:nvPr/>
        </p:nvSpPr>
        <p:spPr>
          <a:xfrm>
            <a:off x="3495746" y="5663719"/>
            <a:ext cx="1828800" cy="237744"/>
          </a:xfrm>
          <a:prstGeom prst="rect">
            <a:avLst/>
          </a:prstGeom>
          <a:noFill/>
          <a:ln/>
        </p:spPr>
        <p:txBody>
          <a:bodyPr wrap="square" rtlCol="0" anchor="ctr"/>
          <a:lstStyle/>
          <a:p>
            <a:pPr algn="ctr" indent="0" marL="0">
              <a:buNone/>
            </a:pPr>
            <a:r>
              <a:rPr lang="en-US" sz="880" dirty="0">
                <a:solidFill>
                  <a:srgbClr val="8B7F92"/>
                </a:solidFill>
                <a:latin typeface="Arial" pitchFamily="34" charset="0"/>
                <a:ea typeface="Arial" pitchFamily="34" charset="-122"/>
                <a:cs typeface="Arial" pitchFamily="34" charset="-120"/>
              </a:rPr>
              <a:t>Live experience</a:t>
            </a:r>
            <a:endParaRPr lang="en-US" sz="880" dirty="0"/>
          </a:p>
        </p:txBody>
      </p:sp>
      <p:sp>
        <p:nvSpPr>
          <p:cNvPr id="31" name="Shape 29"/>
          <p:cNvSpPr/>
          <p:nvPr/>
        </p:nvSpPr>
        <p:spPr>
          <a:xfrm>
            <a:off x="1393140" y="4106197"/>
            <a:ext cx="1828800" cy="676656"/>
          </a:xfrm>
          <a:prstGeom prst="roundRect">
            <a:avLst>
              <a:gd name="adj" fmla="val 13514"/>
            </a:avLst>
          </a:prstGeom>
          <a:solidFill>
            <a:srgbClr val="FFFFFF"/>
          </a:solidFill>
          <a:ln w="12700">
            <a:solidFill>
              <a:srgbClr val="E7DEE8"/>
            </a:solidFill>
            <a:prstDash val="solid"/>
          </a:ln>
        </p:spPr>
      </p:sp>
      <p:sp>
        <p:nvSpPr>
          <p:cNvPr id="32" name="Text 30"/>
          <p:cNvSpPr/>
          <p:nvPr/>
        </p:nvSpPr>
        <p:spPr>
          <a:xfrm>
            <a:off x="1393140" y="4179349"/>
            <a:ext cx="1828800" cy="256032"/>
          </a:xfrm>
          <a:prstGeom prst="rect">
            <a:avLst/>
          </a:prstGeom>
          <a:noFill/>
          <a:ln/>
        </p:spPr>
        <p:txBody>
          <a:bodyPr wrap="square" rtlCol="0" anchor="ctr"/>
          <a:lstStyle/>
          <a:p>
            <a:pPr algn="ctr" indent="0" marL="0">
              <a:buNone/>
            </a:pPr>
            <a:r>
              <a:rPr lang="en-US" sz="1150" b="1" dirty="0">
                <a:solidFill>
                  <a:srgbClr val="120B17"/>
                </a:solidFill>
                <a:latin typeface="Trebuchet MS" pitchFamily="34" charset="0"/>
                <a:ea typeface="Trebuchet MS" pitchFamily="34" charset="-122"/>
                <a:cs typeface="Trebuchet MS" pitchFamily="34" charset="-120"/>
              </a:rPr>
              <a:t>3D Models</a:t>
            </a:r>
            <a:endParaRPr lang="en-US" sz="1150" dirty="0"/>
          </a:p>
        </p:txBody>
      </p:sp>
      <p:sp>
        <p:nvSpPr>
          <p:cNvPr id="33" name="Text 31"/>
          <p:cNvSpPr/>
          <p:nvPr/>
        </p:nvSpPr>
        <p:spPr>
          <a:xfrm>
            <a:off x="1393140" y="4435381"/>
            <a:ext cx="1828800" cy="237744"/>
          </a:xfrm>
          <a:prstGeom prst="rect">
            <a:avLst/>
          </a:prstGeom>
          <a:noFill/>
          <a:ln/>
        </p:spPr>
        <p:txBody>
          <a:bodyPr wrap="square" rtlCol="0" anchor="ctr"/>
          <a:lstStyle/>
          <a:p>
            <a:pPr algn="ctr" indent="0" marL="0">
              <a:buNone/>
            </a:pPr>
            <a:r>
              <a:rPr lang="en-US" sz="880" dirty="0">
                <a:solidFill>
                  <a:srgbClr val="8B7F92"/>
                </a:solidFill>
                <a:latin typeface="Arial" pitchFamily="34" charset="0"/>
                <a:ea typeface="Arial" pitchFamily="34" charset="-122"/>
                <a:cs typeface="Arial" pitchFamily="34" charset="-120"/>
              </a:rPr>
              <a:t>6 characters modelled</a:t>
            </a:r>
            <a:endParaRPr lang="en-US" sz="880" dirty="0"/>
          </a:p>
        </p:txBody>
      </p:sp>
      <p:sp>
        <p:nvSpPr>
          <p:cNvPr id="34" name="Shape 32"/>
          <p:cNvSpPr/>
          <p:nvPr/>
        </p:nvSpPr>
        <p:spPr>
          <a:xfrm>
            <a:off x="2143551" y="2574484"/>
            <a:ext cx="1828800" cy="676656"/>
          </a:xfrm>
          <a:prstGeom prst="roundRect">
            <a:avLst>
              <a:gd name="adj" fmla="val 13514"/>
            </a:avLst>
          </a:prstGeom>
          <a:solidFill>
            <a:srgbClr val="FFF0F6"/>
          </a:solidFill>
          <a:ln w="12700">
            <a:solidFill>
              <a:srgbClr val="C4306E"/>
            </a:solidFill>
            <a:prstDash val="solid"/>
          </a:ln>
        </p:spPr>
      </p:sp>
      <p:sp>
        <p:nvSpPr>
          <p:cNvPr id="35" name="Text 33"/>
          <p:cNvSpPr/>
          <p:nvPr/>
        </p:nvSpPr>
        <p:spPr>
          <a:xfrm>
            <a:off x="2143551" y="2647636"/>
            <a:ext cx="1828800" cy="256032"/>
          </a:xfrm>
          <a:prstGeom prst="rect">
            <a:avLst/>
          </a:prstGeom>
          <a:noFill/>
          <a:ln/>
        </p:spPr>
        <p:txBody>
          <a:bodyPr wrap="square" rtlCol="0" anchor="ctr"/>
          <a:lstStyle/>
          <a:p>
            <a:pPr algn="ctr" indent="0" marL="0">
              <a:buNone/>
            </a:pPr>
            <a:r>
              <a:rPr lang="en-US" sz="1150" b="1" dirty="0">
                <a:solidFill>
                  <a:srgbClr val="120B17"/>
                </a:solidFill>
                <a:latin typeface="Trebuchet MS" pitchFamily="34" charset="0"/>
                <a:ea typeface="Trebuchet MS" pitchFamily="34" charset="-122"/>
                <a:cs typeface="Trebuchet MS" pitchFamily="34" charset="-120"/>
              </a:rPr>
              <a:t>Physical Toys</a:t>
            </a:r>
            <a:endParaRPr lang="en-US" sz="1150" dirty="0"/>
          </a:p>
        </p:txBody>
      </p:sp>
      <p:sp>
        <p:nvSpPr>
          <p:cNvPr id="36" name="Text 34"/>
          <p:cNvSpPr/>
          <p:nvPr/>
        </p:nvSpPr>
        <p:spPr>
          <a:xfrm>
            <a:off x="2143551" y="2903668"/>
            <a:ext cx="1828800" cy="237744"/>
          </a:xfrm>
          <a:prstGeom prst="rect">
            <a:avLst/>
          </a:prstGeom>
          <a:noFill/>
          <a:ln/>
        </p:spPr>
        <p:txBody>
          <a:bodyPr wrap="square" rtlCol="0" anchor="ctr"/>
          <a:lstStyle/>
          <a:p>
            <a:pPr algn="ctr" indent="0" marL="0">
              <a:buNone/>
            </a:pPr>
            <a:r>
              <a:rPr lang="en-US" sz="880" dirty="0">
                <a:solidFill>
                  <a:srgbClr val="C4306E"/>
                </a:solidFill>
                <a:latin typeface="Arial" pitchFamily="34" charset="0"/>
                <a:ea typeface="Arial" pitchFamily="34" charset="-122"/>
                <a:cs typeface="Arial" pitchFamily="34" charset="-120"/>
              </a:rPr>
              <a:t>Proposed next step</a:t>
            </a:r>
            <a:endParaRPr lang="en-US" sz="880" dirty="0"/>
          </a:p>
        </p:txBody>
      </p:sp>
      <p:sp>
        <p:nvSpPr>
          <p:cNvPr id="37" name="Text 35"/>
          <p:cNvSpPr/>
          <p:nvPr/>
        </p:nvSpPr>
        <p:spPr>
          <a:xfrm>
            <a:off x="2377440" y="6053328"/>
            <a:ext cx="7406640" cy="402336"/>
          </a:xfrm>
          <a:prstGeom prst="rect">
            <a:avLst/>
          </a:prstGeom>
          <a:noFill/>
          <a:ln/>
        </p:spPr>
        <p:txBody>
          <a:bodyPr wrap="square" rtlCol="0" anchor="ctr"/>
          <a:lstStyle/>
          <a:p>
            <a:pPr algn="ctr" indent="0" marL="0">
              <a:buNone/>
            </a:pPr>
            <a:r>
              <a:rPr lang="en-US" sz="1200" dirty="0">
                <a:solidFill>
                  <a:srgbClr val="4A3F52"/>
                </a:solidFill>
                <a:latin typeface="Arial" pitchFamily="34" charset="0"/>
                <a:ea typeface="Arial" pitchFamily="34" charset="-122"/>
                <a:cs typeface="Arial" pitchFamily="34" charset="-120"/>
              </a:rPr>
              <a:t>Every part of the brand reinforces the others. Physical squishies can connect directly to the books, games, and cards.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3</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A8761B"/>
                </a:solidFill>
                <a:latin typeface="Arial" pitchFamily="34" charset="0"/>
                <a:ea typeface="Arial" pitchFamily="34" charset="-122"/>
                <a:cs typeface="Arial" pitchFamily="34" charset="-120"/>
              </a:rPr>
              <a:t>EXISTING INTELLECTUAL PROPERTY</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48 Original Characters</a:t>
            </a:r>
            <a:endParaRPr lang="en-US" sz="3000" dirty="0"/>
          </a:p>
        </p:txBody>
      </p:sp>
      <p:sp>
        <p:nvSpPr>
          <p:cNvPr id="6" name="Shape 4"/>
          <p:cNvSpPr/>
          <p:nvPr/>
        </p:nvSpPr>
        <p:spPr>
          <a:xfrm>
            <a:off x="658368" y="1737360"/>
            <a:ext cx="786384" cy="50292"/>
          </a:xfrm>
          <a:prstGeom prst="rect">
            <a:avLst/>
          </a:prstGeom>
          <a:solidFill>
            <a:srgbClr val="A8761B"/>
          </a:solidFill>
          <a:ln w="12700">
            <a:solidFill>
              <a:srgbClr val="333333"/>
            </a:solidFill>
            <a:prstDash val="solid"/>
          </a:ln>
        </p:spPr>
      </p:sp>
      <p:sp>
        <p:nvSpPr>
          <p:cNvPr id="7" name="Text 5"/>
          <p:cNvSpPr/>
          <p:nvPr/>
        </p:nvSpPr>
        <p:spPr>
          <a:xfrm>
            <a:off x="658368" y="2029968"/>
            <a:ext cx="10881360" cy="365760"/>
          </a:xfrm>
          <a:prstGeom prst="rect">
            <a:avLst/>
          </a:prstGeom>
          <a:noFill/>
          <a:ln/>
        </p:spPr>
        <p:txBody>
          <a:bodyPr wrap="square" rtlCol="0" anchor="ctr"/>
          <a:lstStyle/>
          <a:p>
            <a:pPr indent="0" marL="0">
              <a:buNone/>
            </a:pPr>
            <a:r>
              <a:rPr lang="en-US" sz="1300" dirty="0">
                <a:solidFill>
                  <a:srgbClr val="4A3F52"/>
                </a:solidFill>
                <a:latin typeface="Arial" pitchFamily="34" charset="0"/>
                <a:ea typeface="Arial" pitchFamily="34" charset="-122"/>
                <a:cs typeface="Arial" pitchFamily="34" charset="-120"/>
              </a:rPr>
              <a:t>Squishy Smash includes 48 original characters with distinct names, personalities, artwork, and collectible rarity tiers.</a:t>
            </a:r>
            <a:endParaRPr lang="en-US" sz="1300" dirty="0"/>
          </a:p>
        </p:txBody>
      </p:sp>
      <p:pic>
        <p:nvPicPr>
          <p:cNvPr id="8" name="Image 0" descr="D:\squishy-smash\docs\marketing\squishy_smash_deck_package\assets\staged\grid_48_cards.png">    </p:cNvPr>
          <p:cNvPicPr>
            <a:picLocks noChangeAspect="1"/>
          </p:cNvPicPr>
          <p:nvPr/>
        </p:nvPicPr>
        <p:blipFill>
          <a:blip r:embed="rId1"/>
          <a:stretch>
            <a:fillRect/>
          </a:stretch>
        </p:blipFill>
        <p:spPr>
          <a:xfrm>
            <a:off x="1773936" y="2432304"/>
            <a:ext cx="8641080" cy="2880360"/>
          </a:xfrm>
          <a:prstGeom prst="rect">
            <a:avLst/>
          </a:prstGeom>
        </p:spPr>
      </p:pic>
      <p:sp>
        <p:nvSpPr>
          <p:cNvPr id="9" name="Text 6"/>
          <p:cNvSpPr/>
          <p:nvPr/>
        </p:nvSpPr>
        <p:spPr>
          <a:xfrm>
            <a:off x="658368" y="5376672"/>
            <a:ext cx="10881360" cy="274320"/>
          </a:xfrm>
          <a:prstGeom prst="rect">
            <a:avLst/>
          </a:prstGeom>
          <a:noFill/>
          <a:ln/>
        </p:spPr>
        <p:txBody>
          <a:bodyPr wrap="square" rtlCol="0" anchor="ctr"/>
          <a:lstStyle/>
          <a:p>
            <a:pPr algn="ctr" indent="0" marL="0">
              <a:buNone/>
            </a:pPr>
            <a:r>
              <a:rPr lang="en-US" sz="1050" i="1" dirty="0">
                <a:solidFill>
                  <a:srgbClr val="7C6E86"/>
                </a:solidFill>
                <a:latin typeface="Arial" pitchFamily="34" charset="0"/>
                <a:ea typeface="Arial" pitchFamily="34" charset="-122"/>
                <a:cs typeface="Arial" pitchFamily="34" charset="-120"/>
              </a:rPr>
              <a:t>All 48 characters shown · 24 Common · 12 Rare · 9 Epic · 3 Legendary</a:t>
            </a:r>
            <a:endParaRPr lang="en-US" sz="1050" dirty="0"/>
          </a:p>
        </p:txBody>
      </p:sp>
      <p:sp>
        <p:nvSpPr>
          <p:cNvPr id="10" name="Shape 7"/>
          <p:cNvSpPr/>
          <p:nvPr/>
        </p:nvSpPr>
        <p:spPr>
          <a:xfrm>
            <a:off x="658368" y="5705856"/>
            <a:ext cx="457200" cy="41148"/>
          </a:xfrm>
          <a:prstGeom prst="rect">
            <a:avLst/>
          </a:prstGeom>
          <a:solidFill>
            <a:srgbClr val="C4306E"/>
          </a:solidFill>
          <a:ln w="12700">
            <a:solidFill>
              <a:srgbClr val="333333"/>
            </a:solidFill>
            <a:prstDash val="solid"/>
          </a:ln>
        </p:spPr>
      </p:sp>
      <p:sp>
        <p:nvSpPr>
          <p:cNvPr id="11" name="Text 8"/>
          <p:cNvSpPr/>
          <p:nvPr/>
        </p:nvSpPr>
        <p:spPr>
          <a:xfrm>
            <a:off x="658368" y="5815584"/>
            <a:ext cx="2354580" cy="548640"/>
          </a:xfrm>
          <a:prstGeom prst="rect">
            <a:avLst/>
          </a:prstGeom>
          <a:noFill/>
          <a:ln/>
        </p:spPr>
        <p:txBody>
          <a:bodyPr wrap="square" rtlCol="0" anchor="t"/>
          <a:lstStyle/>
          <a:p>
            <a:pPr indent="0" marL="0">
              <a:buNone/>
            </a:pPr>
            <a:r>
              <a:rPr lang="en-US" sz="1100" dirty="0">
                <a:solidFill>
                  <a:srgbClr val="4A3F52"/>
                </a:solidFill>
                <a:latin typeface="Arial" pitchFamily="34" charset="0"/>
                <a:ea typeface="Arial" pitchFamily="34" charset="-122"/>
                <a:cs typeface="Arial" pitchFamily="34" charset="-120"/>
              </a:rPr>
              <a:t>Original character names and artwork</a:t>
            </a:r>
            <a:endParaRPr lang="en-US" sz="1100" dirty="0"/>
          </a:p>
        </p:txBody>
      </p:sp>
      <p:sp>
        <p:nvSpPr>
          <p:cNvPr id="12" name="Shape 9"/>
          <p:cNvSpPr/>
          <p:nvPr/>
        </p:nvSpPr>
        <p:spPr>
          <a:xfrm>
            <a:off x="3378708" y="5705856"/>
            <a:ext cx="457200" cy="41148"/>
          </a:xfrm>
          <a:prstGeom prst="rect">
            <a:avLst/>
          </a:prstGeom>
          <a:solidFill>
            <a:srgbClr val="6E37B0"/>
          </a:solidFill>
          <a:ln w="12700">
            <a:solidFill>
              <a:srgbClr val="333333"/>
            </a:solidFill>
            <a:prstDash val="solid"/>
          </a:ln>
        </p:spPr>
      </p:sp>
      <p:sp>
        <p:nvSpPr>
          <p:cNvPr id="13" name="Text 10"/>
          <p:cNvSpPr/>
          <p:nvPr/>
        </p:nvSpPr>
        <p:spPr>
          <a:xfrm>
            <a:off x="3378708" y="5815584"/>
            <a:ext cx="2354580" cy="548640"/>
          </a:xfrm>
          <a:prstGeom prst="rect">
            <a:avLst/>
          </a:prstGeom>
          <a:noFill/>
          <a:ln/>
        </p:spPr>
        <p:txBody>
          <a:bodyPr wrap="square" rtlCol="0" anchor="t"/>
          <a:lstStyle/>
          <a:p>
            <a:pPr indent="0" marL="0">
              <a:buNone/>
            </a:pPr>
            <a:r>
              <a:rPr lang="en-US" sz="1100" dirty="0">
                <a:solidFill>
                  <a:srgbClr val="4A3F52"/>
                </a:solidFill>
                <a:latin typeface="Arial" pitchFamily="34" charset="0"/>
                <a:ea typeface="Arial" pitchFamily="34" charset="-122"/>
                <a:cs typeface="Arial" pitchFamily="34" charset="-120"/>
              </a:rPr>
              <a:t>Consistent visual identity across every surface</a:t>
            </a:r>
            <a:endParaRPr lang="en-US" sz="1100" dirty="0"/>
          </a:p>
        </p:txBody>
      </p:sp>
      <p:sp>
        <p:nvSpPr>
          <p:cNvPr id="14" name="Shape 11"/>
          <p:cNvSpPr/>
          <p:nvPr/>
        </p:nvSpPr>
        <p:spPr>
          <a:xfrm>
            <a:off x="6099048" y="5705856"/>
            <a:ext cx="457200" cy="41148"/>
          </a:xfrm>
          <a:prstGeom prst="rect">
            <a:avLst/>
          </a:prstGeom>
          <a:solidFill>
            <a:srgbClr val="17788F"/>
          </a:solidFill>
          <a:ln w="12700">
            <a:solidFill>
              <a:srgbClr val="333333"/>
            </a:solidFill>
            <a:prstDash val="solid"/>
          </a:ln>
        </p:spPr>
      </p:sp>
      <p:sp>
        <p:nvSpPr>
          <p:cNvPr id="15" name="Text 12"/>
          <p:cNvSpPr/>
          <p:nvPr/>
        </p:nvSpPr>
        <p:spPr>
          <a:xfrm>
            <a:off x="6099048" y="5815584"/>
            <a:ext cx="2354580" cy="548640"/>
          </a:xfrm>
          <a:prstGeom prst="rect">
            <a:avLst/>
          </a:prstGeom>
          <a:noFill/>
          <a:ln/>
        </p:spPr>
        <p:txBody>
          <a:bodyPr wrap="square" rtlCol="0" anchor="t"/>
          <a:lstStyle/>
          <a:p>
            <a:pPr indent="0" marL="0">
              <a:buNone/>
            </a:pPr>
            <a:r>
              <a:rPr lang="en-US" sz="1100" dirty="0">
                <a:solidFill>
                  <a:srgbClr val="4A3F52"/>
                </a:solidFill>
                <a:latin typeface="Arial" pitchFamily="34" charset="0"/>
                <a:ea typeface="Arial" pitchFamily="34" charset="-122"/>
                <a:cs typeface="Arial" pitchFamily="34" charset="-120"/>
              </a:rPr>
              <a:t>Existing 2D artwork for all 48 characters</a:t>
            </a:r>
            <a:endParaRPr lang="en-US" sz="1100" dirty="0"/>
          </a:p>
        </p:txBody>
      </p:sp>
      <p:sp>
        <p:nvSpPr>
          <p:cNvPr id="16" name="Shape 13"/>
          <p:cNvSpPr/>
          <p:nvPr/>
        </p:nvSpPr>
        <p:spPr>
          <a:xfrm>
            <a:off x="8819388" y="5705856"/>
            <a:ext cx="457200" cy="41148"/>
          </a:xfrm>
          <a:prstGeom prst="rect">
            <a:avLst/>
          </a:prstGeom>
          <a:solidFill>
            <a:srgbClr val="A8761B"/>
          </a:solidFill>
          <a:ln w="12700">
            <a:solidFill>
              <a:srgbClr val="333333"/>
            </a:solidFill>
            <a:prstDash val="solid"/>
          </a:ln>
        </p:spPr>
      </p:sp>
      <p:sp>
        <p:nvSpPr>
          <p:cNvPr id="17" name="Text 14"/>
          <p:cNvSpPr/>
          <p:nvPr/>
        </p:nvSpPr>
        <p:spPr>
          <a:xfrm>
            <a:off x="8819388" y="5815584"/>
            <a:ext cx="2354580" cy="548640"/>
          </a:xfrm>
          <a:prstGeom prst="rect">
            <a:avLst/>
          </a:prstGeom>
          <a:noFill/>
          <a:ln/>
        </p:spPr>
        <p:txBody>
          <a:bodyPr wrap="square" rtlCol="0" anchor="t"/>
          <a:lstStyle/>
          <a:p>
            <a:pPr indent="0" marL="0">
              <a:buNone/>
            </a:pPr>
            <a:r>
              <a:rPr lang="en-US" sz="1100" dirty="0">
                <a:solidFill>
                  <a:srgbClr val="4A3F52"/>
                </a:solidFill>
                <a:latin typeface="Arial" pitchFamily="34" charset="0"/>
                <a:ea typeface="Arial" pitchFamily="34" charset="-122"/>
                <a:cs typeface="Arial" pitchFamily="34" charset="-120"/>
              </a:rPr>
              <a:t>Three themed packs, designed for expansion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4</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4F7A18"/>
                </a:solidFill>
                <a:latin typeface="Arial" pitchFamily="34" charset="0"/>
                <a:ea typeface="Arial" pitchFamily="34" charset="-122"/>
                <a:cs typeface="Arial" pitchFamily="34" charset="-120"/>
              </a:rPr>
              <a:t>MANUFACTURING READINESS</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Built for a Faster Path to Prototype</a:t>
            </a:r>
            <a:endParaRPr lang="en-US" sz="3000" dirty="0"/>
          </a:p>
        </p:txBody>
      </p:sp>
      <p:sp>
        <p:nvSpPr>
          <p:cNvPr id="6" name="Shape 4"/>
          <p:cNvSpPr/>
          <p:nvPr/>
        </p:nvSpPr>
        <p:spPr>
          <a:xfrm>
            <a:off x="658368" y="1737360"/>
            <a:ext cx="786384" cy="50292"/>
          </a:xfrm>
          <a:prstGeom prst="rect">
            <a:avLst/>
          </a:prstGeom>
          <a:solidFill>
            <a:srgbClr val="4F7A18"/>
          </a:solidFill>
          <a:ln w="12700">
            <a:solidFill>
              <a:srgbClr val="333333"/>
            </a:solidFill>
            <a:prstDash val="solid"/>
          </a:ln>
        </p:spPr>
      </p:sp>
      <p:sp>
        <p:nvSpPr>
          <p:cNvPr id="7" name="Text 5"/>
          <p:cNvSpPr/>
          <p:nvPr/>
        </p:nvSpPr>
        <p:spPr>
          <a:xfrm>
            <a:off x="658368" y="2029968"/>
            <a:ext cx="10881360" cy="603504"/>
          </a:xfrm>
          <a:prstGeom prst="rect">
            <a:avLst/>
          </a:prstGeom>
          <a:noFill/>
          <a:ln/>
        </p:spPr>
        <p:txBody>
          <a:bodyPr wrap="square" rtlCol="0" anchor="ctr"/>
          <a:lstStyle/>
          <a:p>
            <a:pPr indent="0" marL="0">
              <a:lnSpc>
                <a:spcPct val="125000"/>
              </a:lnSpc>
              <a:buNone/>
            </a:pPr>
            <a:r>
              <a:rPr lang="en-US" sz="1300" dirty="0">
                <a:solidFill>
                  <a:srgbClr val="4A3F52"/>
                </a:solidFill>
                <a:latin typeface="Arial" pitchFamily="34" charset="0"/>
                <a:ea typeface="Arial" pitchFamily="34" charset="-122"/>
                <a:cs typeface="Arial" pitchFamily="34" charset="-120"/>
              </a:rPr>
              <a:t>Six characters already have 3D models generated from their original card art. These are a starting point for design-for-manufacturing review — not finished tooling geometry.</a:t>
            </a:r>
            <a:endParaRPr lang="en-US" sz="1300" dirty="0"/>
          </a:p>
        </p:txBody>
      </p:sp>
      <p:sp>
        <p:nvSpPr>
          <p:cNvPr id="8" name="Shape 6"/>
          <p:cNvSpPr/>
          <p:nvPr/>
        </p:nvSpPr>
        <p:spPr>
          <a:xfrm>
            <a:off x="591160" y="2761488"/>
            <a:ext cx="1938528" cy="621792"/>
          </a:xfrm>
          <a:prstGeom prst="roundRect">
            <a:avLst>
              <a:gd name="adj" fmla="val 50000"/>
            </a:avLst>
          </a:prstGeom>
          <a:solidFill>
            <a:srgbClr val="FFF8F3"/>
          </a:solidFill>
          <a:ln w="12700">
            <a:solidFill>
              <a:srgbClr val="E7DEE8"/>
            </a:solidFill>
            <a:prstDash val="solid"/>
          </a:ln>
        </p:spPr>
      </p:sp>
      <p:sp>
        <p:nvSpPr>
          <p:cNvPr id="9" name="Text 7"/>
          <p:cNvSpPr/>
          <p:nvPr/>
        </p:nvSpPr>
        <p:spPr>
          <a:xfrm>
            <a:off x="591160" y="2761488"/>
            <a:ext cx="1938528" cy="621792"/>
          </a:xfrm>
          <a:prstGeom prst="rect">
            <a:avLst/>
          </a:prstGeom>
          <a:noFill/>
          <a:ln/>
        </p:spPr>
        <p:txBody>
          <a:bodyPr wrap="square" rtlCol="0" anchor="ctr"/>
          <a:lstStyle/>
          <a:p>
            <a:pPr algn="ctr" indent="0" marL="0">
              <a:buNone/>
            </a:pPr>
            <a:r>
              <a:rPr lang="en-US" sz="1050" b="1" dirty="0">
                <a:solidFill>
                  <a:srgbClr val="120B17"/>
                </a:solidFill>
                <a:latin typeface="Trebuchet MS" pitchFamily="34" charset="0"/>
                <a:ea typeface="Trebuchet MS" pitchFamily="34" charset="-122"/>
                <a:cs typeface="Trebuchet MS" pitchFamily="34" charset="-120"/>
              </a:rPr>
              <a:t>Existing 3D Model</a:t>
            </a:r>
            <a:endParaRPr lang="en-US" sz="1050" dirty="0"/>
          </a:p>
        </p:txBody>
      </p:sp>
      <p:sp>
        <p:nvSpPr>
          <p:cNvPr id="10" name="Text 8"/>
          <p:cNvSpPr/>
          <p:nvPr/>
        </p:nvSpPr>
        <p:spPr>
          <a:xfrm>
            <a:off x="2529688" y="2761488"/>
            <a:ext cx="329184" cy="621792"/>
          </a:xfrm>
          <a:prstGeom prst="rect">
            <a:avLst/>
          </a:prstGeom>
          <a:noFill/>
          <a:ln/>
        </p:spPr>
        <p:txBody>
          <a:bodyPr wrap="square" rtlCol="0" anchor="ctr"/>
          <a:lstStyle/>
          <a:p>
            <a:pPr algn="ctr" indent="0" marL="0">
              <a:buNone/>
            </a:pPr>
            <a:r>
              <a:rPr lang="en-US" sz="2000" b="1" dirty="0">
                <a:solidFill>
                  <a:srgbClr val="C3B6CB"/>
                </a:solidFill>
                <a:latin typeface="Trebuchet MS" pitchFamily="34" charset="0"/>
                <a:ea typeface="Trebuchet MS" pitchFamily="34" charset="-122"/>
                <a:cs typeface="Trebuchet MS" pitchFamily="34" charset="-120"/>
              </a:rPr>
              <a:t>›</a:t>
            </a:r>
            <a:endParaRPr lang="en-US" sz="2000" dirty="0"/>
          </a:p>
        </p:txBody>
      </p:sp>
      <p:sp>
        <p:nvSpPr>
          <p:cNvPr id="11" name="Shape 9"/>
          <p:cNvSpPr/>
          <p:nvPr/>
        </p:nvSpPr>
        <p:spPr>
          <a:xfrm>
            <a:off x="2858872" y="2761488"/>
            <a:ext cx="1938528" cy="621792"/>
          </a:xfrm>
          <a:prstGeom prst="roundRect">
            <a:avLst>
              <a:gd name="adj" fmla="val 50000"/>
            </a:avLst>
          </a:prstGeom>
          <a:solidFill>
            <a:srgbClr val="FFF8F3"/>
          </a:solidFill>
          <a:ln w="12700">
            <a:solidFill>
              <a:srgbClr val="E7DEE8"/>
            </a:solidFill>
            <a:prstDash val="solid"/>
          </a:ln>
        </p:spPr>
      </p:sp>
      <p:sp>
        <p:nvSpPr>
          <p:cNvPr id="12" name="Text 10"/>
          <p:cNvSpPr/>
          <p:nvPr/>
        </p:nvSpPr>
        <p:spPr>
          <a:xfrm>
            <a:off x="2858872" y="2761488"/>
            <a:ext cx="1938528" cy="621792"/>
          </a:xfrm>
          <a:prstGeom prst="rect">
            <a:avLst/>
          </a:prstGeom>
          <a:noFill/>
          <a:ln/>
        </p:spPr>
        <p:txBody>
          <a:bodyPr wrap="square" rtlCol="0" anchor="ctr"/>
          <a:lstStyle/>
          <a:p>
            <a:pPr algn="ctr" indent="0" marL="0">
              <a:buNone/>
            </a:pPr>
            <a:r>
              <a:rPr lang="en-US" sz="1050" b="1" dirty="0">
                <a:solidFill>
                  <a:srgbClr val="120B17"/>
                </a:solidFill>
                <a:latin typeface="Trebuchet MS" pitchFamily="34" charset="0"/>
                <a:ea typeface="Trebuchet MS" pitchFamily="34" charset="-122"/>
                <a:cs typeface="Trebuchet MS" pitchFamily="34" charset="-120"/>
              </a:rPr>
              <a:t>Manufacturing Review</a:t>
            </a:r>
            <a:endParaRPr lang="en-US" sz="1050" dirty="0"/>
          </a:p>
        </p:txBody>
      </p:sp>
      <p:sp>
        <p:nvSpPr>
          <p:cNvPr id="13" name="Text 11"/>
          <p:cNvSpPr/>
          <p:nvPr/>
        </p:nvSpPr>
        <p:spPr>
          <a:xfrm>
            <a:off x="4797400" y="2761488"/>
            <a:ext cx="329184" cy="621792"/>
          </a:xfrm>
          <a:prstGeom prst="rect">
            <a:avLst/>
          </a:prstGeom>
          <a:noFill/>
          <a:ln/>
        </p:spPr>
        <p:txBody>
          <a:bodyPr wrap="square" rtlCol="0" anchor="ctr"/>
          <a:lstStyle/>
          <a:p>
            <a:pPr algn="ctr" indent="0" marL="0">
              <a:buNone/>
            </a:pPr>
            <a:r>
              <a:rPr lang="en-US" sz="2000" b="1" dirty="0">
                <a:solidFill>
                  <a:srgbClr val="C3B6CB"/>
                </a:solidFill>
                <a:latin typeface="Trebuchet MS" pitchFamily="34" charset="0"/>
                <a:ea typeface="Trebuchet MS" pitchFamily="34" charset="-122"/>
                <a:cs typeface="Trebuchet MS" pitchFamily="34" charset="-120"/>
              </a:rPr>
              <a:t>›</a:t>
            </a:r>
            <a:endParaRPr lang="en-US" sz="2000" dirty="0"/>
          </a:p>
        </p:txBody>
      </p:sp>
      <p:sp>
        <p:nvSpPr>
          <p:cNvPr id="14" name="Shape 12"/>
          <p:cNvSpPr/>
          <p:nvPr/>
        </p:nvSpPr>
        <p:spPr>
          <a:xfrm>
            <a:off x="5126584" y="2761488"/>
            <a:ext cx="1938528" cy="621792"/>
          </a:xfrm>
          <a:prstGeom prst="roundRect">
            <a:avLst>
              <a:gd name="adj" fmla="val 50000"/>
            </a:avLst>
          </a:prstGeom>
          <a:solidFill>
            <a:srgbClr val="FFF8F3"/>
          </a:solidFill>
          <a:ln w="12700">
            <a:solidFill>
              <a:srgbClr val="E7DEE8"/>
            </a:solidFill>
            <a:prstDash val="solid"/>
          </a:ln>
        </p:spPr>
      </p:sp>
      <p:sp>
        <p:nvSpPr>
          <p:cNvPr id="15" name="Text 13"/>
          <p:cNvSpPr/>
          <p:nvPr/>
        </p:nvSpPr>
        <p:spPr>
          <a:xfrm>
            <a:off x="5126584" y="2761488"/>
            <a:ext cx="1938528" cy="621792"/>
          </a:xfrm>
          <a:prstGeom prst="rect">
            <a:avLst/>
          </a:prstGeom>
          <a:noFill/>
          <a:ln/>
        </p:spPr>
        <p:txBody>
          <a:bodyPr wrap="square" rtlCol="0" anchor="ctr"/>
          <a:lstStyle/>
          <a:p>
            <a:pPr algn="ctr" indent="0" marL="0">
              <a:buNone/>
            </a:pPr>
            <a:r>
              <a:rPr lang="en-US" sz="1050" b="1" dirty="0">
                <a:solidFill>
                  <a:srgbClr val="120B17"/>
                </a:solidFill>
                <a:latin typeface="Trebuchet MS" pitchFamily="34" charset="0"/>
                <a:ea typeface="Trebuchet MS" pitchFamily="34" charset="-122"/>
                <a:cs typeface="Trebuchet MS" pitchFamily="34" charset="-120"/>
              </a:rPr>
              <a:t>Mold-Ready Geometry</a:t>
            </a:r>
            <a:endParaRPr lang="en-US" sz="1050" dirty="0"/>
          </a:p>
        </p:txBody>
      </p:sp>
      <p:sp>
        <p:nvSpPr>
          <p:cNvPr id="16" name="Text 14"/>
          <p:cNvSpPr/>
          <p:nvPr/>
        </p:nvSpPr>
        <p:spPr>
          <a:xfrm>
            <a:off x="7065112" y="2761488"/>
            <a:ext cx="329184" cy="621792"/>
          </a:xfrm>
          <a:prstGeom prst="rect">
            <a:avLst/>
          </a:prstGeom>
          <a:noFill/>
          <a:ln/>
        </p:spPr>
        <p:txBody>
          <a:bodyPr wrap="square" rtlCol="0" anchor="ctr"/>
          <a:lstStyle/>
          <a:p>
            <a:pPr algn="ctr" indent="0" marL="0">
              <a:buNone/>
            </a:pPr>
            <a:r>
              <a:rPr lang="en-US" sz="2000" b="1" dirty="0">
                <a:solidFill>
                  <a:srgbClr val="C3B6CB"/>
                </a:solidFill>
                <a:latin typeface="Trebuchet MS" pitchFamily="34" charset="0"/>
                <a:ea typeface="Trebuchet MS" pitchFamily="34" charset="-122"/>
                <a:cs typeface="Trebuchet MS" pitchFamily="34" charset="-120"/>
              </a:rPr>
              <a:t>›</a:t>
            </a:r>
            <a:endParaRPr lang="en-US" sz="2000" dirty="0"/>
          </a:p>
        </p:txBody>
      </p:sp>
      <p:sp>
        <p:nvSpPr>
          <p:cNvPr id="17" name="Shape 15"/>
          <p:cNvSpPr/>
          <p:nvPr/>
        </p:nvSpPr>
        <p:spPr>
          <a:xfrm>
            <a:off x="7394296" y="2761488"/>
            <a:ext cx="1938528" cy="621792"/>
          </a:xfrm>
          <a:prstGeom prst="roundRect">
            <a:avLst>
              <a:gd name="adj" fmla="val 50000"/>
            </a:avLst>
          </a:prstGeom>
          <a:solidFill>
            <a:srgbClr val="FFF8F3"/>
          </a:solidFill>
          <a:ln w="12700">
            <a:solidFill>
              <a:srgbClr val="E7DEE8"/>
            </a:solidFill>
            <a:prstDash val="solid"/>
          </a:ln>
        </p:spPr>
      </p:sp>
      <p:sp>
        <p:nvSpPr>
          <p:cNvPr id="18" name="Text 16"/>
          <p:cNvSpPr/>
          <p:nvPr/>
        </p:nvSpPr>
        <p:spPr>
          <a:xfrm>
            <a:off x="7394296" y="2761488"/>
            <a:ext cx="1938528" cy="621792"/>
          </a:xfrm>
          <a:prstGeom prst="rect">
            <a:avLst/>
          </a:prstGeom>
          <a:noFill/>
          <a:ln/>
        </p:spPr>
        <p:txBody>
          <a:bodyPr wrap="square" rtlCol="0" anchor="ctr"/>
          <a:lstStyle/>
          <a:p>
            <a:pPr algn="ctr" indent="0" marL="0">
              <a:buNone/>
            </a:pPr>
            <a:r>
              <a:rPr lang="en-US" sz="1050" b="1" dirty="0">
                <a:solidFill>
                  <a:srgbClr val="120B17"/>
                </a:solidFill>
                <a:latin typeface="Trebuchet MS" pitchFamily="34" charset="0"/>
                <a:ea typeface="Trebuchet MS" pitchFamily="34" charset="-122"/>
                <a:cs typeface="Trebuchet MS" pitchFamily="34" charset="-120"/>
              </a:rPr>
              <a:t>Prototype</a:t>
            </a:r>
            <a:endParaRPr lang="en-US" sz="1050" dirty="0"/>
          </a:p>
        </p:txBody>
      </p:sp>
      <p:sp>
        <p:nvSpPr>
          <p:cNvPr id="19" name="Text 17"/>
          <p:cNvSpPr/>
          <p:nvPr/>
        </p:nvSpPr>
        <p:spPr>
          <a:xfrm>
            <a:off x="9332824" y="2761488"/>
            <a:ext cx="329184" cy="621792"/>
          </a:xfrm>
          <a:prstGeom prst="rect">
            <a:avLst/>
          </a:prstGeom>
          <a:noFill/>
          <a:ln/>
        </p:spPr>
        <p:txBody>
          <a:bodyPr wrap="square" rtlCol="0" anchor="ctr"/>
          <a:lstStyle/>
          <a:p>
            <a:pPr algn="ctr" indent="0" marL="0">
              <a:buNone/>
            </a:pPr>
            <a:r>
              <a:rPr lang="en-US" sz="2000" b="1" dirty="0">
                <a:solidFill>
                  <a:srgbClr val="C3B6CB"/>
                </a:solidFill>
                <a:latin typeface="Trebuchet MS" pitchFamily="34" charset="0"/>
                <a:ea typeface="Trebuchet MS" pitchFamily="34" charset="-122"/>
                <a:cs typeface="Trebuchet MS" pitchFamily="34" charset="-120"/>
              </a:rPr>
              <a:t>›</a:t>
            </a:r>
            <a:endParaRPr lang="en-US" sz="2000" dirty="0"/>
          </a:p>
        </p:txBody>
      </p:sp>
      <p:sp>
        <p:nvSpPr>
          <p:cNvPr id="20" name="Shape 18"/>
          <p:cNvSpPr/>
          <p:nvPr/>
        </p:nvSpPr>
        <p:spPr>
          <a:xfrm>
            <a:off x="9662008" y="2761488"/>
            <a:ext cx="1938528" cy="621792"/>
          </a:xfrm>
          <a:prstGeom prst="roundRect">
            <a:avLst>
              <a:gd name="adj" fmla="val 50000"/>
            </a:avLst>
          </a:prstGeom>
          <a:solidFill>
            <a:srgbClr val="FFF0F6"/>
          </a:solidFill>
          <a:ln w="12700">
            <a:solidFill>
              <a:srgbClr val="C4306E"/>
            </a:solidFill>
            <a:prstDash val="solid"/>
          </a:ln>
        </p:spPr>
      </p:sp>
      <p:sp>
        <p:nvSpPr>
          <p:cNvPr id="21" name="Text 19"/>
          <p:cNvSpPr/>
          <p:nvPr/>
        </p:nvSpPr>
        <p:spPr>
          <a:xfrm>
            <a:off x="9662008" y="2761488"/>
            <a:ext cx="1938528" cy="621792"/>
          </a:xfrm>
          <a:prstGeom prst="rect">
            <a:avLst/>
          </a:prstGeom>
          <a:noFill/>
          <a:ln/>
        </p:spPr>
        <p:txBody>
          <a:bodyPr wrap="square" rtlCol="0" anchor="ctr"/>
          <a:lstStyle/>
          <a:p>
            <a:pPr algn="ctr" indent="0" marL="0">
              <a:buNone/>
            </a:pPr>
            <a:r>
              <a:rPr lang="en-US" sz="1050" b="1" dirty="0">
                <a:solidFill>
                  <a:srgbClr val="C4306E"/>
                </a:solidFill>
                <a:latin typeface="Trebuchet MS" pitchFamily="34" charset="0"/>
                <a:ea typeface="Trebuchet MS" pitchFamily="34" charset="-122"/>
                <a:cs typeface="Trebuchet MS" pitchFamily="34" charset="-120"/>
              </a:rPr>
              <a:t>Production Sample</a:t>
            </a:r>
            <a:endParaRPr lang="en-US" sz="1050" dirty="0"/>
          </a:p>
        </p:txBody>
      </p:sp>
      <p:sp>
        <p:nvSpPr>
          <p:cNvPr id="22" name="Shape 20"/>
          <p:cNvSpPr/>
          <p:nvPr/>
        </p:nvSpPr>
        <p:spPr>
          <a:xfrm>
            <a:off x="800832" y="3745200"/>
            <a:ext cx="1598737" cy="1598737"/>
          </a:xfrm>
          <a:prstGeom prst="ellipse">
            <a:avLst/>
          </a:prstGeom>
          <a:solidFill>
            <a:srgbClr val="FFF0F6"/>
          </a:solidFill>
          <a:ln w="12700">
            <a:solidFill>
              <a:srgbClr val="333333"/>
            </a:solidFill>
            <a:prstDash val="solid"/>
          </a:ln>
        </p:spPr>
      </p:sp>
      <p:pic>
        <p:nvPicPr>
          <p:cNvPr id="23" name="Image 0" descr="D:\squishy-smash\docs\marketing\squishy_smash_deck_package\assets\staged\model_soft_dumpling.png">    </p:cNvPr>
          <p:cNvPicPr>
            <a:picLocks noChangeAspect="1"/>
          </p:cNvPicPr>
          <p:nvPr/>
        </p:nvPicPr>
        <p:blipFill>
          <a:blip r:embed="rId1"/>
          <a:stretch>
            <a:fillRect/>
          </a:stretch>
        </p:blipFill>
        <p:spPr>
          <a:xfrm>
            <a:off x="919886" y="3864254"/>
            <a:ext cx="1360627" cy="1360627"/>
          </a:xfrm>
          <a:prstGeom prst="rect">
            <a:avLst/>
          </a:prstGeom>
        </p:spPr>
      </p:pic>
      <p:sp>
        <p:nvSpPr>
          <p:cNvPr id="24" name="Shape 21"/>
          <p:cNvSpPr/>
          <p:nvPr/>
        </p:nvSpPr>
        <p:spPr>
          <a:xfrm>
            <a:off x="2702784" y="3745200"/>
            <a:ext cx="1598737" cy="1598737"/>
          </a:xfrm>
          <a:prstGeom prst="ellipse">
            <a:avLst/>
          </a:prstGeom>
          <a:solidFill>
            <a:srgbClr val="F2FAFD"/>
          </a:solidFill>
          <a:ln w="12700">
            <a:solidFill>
              <a:srgbClr val="333333"/>
            </a:solidFill>
            <a:prstDash val="solid"/>
          </a:ln>
        </p:spPr>
      </p:sp>
      <p:pic>
        <p:nvPicPr>
          <p:cNvPr id="25" name="Image 1" descr="D:\squishy-smash\docs\marketing\squishy_smash_deck_package\assets\staged\model_goo_ball.png">    </p:cNvPr>
          <p:cNvPicPr>
            <a:picLocks noChangeAspect="1"/>
          </p:cNvPicPr>
          <p:nvPr/>
        </p:nvPicPr>
        <p:blipFill>
          <a:blip r:embed="rId2"/>
          <a:stretch>
            <a:fillRect/>
          </a:stretch>
        </p:blipFill>
        <p:spPr>
          <a:xfrm>
            <a:off x="2821838" y="3864254"/>
            <a:ext cx="1360627" cy="1360627"/>
          </a:xfrm>
          <a:prstGeom prst="rect">
            <a:avLst/>
          </a:prstGeom>
        </p:spPr>
      </p:pic>
      <p:sp>
        <p:nvSpPr>
          <p:cNvPr id="26" name="Shape 22"/>
          <p:cNvSpPr/>
          <p:nvPr/>
        </p:nvSpPr>
        <p:spPr>
          <a:xfrm>
            <a:off x="4604736" y="3745200"/>
            <a:ext cx="1598737" cy="1598737"/>
          </a:xfrm>
          <a:prstGeom prst="ellipse">
            <a:avLst/>
          </a:prstGeom>
          <a:solidFill>
            <a:srgbClr val="FFF8F3"/>
          </a:solidFill>
          <a:ln w="12700">
            <a:solidFill>
              <a:srgbClr val="333333"/>
            </a:solidFill>
            <a:prstDash val="solid"/>
          </a:ln>
        </p:spPr>
      </p:sp>
      <p:pic>
        <p:nvPicPr>
          <p:cNvPr id="27" name="Image 2" descr="D:\squishy-smash\docs\marketing\squishy_smash_deck_package\assets\staged\model_blushy_bun_bunny.png">    </p:cNvPr>
          <p:cNvPicPr>
            <a:picLocks noChangeAspect="1"/>
          </p:cNvPicPr>
          <p:nvPr/>
        </p:nvPicPr>
        <p:blipFill>
          <a:blip r:embed="rId3"/>
          <a:stretch>
            <a:fillRect/>
          </a:stretch>
        </p:blipFill>
        <p:spPr>
          <a:xfrm>
            <a:off x="4723790" y="3864254"/>
            <a:ext cx="1360627" cy="1360627"/>
          </a:xfrm>
          <a:prstGeom prst="rect">
            <a:avLst/>
          </a:prstGeom>
        </p:spPr>
      </p:pic>
      <p:sp>
        <p:nvSpPr>
          <p:cNvPr id="28" name="Text 23"/>
          <p:cNvSpPr/>
          <p:nvPr/>
        </p:nvSpPr>
        <p:spPr>
          <a:xfrm>
            <a:off x="749808" y="5468112"/>
            <a:ext cx="5486400" cy="256032"/>
          </a:xfrm>
          <a:prstGeom prst="rect">
            <a:avLst/>
          </a:prstGeom>
          <a:noFill/>
          <a:ln/>
        </p:spPr>
        <p:txBody>
          <a:bodyPr wrap="square" rtlCol="0" anchor="ctr"/>
          <a:lstStyle/>
          <a:p>
            <a:pPr indent="0" marL="0">
              <a:buNone/>
            </a:pPr>
            <a:r>
              <a:rPr lang="en-US" sz="1000" i="1" dirty="0">
                <a:solidFill>
                  <a:srgbClr val="7C6E86"/>
                </a:solidFill>
                <a:latin typeface="Arial" pitchFamily="34" charset="0"/>
                <a:ea typeface="Arial" pitchFamily="34" charset="-122"/>
                <a:cs typeface="Arial" pitchFamily="34" charset="-120"/>
              </a:rPr>
              <a:t>Existing 3D models, rendered from the GLB files</a:t>
            </a:r>
            <a:endParaRPr lang="en-US" sz="1000" dirty="0"/>
          </a:p>
        </p:txBody>
      </p:sp>
      <p:sp>
        <p:nvSpPr>
          <p:cNvPr id="29" name="Shape 24"/>
          <p:cNvSpPr/>
          <p:nvPr/>
        </p:nvSpPr>
        <p:spPr>
          <a:xfrm>
            <a:off x="6309360" y="3957066"/>
            <a:ext cx="91440" cy="91440"/>
          </a:xfrm>
          <a:prstGeom prst="ellipse">
            <a:avLst/>
          </a:prstGeom>
          <a:solidFill>
            <a:srgbClr val="17788F"/>
          </a:solidFill>
          <a:ln w="12700">
            <a:solidFill>
              <a:srgbClr val="333333"/>
            </a:solidFill>
            <a:prstDash val="solid"/>
          </a:ln>
        </p:spPr>
      </p:sp>
      <p:sp>
        <p:nvSpPr>
          <p:cNvPr id="30" name="Text 25"/>
          <p:cNvSpPr/>
          <p:nvPr/>
        </p:nvSpPr>
        <p:spPr>
          <a:xfrm>
            <a:off x="6510528" y="3858768"/>
            <a:ext cx="501091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GLB models available; OBJ, FBX or STL can be supplied</a:t>
            </a:r>
            <a:endParaRPr lang="en-US" sz="1250" dirty="0"/>
          </a:p>
        </p:txBody>
      </p:sp>
      <p:sp>
        <p:nvSpPr>
          <p:cNvPr id="31" name="Shape 26"/>
          <p:cNvSpPr/>
          <p:nvPr/>
        </p:nvSpPr>
        <p:spPr>
          <a:xfrm>
            <a:off x="6309360" y="4377690"/>
            <a:ext cx="91440" cy="91440"/>
          </a:xfrm>
          <a:prstGeom prst="ellipse">
            <a:avLst/>
          </a:prstGeom>
          <a:solidFill>
            <a:srgbClr val="17788F"/>
          </a:solidFill>
          <a:ln w="12700">
            <a:solidFill>
              <a:srgbClr val="333333"/>
            </a:solidFill>
            <a:prstDash val="solid"/>
          </a:ln>
        </p:spPr>
      </p:sp>
      <p:sp>
        <p:nvSpPr>
          <p:cNvPr id="32" name="Text 27"/>
          <p:cNvSpPr/>
          <p:nvPr/>
        </p:nvSpPr>
        <p:spPr>
          <a:xfrm>
            <a:off x="6510528" y="4279392"/>
            <a:ext cx="501091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High-resolution colour references for all 48 characters</a:t>
            </a:r>
            <a:endParaRPr lang="en-US" sz="1250" dirty="0"/>
          </a:p>
        </p:txBody>
      </p:sp>
      <p:sp>
        <p:nvSpPr>
          <p:cNvPr id="33" name="Shape 28"/>
          <p:cNvSpPr/>
          <p:nvPr/>
        </p:nvSpPr>
        <p:spPr>
          <a:xfrm>
            <a:off x="6309360" y="4798314"/>
            <a:ext cx="91440" cy="91440"/>
          </a:xfrm>
          <a:prstGeom prst="ellipse">
            <a:avLst/>
          </a:prstGeom>
          <a:solidFill>
            <a:srgbClr val="17788F"/>
          </a:solidFill>
          <a:ln w="12700">
            <a:solidFill>
              <a:srgbClr val="333333"/>
            </a:solidFill>
            <a:prstDash val="solid"/>
          </a:ln>
        </p:spPr>
      </p:sp>
      <p:sp>
        <p:nvSpPr>
          <p:cNvPr id="34" name="Text 29"/>
          <p:cNvSpPr/>
          <p:nvPr/>
        </p:nvSpPr>
        <p:spPr>
          <a:xfrm>
            <a:off x="6510528" y="4700016"/>
            <a:ext cx="501091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Front, side and back views can be rendered on request</a:t>
            </a:r>
            <a:endParaRPr lang="en-US" sz="1250" dirty="0"/>
          </a:p>
        </p:txBody>
      </p:sp>
      <p:sp>
        <p:nvSpPr>
          <p:cNvPr id="35" name="Shape 30"/>
          <p:cNvSpPr/>
          <p:nvPr/>
        </p:nvSpPr>
        <p:spPr>
          <a:xfrm>
            <a:off x="6309360" y="5218938"/>
            <a:ext cx="91440" cy="91440"/>
          </a:xfrm>
          <a:prstGeom prst="ellipse">
            <a:avLst/>
          </a:prstGeom>
          <a:solidFill>
            <a:srgbClr val="17788F"/>
          </a:solidFill>
          <a:ln w="12700">
            <a:solidFill>
              <a:srgbClr val="333333"/>
            </a:solidFill>
            <a:prstDash val="solid"/>
          </a:ln>
        </p:spPr>
      </p:sp>
      <p:sp>
        <p:nvSpPr>
          <p:cNvPr id="36" name="Text 31"/>
          <p:cNvSpPr/>
          <p:nvPr/>
        </p:nvSpPr>
        <p:spPr>
          <a:xfrm>
            <a:off x="6510528" y="5120640"/>
            <a:ext cx="501091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Design-for-manufacturing adjustments are expected and welcomed</a:t>
            </a:r>
            <a:endParaRPr lang="en-US" sz="1250" dirty="0"/>
          </a:p>
        </p:txBody>
      </p:sp>
      <p:sp>
        <p:nvSpPr>
          <p:cNvPr id="37" name="Text 32"/>
          <p:cNvSpPr/>
          <p:nvPr/>
        </p:nvSpPr>
        <p:spPr>
          <a:xfrm>
            <a:off x="658368" y="5943600"/>
            <a:ext cx="10881360" cy="384048"/>
          </a:xfrm>
          <a:prstGeom prst="rect">
            <a:avLst/>
          </a:prstGeom>
          <a:noFill/>
          <a:ln/>
        </p:spPr>
        <p:txBody>
          <a:bodyPr wrap="square" rtlCol="0" anchor="t"/>
          <a:lstStyle/>
          <a:p>
            <a:pPr indent="0" marL="0">
              <a:buNone/>
            </a:pPr>
            <a:r>
              <a:rPr lang="en-US" sz="1050" i="1" dirty="0">
                <a:solidFill>
                  <a:srgbClr val="7C6E86"/>
                </a:solidFill>
                <a:latin typeface="Arial" pitchFamily="34" charset="0"/>
                <a:ea typeface="Arial" pitchFamily="34" charset="-122"/>
                <a:cs typeface="Arial" pitchFamily="34" charset="-120"/>
              </a:rPr>
              <a:t>Existing models are concept geometry. Mold-ready files would be produced with the manufacturer.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5</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C4306E"/>
                </a:solidFill>
                <a:latin typeface="Arial" pitchFamily="34" charset="0"/>
                <a:ea typeface="Arial" pitchFamily="34" charset="-122"/>
                <a:cs typeface="Arial" pitchFamily="34" charset="-120"/>
              </a:rPr>
              <a:t>PROPOSED PRODUCT</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Collectible Slow-Rise Squishy Characters</a:t>
            </a:r>
            <a:endParaRPr lang="en-US" sz="3000" dirty="0"/>
          </a:p>
        </p:txBody>
      </p:sp>
      <p:sp>
        <p:nvSpPr>
          <p:cNvPr id="6" name="Shape 4"/>
          <p:cNvSpPr/>
          <p:nvPr/>
        </p:nvSpPr>
        <p:spPr>
          <a:xfrm>
            <a:off x="658368" y="1737360"/>
            <a:ext cx="786384" cy="50292"/>
          </a:xfrm>
          <a:prstGeom prst="rect">
            <a:avLst/>
          </a:prstGeom>
          <a:solidFill>
            <a:srgbClr val="C4306E"/>
          </a:solidFill>
          <a:ln w="12700">
            <a:solidFill>
              <a:srgbClr val="333333"/>
            </a:solidFill>
            <a:prstDash val="solid"/>
          </a:ln>
        </p:spPr>
      </p:sp>
      <p:sp>
        <p:nvSpPr>
          <p:cNvPr id="7" name="Shape 5"/>
          <p:cNvSpPr/>
          <p:nvPr/>
        </p:nvSpPr>
        <p:spPr>
          <a:xfrm>
            <a:off x="658368" y="2084832"/>
            <a:ext cx="3246120" cy="841248"/>
          </a:xfrm>
          <a:prstGeom prst="roundRect">
            <a:avLst>
              <a:gd name="adj" fmla="val 15217"/>
            </a:avLst>
          </a:prstGeom>
          <a:solidFill>
            <a:srgbClr val="FFF8F3"/>
          </a:solidFill>
          <a:ln w="12700">
            <a:solidFill>
              <a:srgbClr val="E7DEE8"/>
            </a:solidFill>
            <a:prstDash val="solid"/>
          </a:ln>
        </p:spPr>
      </p:sp>
      <p:sp>
        <p:nvSpPr>
          <p:cNvPr id="8" name="Text 6"/>
          <p:cNvSpPr/>
          <p:nvPr/>
        </p:nvSpPr>
        <p:spPr>
          <a:xfrm>
            <a:off x="877824" y="2203704"/>
            <a:ext cx="2880360" cy="219456"/>
          </a:xfrm>
          <a:prstGeom prst="rect">
            <a:avLst/>
          </a:prstGeom>
          <a:noFill/>
          <a:ln/>
        </p:spPr>
        <p:txBody>
          <a:bodyPr wrap="square" rtlCol="0" anchor="ctr"/>
          <a:lstStyle/>
          <a:p>
            <a:pPr indent="0" marL="0">
              <a:buNone/>
            </a:pPr>
            <a:r>
              <a:rPr lang="en-US" sz="900" b="1" spc="140" kern="0" dirty="0">
                <a:solidFill>
                  <a:srgbClr val="C4306E"/>
                </a:solidFill>
                <a:latin typeface="Arial" pitchFamily="34" charset="0"/>
                <a:ea typeface="Arial" pitchFamily="34" charset="-122"/>
                <a:cs typeface="Arial" pitchFamily="34" charset="-120"/>
              </a:rPr>
              <a:t>CONSTRUCTION</a:t>
            </a:r>
            <a:endParaRPr lang="en-US" sz="900" dirty="0"/>
          </a:p>
        </p:txBody>
      </p:sp>
      <p:sp>
        <p:nvSpPr>
          <p:cNvPr id="9" name="Text 7"/>
          <p:cNvSpPr/>
          <p:nvPr/>
        </p:nvSpPr>
        <p:spPr>
          <a:xfrm>
            <a:off x="877824" y="2450592"/>
            <a:ext cx="2880360" cy="365760"/>
          </a:xfrm>
          <a:prstGeom prst="rect">
            <a:avLst/>
          </a:prstGeom>
          <a:noFill/>
          <a:ln/>
        </p:spPr>
        <p:txBody>
          <a:bodyPr wrap="square" rtlCol="0" anchor="ctr"/>
          <a:lstStyle/>
          <a:p>
            <a:pPr indent="0" marL="0">
              <a:buNone/>
            </a:pPr>
            <a:r>
              <a:rPr lang="en-US" sz="1300" b="1" dirty="0">
                <a:solidFill>
                  <a:srgbClr val="120B17"/>
                </a:solidFill>
                <a:latin typeface="Trebuchet MS" pitchFamily="34" charset="0"/>
                <a:ea typeface="Trebuchet MS" pitchFamily="34" charset="-122"/>
                <a:cs typeface="Trebuchet MS" pitchFamily="34" charset="-120"/>
              </a:rPr>
              <a:t>Soft polyurethane foam</a:t>
            </a:r>
            <a:endParaRPr lang="en-US" sz="1300" dirty="0"/>
          </a:p>
        </p:txBody>
      </p:sp>
      <p:sp>
        <p:nvSpPr>
          <p:cNvPr id="10" name="Shape 8"/>
          <p:cNvSpPr/>
          <p:nvPr/>
        </p:nvSpPr>
        <p:spPr>
          <a:xfrm>
            <a:off x="4178808" y="2084832"/>
            <a:ext cx="3246120" cy="841248"/>
          </a:xfrm>
          <a:prstGeom prst="roundRect">
            <a:avLst>
              <a:gd name="adj" fmla="val 15217"/>
            </a:avLst>
          </a:prstGeom>
          <a:solidFill>
            <a:srgbClr val="FFF8F3"/>
          </a:solidFill>
          <a:ln w="12700">
            <a:solidFill>
              <a:srgbClr val="E7DEE8"/>
            </a:solidFill>
            <a:prstDash val="solid"/>
          </a:ln>
        </p:spPr>
      </p:sp>
      <p:sp>
        <p:nvSpPr>
          <p:cNvPr id="11" name="Text 9"/>
          <p:cNvSpPr/>
          <p:nvPr/>
        </p:nvSpPr>
        <p:spPr>
          <a:xfrm>
            <a:off x="4398264" y="2203704"/>
            <a:ext cx="2880360" cy="219456"/>
          </a:xfrm>
          <a:prstGeom prst="rect">
            <a:avLst/>
          </a:prstGeom>
          <a:noFill/>
          <a:ln/>
        </p:spPr>
        <p:txBody>
          <a:bodyPr wrap="square" rtlCol="0" anchor="ctr"/>
          <a:lstStyle/>
          <a:p>
            <a:pPr indent="0" marL="0">
              <a:buNone/>
            </a:pPr>
            <a:r>
              <a:rPr lang="en-US" sz="900" b="1" spc="140" kern="0" dirty="0">
                <a:solidFill>
                  <a:srgbClr val="6E37B0"/>
                </a:solidFill>
                <a:latin typeface="Arial" pitchFamily="34" charset="0"/>
                <a:ea typeface="Arial" pitchFamily="34" charset="-122"/>
                <a:cs typeface="Arial" pitchFamily="34" charset="-120"/>
              </a:rPr>
              <a:t>RESPONSE</a:t>
            </a:r>
            <a:endParaRPr lang="en-US" sz="900" dirty="0"/>
          </a:p>
        </p:txBody>
      </p:sp>
      <p:sp>
        <p:nvSpPr>
          <p:cNvPr id="12" name="Text 10"/>
          <p:cNvSpPr/>
          <p:nvPr/>
        </p:nvSpPr>
        <p:spPr>
          <a:xfrm>
            <a:off x="4398264" y="2450592"/>
            <a:ext cx="2880360" cy="365760"/>
          </a:xfrm>
          <a:prstGeom prst="rect">
            <a:avLst/>
          </a:prstGeom>
          <a:noFill/>
          <a:ln/>
        </p:spPr>
        <p:txBody>
          <a:bodyPr wrap="square" rtlCol="0" anchor="ctr"/>
          <a:lstStyle/>
          <a:p>
            <a:pPr indent="0" marL="0">
              <a:buNone/>
            </a:pPr>
            <a:r>
              <a:rPr lang="en-US" sz="1300" b="1" dirty="0">
                <a:solidFill>
                  <a:srgbClr val="120B17"/>
                </a:solidFill>
                <a:latin typeface="Trebuchet MS" pitchFamily="34" charset="0"/>
                <a:ea typeface="Trebuchet MS" pitchFamily="34" charset="-122"/>
                <a:cs typeface="Trebuchet MS" pitchFamily="34" charset="-120"/>
              </a:rPr>
              <a:t>Slow-rise squeeze</a:t>
            </a:r>
            <a:endParaRPr lang="en-US" sz="1300" dirty="0"/>
          </a:p>
        </p:txBody>
      </p:sp>
      <p:sp>
        <p:nvSpPr>
          <p:cNvPr id="13" name="Shape 11"/>
          <p:cNvSpPr/>
          <p:nvPr/>
        </p:nvSpPr>
        <p:spPr>
          <a:xfrm>
            <a:off x="658368" y="3163824"/>
            <a:ext cx="3246120" cy="841248"/>
          </a:xfrm>
          <a:prstGeom prst="roundRect">
            <a:avLst>
              <a:gd name="adj" fmla="val 15217"/>
            </a:avLst>
          </a:prstGeom>
          <a:solidFill>
            <a:srgbClr val="FFF8F3"/>
          </a:solidFill>
          <a:ln w="12700">
            <a:solidFill>
              <a:srgbClr val="E7DEE8"/>
            </a:solidFill>
            <a:prstDash val="solid"/>
          </a:ln>
        </p:spPr>
      </p:sp>
      <p:sp>
        <p:nvSpPr>
          <p:cNvPr id="14" name="Text 12"/>
          <p:cNvSpPr/>
          <p:nvPr/>
        </p:nvSpPr>
        <p:spPr>
          <a:xfrm>
            <a:off x="877824" y="3282696"/>
            <a:ext cx="2880360" cy="219456"/>
          </a:xfrm>
          <a:prstGeom prst="rect">
            <a:avLst/>
          </a:prstGeom>
          <a:noFill/>
          <a:ln/>
        </p:spPr>
        <p:txBody>
          <a:bodyPr wrap="square" rtlCol="0" anchor="ctr"/>
          <a:lstStyle/>
          <a:p>
            <a:pPr indent="0" marL="0">
              <a:buNone/>
            </a:pPr>
            <a:r>
              <a:rPr lang="en-US" sz="900" b="1" spc="140" kern="0" dirty="0">
                <a:solidFill>
                  <a:srgbClr val="17788F"/>
                </a:solidFill>
                <a:latin typeface="Arial" pitchFamily="34" charset="0"/>
                <a:ea typeface="Arial" pitchFamily="34" charset="-122"/>
                <a:cs typeface="Arial" pitchFamily="34" charset="-120"/>
              </a:rPr>
              <a:t>SIZE</a:t>
            </a:r>
            <a:endParaRPr lang="en-US" sz="900" dirty="0"/>
          </a:p>
        </p:txBody>
      </p:sp>
      <p:sp>
        <p:nvSpPr>
          <p:cNvPr id="15" name="Text 13"/>
          <p:cNvSpPr/>
          <p:nvPr/>
        </p:nvSpPr>
        <p:spPr>
          <a:xfrm>
            <a:off x="877824" y="3529584"/>
            <a:ext cx="2880360" cy="365760"/>
          </a:xfrm>
          <a:prstGeom prst="rect">
            <a:avLst/>
          </a:prstGeom>
          <a:noFill/>
          <a:ln/>
        </p:spPr>
        <p:txBody>
          <a:bodyPr wrap="square" rtlCol="0" anchor="ctr"/>
          <a:lstStyle/>
          <a:p>
            <a:pPr indent="0" marL="0">
              <a:buNone/>
            </a:pPr>
            <a:r>
              <a:rPr lang="en-US" sz="1300" b="1" dirty="0">
                <a:solidFill>
                  <a:srgbClr val="120B17"/>
                </a:solidFill>
                <a:latin typeface="Trebuchet MS" pitchFamily="34" charset="0"/>
                <a:ea typeface="Trebuchet MS" pitchFamily="34" charset="-122"/>
                <a:cs typeface="Trebuchet MS" pitchFamily="34" charset="-120"/>
              </a:rPr>
              <a:t>Approx. 4–6 inches tall</a:t>
            </a:r>
            <a:endParaRPr lang="en-US" sz="1300" dirty="0"/>
          </a:p>
        </p:txBody>
      </p:sp>
      <p:sp>
        <p:nvSpPr>
          <p:cNvPr id="16" name="Shape 14"/>
          <p:cNvSpPr/>
          <p:nvPr/>
        </p:nvSpPr>
        <p:spPr>
          <a:xfrm>
            <a:off x="4178808" y="3163824"/>
            <a:ext cx="3246120" cy="841248"/>
          </a:xfrm>
          <a:prstGeom prst="roundRect">
            <a:avLst>
              <a:gd name="adj" fmla="val 15217"/>
            </a:avLst>
          </a:prstGeom>
          <a:solidFill>
            <a:srgbClr val="FFF8F3"/>
          </a:solidFill>
          <a:ln w="12700">
            <a:solidFill>
              <a:srgbClr val="E7DEE8"/>
            </a:solidFill>
            <a:prstDash val="solid"/>
          </a:ln>
        </p:spPr>
      </p:sp>
      <p:sp>
        <p:nvSpPr>
          <p:cNvPr id="17" name="Text 15"/>
          <p:cNvSpPr/>
          <p:nvPr/>
        </p:nvSpPr>
        <p:spPr>
          <a:xfrm>
            <a:off x="4398264" y="3282696"/>
            <a:ext cx="2880360" cy="219456"/>
          </a:xfrm>
          <a:prstGeom prst="rect">
            <a:avLst/>
          </a:prstGeom>
          <a:noFill/>
          <a:ln/>
        </p:spPr>
        <p:txBody>
          <a:bodyPr wrap="square" rtlCol="0" anchor="ctr"/>
          <a:lstStyle/>
          <a:p>
            <a:pPr indent="0" marL="0">
              <a:buNone/>
            </a:pPr>
            <a:r>
              <a:rPr lang="en-US" sz="900" b="1" spc="140" kern="0" dirty="0">
                <a:solidFill>
                  <a:srgbClr val="A8761B"/>
                </a:solidFill>
                <a:latin typeface="Arial" pitchFamily="34" charset="0"/>
                <a:ea typeface="Arial" pitchFamily="34" charset="-122"/>
                <a:cs typeface="Arial" pitchFamily="34" charset="-120"/>
              </a:rPr>
              <a:t>FINISH</a:t>
            </a:r>
            <a:endParaRPr lang="en-US" sz="900" dirty="0"/>
          </a:p>
        </p:txBody>
      </p:sp>
      <p:sp>
        <p:nvSpPr>
          <p:cNvPr id="18" name="Text 16"/>
          <p:cNvSpPr/>
          <p:nvPr/>
        </p:nvSpPr>
        <p:spPr>
          <a:xfrm>
            <a:off x="4398264" y="3529584"/>
            <a:ext cx="2880360" cy="365760"/>
          </a:xfrm>
          <a:prstGeom prst="rect">
            <a:avLst/>
          </a:prstGeom>
          <a:noFill/>
          <a:ln/>
        </p:spPr>
        <p:txBody>
          <a:bodyPr wrap="square" rtlCol="0" anchor="ctr"/>
          <a:lstStyle/>
          <a:p>
            <a:pPr indent="0" marL="0">
              <a:buNone/>
            </a:pPr>
            <a:r>
              <a:rPr lang="en-US" sz="1300" b="1" dirty="0">
                <a:solidFill>
                  <a:srgbClr val="120B17"/>
                </a:solidFill>
                <a:latin typeface="Trebuchet MS" pitchFamily="34" charset="0"/>
                <a:ea typeface="Trebuchet MS" pitchFamily="34" charset="-122"/>
                <a:cs typeface="Trebuchet MS" pitchFamily="34" charset="-120"/>
              </a:rPr>
              <a:t>Durable painted coating</a:t>
            </a:r>
            <a:endParaRPr lang="en-US" sz="1300" dirty="0"/>
          </a:p>
        </p:txBody>
      </p:sp>
      <p:sp>
        <p:nvSpPr>
          <p:cNvPr id="19" name="Shape 17"/>
          <p:cNvSpPr/>
          <p:nvPr/>
        </p:nvSpPr>
        <p:spPr>
          <a:xfrm>
            <a:off x="658368" y="4242816"/>
            <a:ext cx="3246120" cy="841248"/>
          </a:xfrm>
          <a:prstGeom prst="roundRect">
            <a:avLst>
              <a:gd name="adj" fmla="val 15217"/>
            </a:avLst>
          </a:prstGeom>
          <a:solidFill>
            <a:srgbClr val="FFF8F3"/>
          </a:solidFill>
          <a:ln w="12700">
            <a:solidFill>
              <a:srgbClr val="E7DEE8"/>
            </a:solidFill>
            <a:prstDash val="solid"/>
          </a:ln>
        </p:spPr>
      </p:sp>
      <p:sp>
        <p:nvSpPr>
          <p:cNvPr id="20" name="Text 18"/>
          <p:cNvSpPr/>
          <p:nvPr/>
        </p:nvSpPr>
        <p:spPr>
          <a:xfrm>
            <a:off x="877824" y="4361688"/>
            <a:ext cx="2880360" cy="219456"/>
          </a:xfrm>
          <a:prstGeom prst="rect">
            <a:avLst/>
          </a:prstGeom>
          <a:noFill/>
          <a:ln/>
        </p:spPr>
        <p:txBody>
          <a:bodyPr wrap="square" rtlCol="0" anchor="ctr"/>
          <a:lstStyle/>
          <a:p>
            <a:pPr indent="0" marL="0">
              <a:buNone/>
            </a:pPr>
            <a:r>
              <a:rPr lang="en-US" sz="900" b="1" spc="140" kern="0" dirty="0">
                <a:solidFill>
                  <a:srgbClr val="4F7A18"/>
                </a:solidFill>
                <a:latin typeface="Arial" pitchFamily="34" charset="0"/>
                <a:ea typeface="Arial" pitchFamily="34" charset="-122"/>
                <a:cs typeface="Arial" pitchFamily="34" charset="-120"/>
              </a:rPr>
              <a:t>OPTIONS</a:t>
            </a:r>
            <a:endParaRPr lang="en-US" sz="900" dirty="0"/>
          </a:p>
        </p:txBody>
      </p:sp>
      <p:sp>
        <p:nvSpPr>
          <p:cNvPr id="21" name="Text 19"/>
          <p:cNvSpPr/>
          <p:nvPr/>
        </p:nvSpPr>
        <p:spPr>
          <a:xfrm>
            <a:off x="877824" y="4608576"/>
            <a:ext cx="2880360" cy="365760"/>
          </a:xfrm>
          <a:prstGeom prst="rect">
            <a:avLst/>
          </a:prstGeom>
          <a:noFill/>
          <a:ln/>
        </p:spPr>
        <p:txBody>
          <a:bodyPr wrap="square" rtlCol="0" anchor="ctr"/>
          <a:lstStyle/>
          <a:p>
            <a:pPr indent="0" marL="0">
              <a:buNone/>
            </a:pPr>
            <a:r>
              <a:rPr lang="en-US" sz="1300" b="1" dirty="0">
                <a:solidFill>
                  <a:srgbClr val="120B17"/>
                </a:solidFill>
                <a:latin typeface="Trebuchet MS" pitchFamily="34" charset="0"/>
                <a:ea typeface="Trebuchet MS" pitchFamily="34" charset="-122"/>
                <a:cs typeface="Trebuchet MS" pitchFamily="34" charset="-120"/>
              </a:rPr>
              <a:t>Scent, glitter, glow or colour-change</a:t>
            </a:r>
            <a:endParaRPr lang="en-US" sz="1300" dirty="0"/>
          </a:p>
        </p:txBody>
      </p:sp>
      <p:sp>
        <p:nvSpPr>
          <p:cNvPr id="22" name="Shape 20"/>
          <p:cNvSpPr/>
          <p:nvPr/>
        </p:nvSpPr>
        <p:spPr>
          <a:xfrm>
            <a:off x="4178808" y="4242816"/>
            <a:ext cx="3246120" cy="841248"/>
          </a:xfrm>
          <a:prstGeom prst="roundRect">
            <a:avLst>
              <a:gd name="adj" fmla="val 15217"/>
            </a:avLst>
          </a:prstGeom>
          <a:solidFill>
            <a:srgbClr val="FFF8F3"/>
          </a:solidFill>
          <a:ln w="12700">
            <a:solidFill>
              <a:srgbClr val="E7DEE8"/>
            </a:solidFill>
            <a:prstDash val="solid"/>
          </a:ln>
        </p:spPr>
      </p:sp>
      <p:sp>
        <p:nvSpPr>
          <p:cNvPr id="23" name="Text 21"/>
          <p:cNvSpPr/>
          <p:nvPr/>
        </p:nvSpPr>
        <p:spPr>
          <a:xfrm>
            <a:off x="4398264" y="4361688"/>
            <a:ext cx="2880360" cy="219456"/>
          </a:xfrm>
          <a:prstGeom prst="rect">
            <a:avLst/>
          </a:prstGeom>
          <a:noFill/>
          <a:ln/>
        </p:spPr>
        <p:txBody>
          <a:bodyPr wrap="square" rtlCol="0" anchor="ctr"/>
          <a:lstStyle/>
          <a:p>
            <a:pPr indent="0" marL="0">
              <a:buNone/>
            </a:pPr>
            <a:r>
              <a:rPr lang="en-US" sz="900" b="1" spc="140" kern="0" dirty="0">
                <a:solidFill>
                  <a:srgbClr val="C4306E"/>
                </a:solidFill>
                <a:latin typeface="Arial" pitchFamily="34" charset="0"/>
                <a:ea typeface="Arial" pitchFamily="34" charset="-122"/>
                <a:cs typeface="Arial" pitchFamily="34" charset="-120"/>
              </a:rPr>
              <a:t>PACKAGING</a:t>
            </a:r>
            <a:endParaRPr lang="en-US" sz="900" dirty="0"/>
          </a:p>
        </p:txBody>
      </p:sp>
      <p:sp>
        <p:nvSpPr>
          <p:cNvPr id="24" name="Text 22"/>
          <p:cNvSpPr/>
          <p:nvPr/>
        </p:nvSpPr>
        <p:spPr>
          <a:xfrm>
            <a:off x="4398264" y="4608576"/>
            <a:ext cx="2880360" cy="365760"/>
          </a:xfrm>
          <a:prstGeom prst="rect">
            <a:avLst/>
          </a:prstGeom>
          <a:noFill/>
          <a:ln/>
        </p:spPr>
        <p:txBody>
          <a:bodyPr wrap="square" rtlCol="0" anchor="ctr"/>
          <a:lstStyle/>
          <a:p>
            <a:pPr indent="0" marL="0">
              <a:buNone/>
            </a:pPr>
            <a:r>
              <a:rPr lang="en-US" sz="1300" b="1" dirty="0">
                <a:solidFill>
                  <a:srgbClr val="120B17"/>
                </a:solidFill>
                <a:latin typeface="Trebuchet MS" pitchFamily="34" charset="0"/>
                <a:ea typeface="Trebuchet MS" pitchFamily="34" charset="-122"/>
                <a:cs typeface="Trebuchet MS" pitchFamily="34" charset="-120"/>
              </a:rPr>
              <a:t>Window box, polybag or blind box</a:t>
            </a:r>
            <a:endParaRPr lang="en-US" sz="1300" dirty="0"/>
          </a:p>
        </p:txBody>
      </p:sp>
      <p:sp>
        <p:nvSpPr>
          <p:cNvPr id="25" name="Shape 23"/>
          <p:cNvSpPr/>
          <p:nvPr/>
        </p:nvSpPr>
        <p:spPr>
          <a:xfrm>
            <a:off x="7968082" y="2371954"/>
            <a:ext cx="3266237" cy="3266237"/>
          </a:xfrm>
          <a:prstGeom prst="ellipse">
            <a:avLst/>
          </a:prstGeom>
          <a:solidFill>
            <a:srgbClr val="F2FAFD"/>
          </a:solidFill>
          <a:ln w="12700">
            <a:solidFill>
              <a:srgbClr val="333333"/>
            </a:solidFill>
            <a:prstDash val="solid"/>
          </a:ln>
        </p:spPr>
      </p:sp>
      <p:pic>
        <p:nvPicPr>
          <p:cNvPr id="26" name="Image 0" descr="D:\squishy-smash\docs\marketing\squishy_smash_deck_package\assets\staged\model_blushy_bun_bunny.png">    </p:cNvPr>
          <p:cNvPicPr>
            <a:picLocks noChangeAspect="1"/>
          </p:cNvPicPr>
          <p:nvPr/>
        </p:nvPicPr>
        <p:blipFill>
          <a:blip r:embed="rId1"/>
          <a:stretch>
            <a:fillRect/>
          </a:stretch>
        </p:blipFill>
        <p:spPr>
          <a:xfrm>
            <a:off x="8107070" y="2510942"/>
            <a:ext cx="2988259" cy="2988259"/>
          </a:xfrm>
          <a:prstGeom prst="rect">
            <a:avLst/>
          </a:prstGeom>
        </p:spPr>
      </p:pic>
      <p:sp>
        <p:nvSpPr>
          <p:cNvPr id="27" name="Text 24"/>
          <p:cNvSpPr/>
          <p:nvPr/>
        </p:nvSpPr>
        <p:spPr>
          <a:xfrm>
            <a:off x="658368" y="5943600"/>
            <a:ext cx="10881360" cy="384048"/>
          </a:xfrm>
          <a:prstGeom prst="rect">
            <a:avLst/>
          </a:prstGeom>
          <a:noFill/>
          <a:ln/>
        </p:spPr>
        <p:txBody>
          <a:bodyPr wrap="square" rtlCol="0" anchor="t"/>
          <a:lstStyle/>
          <a:p>
            <a:pPr indent="0" marL="0">
              <a:buNone/>
            </a:pPr>
            <a:r>
              <a:rPr lang="en-US" sz="1050" i="1" dirty="0">
                <a:solidFill>
                  <a:srgbClr val="7C6E86"/>
                </a:solidFill>
                <a:latin typeface="Arial" pitchFamily="34" charset="0"/>
                <a:ea typeface="Arial" pitchFamily="34" charset="-122"/>
                <a:cs typeface="Arial" pitchFamily="34" charset="-120"/>
              </a:rPr>
              <a:t>Initial target specifications for manufacturer discussion. Nothing here is final — all specifications are open to your recommendations.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6</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6E37B0"/>
                </a:solidFill>
                <a:latin typeface="Arial" pitchFamily="34" charset="0"/>
                <a:ea typeface="Arial" pitchFamily="34" charset="-122"/>
                <a:cs typeface="Arial" pitchFamily="34" charset="-120"/>
              </a:rPr>
              <a:t>PILOT COLLECTION</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Proposed First Release</a:t>
            </a:r>
            <a:endParaRPr lang="en-US" sz="3000" dirty="0"/>
          </a:p>
        </p:txBody>
      </p:sp>
      <p:sp>
        <p:nvSpPr>
          <p:cNvPr id="6" name="Shape 4"/>
          <p:cNvSpPr/>
          <p:nvPr/>
        </p:nvSpPr>
        <p:spPr>
          <a:xfrm>
            <a:off x="658368" y="1737360"/>
            <a:ext cx="786384" cy="50292"/>
          </a:xfrm>
          <a:prstGeom prst="rect">
            <a:avLst/>
          </a:prstGeom>
          <a:solidFill>
            <a:srgbClr val="6E37B0"/>
          </a:solidFill>
          <a:ln w="12700">
            <a:solidFill>
              <a:srgbClr val="333333"/>
            </a:solidFill>
            <a:prstDash val="solid"/>
          </a:ln>
        </p:spPr>
      </p:sp>
      <p:sp>
        <p:nvSpPr>
          <p:cNvPr id="7" name="Text 5"/>
          <p:cNvSpPr/>
          <p:nvPr/>
        </p:nvSpPr>
        <p:spPr>
          <a:xfrm>
            <a:off x="658368" y="1993392"/>
            <a:ext cx="5852160" cy="329184"/>
          </a:xfrm>
          <a:prstGeom prst="rect">
            <a:avLst/>
          </a:prstGeom>
          <a:noFill/>
          <a:ln/>
        </p:spPr>
        <p:txBody>
          <a:bodyPr wrap="square" rtlCol="0" anchor="ctr"/>
          <a:lstStyle/>
          <a:p>
            <a:pPr indent="0" marL="0">
              <a:buNone/>
            </a:pPr>
            <a:r>
              <a:rPr lang="en-US" sz="1600" b="1" dirty="0">
                <a:solidFill>
                  <a:srgbClr val="A8761B"/>
                </a:solidFill>
                <a:latin typeface="Trebuchet MS" pitchFamily="34" charset="0"/>
                <a:ea typeface="Trebuchet MS" pitchFamily="34" charset="-122"/>
                <a:cs typeface="Trebuchet MS" pitchFamily="34" charset="-120"/>
              </a:rPr>
              <a:t>Squishy Smash Founders Series</a:t>
            </a:r>
            <a:endParaRPr lang="en-US" sz="1600" dirty="0"/>
          </a:p>
        </p:txBody>
      </p:sp>
      <p:sp>
        <p:nvSpPr>
          <p:cNvPr id="8" name="Text 6"/>
          <p:cNvSpPr/>
          <p:nvPr/>
        </p:nvSpPr>
        <p:spPr>
          <a:xfrm>
            <a:off x="658368" y="2359152"/>
            <a:ext cx="10881360" cy="566928"/>
          </a:xfrm>
          <a:prstGeom prst="rect">
            <a:avLst/>
          </a:prstGeom>
          <a:noFill/>
          <a:ln/>
        </p:spPr>
        <p:txBody>
          <a:bodyPr wrap="square" rtlCol="0" anchor="ctr"/>
          <a:lstStyle/>
          <a:p>
            <a:pPr indent="0" marL="0">
              <a:lnSpc>
                <a:spcPct val="122000"/>
              </a:lnSpc>
              <a:buNone/>
            </a:pPr>
            <a:r>
              <a:rPr lang="en-US" sz="1250" dirty="0">
                <a:solidFill>
                  <a:srgbClr val="4A3F52"/>
                </a:solidFill>
                <a:latin typeface="Arial" pitchFamily="34" charset="0"/>
                <a:ea typeface="Arial" pitchFamily="34" charset="-122"/>
                <a:cs typeface="Arial" pitchFamily="34" charset="-120"/>
              </a:rPr>
              <a:t>Launching with six hero characters rather than all 48. These six are proposed first because each already has an existing 3D model, and together they cover all three packs and both ends of the rarity range.</a:t>
            </a:r>
            <a:endParaRPr lang="en-US" sz="1250" dirty="0"/>
          </a:p>
        </p:txBody>
      </p:sp>
      <p:sp>
        <p:nvSpPr>
          <p:cNvPr id="9" name="Shape 7"/>
          <p:cNvSpPr/>
          <p:nvPr/>
        </p:nvSpPr>
        <p:spPr>
          <a:xfrm>
            <a:off x="682600" y="3035808"/>
            <a:ext cx="1682496" cy="2487168"/>
          </a:xfrm>
          <a:prstGeom prst="roundRect">
            <a:avLst>
              <a:gd name="adj" fmla="val 7609"/>
            </a:avLst>
          </a:prstGeom>
          <a:solidFill>
            <a:srgbClr val="FFFFFF"/>
          </a:solidFill>
          <a:ln w="12700">
            <a:solidFill>
              <a:srgbClr val="E7DEE8"/>
            </a:solidFill>
            <a:prstDash val="solid"/>
          </a:ln>
        </p:spPr>
      </p:sp>
      <p:sp>
        <p:nvSpPr>
          <p:cNvPr id="10" name="Shape 8"/>
          <p:cNvSpPr/>
          <p:nvPr/>
        </p:nvSpPr>
        <p:spPr>
          <a:xfrm>
            <a:off x="904982" y="3166750"/>
            <a:ext cx="1237732" cy="1237732"/>
          </a:xfrm>
          <a:prstGeom prst="ellipse">
            <a:avLst/>
          </a:prstGeom>
          <a:solidFill>
            <a:srgbClr val="F2FAFD"/>
          </a:solidFill>
          <a:ln w="12700">
            <a:solidFill>
              <a:srgbClr val="333333"/>
            </a:solidFill>
            <a:prstDash val="solid"/>
          </a:ln>
        </p:spPr>
      </p:sp>
      <p:pic>
        <p:nvPicPr>
          <p:cNvPr id="11" name="Image 0" descr="D:\squishy-smash\docs\marketing\squishy_smash_deck_package\assets\staged\model_soft_dumpling.png">    </p:cNvPr>
          <p:cNvPicPr>
            <a:picLocks noChangeAspect="1"/>
          </p:cNvPicPr>
          <p:nvPr/>
        </p:nvPicPr>
        <p:blipFill>
          <a:blip r:embed="rId1"/>
          <a:stretch>
            <a:fillRect/>
          </a:stretch>
        </p:blipFill>
        <p:spPr>
          <a:xfrm>
            <a:off x="944484" y="3206252"/>
            <a:ext cx="1158728" cy="1158728"/>
          </a:xfrm>
          <a:prstGeom prst="rect">
            <a:avLst/>
          </a:prstGeom>
        </p:spPr>
      </p:pic>
      <p:sp>
        <p:nvSpPr>
          <p:cNvPr id="12" name="Text 9"/>
          <p:cNvSpPr/>
          <p:nvPr/>
        </p:nvSpPr>
        <p:spPr>
          <a:xfrm>
            <a:off x="737464" y="4480560"/>
            <a:ext cx="1572768" cy="475488"/>
          </a:xfrm>
          <a:prstGeom prst="rect">
            <a:avLst/>
          </a:prstGeom>
          <a:noFill/>
          <a:ln/>
        </p:spPr>
        <p:txBody>
          <a:bodyPr wrap="square" rtlCol="0" anchor="t"/>
          <a:lstStyle/>
          <a:p>
            <a:pPr algn="ctr" indent="0" marL="0">
              <a:buNone/>
            </a:pPr>
            <a:r>
              <a:rPr lang="en-US" sz="1050" b="1" dirty="0">
                <a:solidFill>
                  <a:srgbClr val="120B17"/>
                </a:solidFill>
                <a:latin typeface="Trebuchet MS" pitchFamily="34" charset="0"/>
                <a:ea typeface="Trebuchet MS" pitchFamily="34" charset="-122"/>
                <a:cs typeface="Trebuchet MS" pitchFamily="34" charset="-120"/>
              </a:rPr>
              <a:t>Soft Dumpling</a:t>
            </a:r>
            <a:endParaRPr lang="en-US" sz="1050" dirty="0"/>
          </a:p>
        </p:txBody>
      </p:sp>
      <p:sp>
        <p:nvSpPr>
          <p:cNvPr id="13" name="Text 10"/>
          <p:cNvSpPr/>
          <p:nvPr/>
        </p:nvSpPr>
        <p:spPr>
          <a:xfrm>
            <a:off x="737464" y="4919472"/>
            <a:ext cx="1572768" cy="201168"/>
          </a:xfrm>
          <a:prstGeom prst="rect">
            <a:avLst/>
          </a:prstGeom>
          <a:noFill/>
          <a:ln/>
        </p:spPr>
        <p:txBody>
          <a:bodyPr wrap="square" rtlCol="0" anchor="ctr"/>
          <a:lstStyle/>
          <a:p>
            <a:pPr algn="ctr" indent="0" marL="0">
              <a:buNone/>
            </a:pPr>
            <a:r>
              <a:rPr lang="en-US" sz="900" dirty="0">
                <a:solidFill>
                  <a:srgbClr val="8B7F92"/>
                </a:solidFill>
                <a:latin typeface="Arial" pitchFamily="34" charset="0"/>
                <a:ea typeface="Arial" pitchFamily="34" charset="-122"/>
                <a:cs typeface="Arial" pitchFamily="34" charset="-120"/>
              </a:rPr>
              <a:t>001/048</a:t>
            </a:r>
            <a:endParaRPr lang="en-US" sz="900" dirty="0"/>
          </a:p>
        </p:txBody>
      </p:sp>
      <p:sp>
        <p:nvSpPr>
          <p:cNvPr id="14" name="Shape 11"/>
          <p:cNvSpPr/>
          <p:nvPr/>
        </p:nvSpPr>
        <p:spPr>
          <a:xfrm>
            <a:off x="1039216" y="5148072"/>
            <a:ext cx="969264" cy="256032"/>
          </a:xfrm>
          <a:prstGeom prst="roundRect">
            <a:avLst>
              <a:gd name="adj" fmla="val 178571"/>
            </a:avLst>
          </a:prstGeom>
          <a:solidFill>
            <a:srgbClr val="B0B6C3"/>
          </a:solidFill>
          <a:ln w="12700">
            <a:solidFill>
              <a:srgbClr val="333333"/>
            </a:solidFill>
            <a:prstDash val="solid"/>
          </a:ln>
        </p:spPr>
      </p:sp>
      <p:sp>
        <p:nvSpPr>
          <p:cNvPr id="15" name="Text 12"/>
          <p:cNvSpPr/>
          <p:nvPr/>
        </p:nvSpPr>
        <p:spPr>
          <a:xfrm>
            <a:off x="1039216" y="5148072"/>
            <a:ext cx="969264" cy="256032"/>
          </a:xfrm>
          <a:prstGeom prst="rect">
            <a:avLst/>
          </a:prstGeom>
          <a:noFill/>
          <a:ln/>
        </p:spPr>
        <p:txBody>
          <a:bodyPr wrap="square" rtlCol="0" anchor="ctr"/>
          <a:lstStyle/>
          <a:p>
            <a:pPr algn="ctr" indent="0" marL="0">
              <a:buNone/>
            </a:pPr>
            <a:r>
              <a:rPr lang="en-US" sz="950" b="1" dirty="0">
                <a:solidFill>
                  <a:srgbClr val="55606F"/>
                </a:solidFill>
                <a:latin typeface="Arial" pitchFamily="34" charset="0"/>
                <a:ea typeface="Arial" pitchFamily="34" charset="-122"/>
                <a:cs typeface="Arial" pitchFamily="34" charset="-120"/>
              </a:rPr>
              <a:t>COMMON</a:t>
            </a:r>
            <a:endParaRPr lang="en-US" sz="950" dirty="0"/>
          </a:p>
        </p:txBody>
      </p:sp>
      <p:sp>
        <p:nvSpPr>
          <p:cNvPr id="16" name="Shape 13"/>
          <p:cNvSpPr/>
          <p:nvPr/>
        </p:nvSpPr>
        <p:spPr>
          <a:xfrm>
            <a:off x="2511400" y="3035808"/>
            <a:ext cx="1682496" cy="2487168"/>
          </a:xfrm>
          <a:prstGeom prst="roundRect">
            <a:avLst>
              <a:gd name="adj" fmla="val 7609"/>
            </a:avLst>
          </a:prstGeom>
          <a:solidFill>
            <a:srgbClr val="FFFFFF"/>
          </a:solidFill>
          <a:ln w="12700">
            <a:solidFill>
              <a:srgbClr val="E7DEE8"/>
            </a:solidFill>
            <a:prstDash val="solid"/>
          </a:ln>
        </p:spPr>
      </p:sp>
      <p:sp>
        <p:nvSpPr>
          <p:cNvPr id="17" name="Shape 14"/>
          <p:cNvSpPr/>
          <p:nvPr/>
        </p:nvSpPr>
        <p:spPr>
          <a:xfrm>
            <a:off x="2733782" y="3166750"/>
            <a:ext cx="1237732" cy="1237732"/>
          </a:xfrm>
          <a:prstGeom prst="ellipse">
            <a:avLst/>
          </a:prstGeom>
          <a:solidFill>
            <a:srgbClr val="F2FAFD"/>
          </a:solidFill>
          <a:ln w="12700">
            <a:solidFill>
              <a:srgbClr val="333333"/>
            </a:solidFill>
            <a:prstDash val="solid"/>
          </a:ln>
        </p:spPr>
      </p:sp>
      <p:pic>
        <p:nvPicPr>
          <p:cNvPr id="18" name="Image 1" descr="D:\squishy-smash\docs\marketing\squishy_smash_deck_package\assets\staged\model_goo_ball.png">    </p:cNvPr>
          <p:cNvPicPr>
            <a:picLocks noChangeAspect="1"/>
          </p:cNvPicPr>
          <p:nvPr/>
        </p:nvPicPr>
        <p:blipFill>
          <a:blip r:embed="rId2"/>
          <a:stretch>
            <a:fillRect/>
          </a:stretch>
        </p:blipFill>
        <p:spPr>
          <a:xfrm>
            <a:off x="2773284" y="3206252"/>
            <a:ext cx="1158728" cy="1158728"/>
          </a:xfrm>
          <a:prstGeom prst="rect">
            <a:avLst/>
          </a:prstGeom>
        </p:spPr>
      </p:pic>
      <p:sp>
        <p:nvSpPr>
          <p:cNvPr id="19" name="Text 15"/>
          <p:cNvSpPr/>
          <p:nvPr/>
        </p:nvSpPr>
        <p:spPr>
          <a:xfrm>
            <a:off x="2566264" y="4480560"/>
            <a:ext cx="1572768" cy="475488"/>
          </a:xfrm>
          <a:prstGeom prst="rect">
            <a:avLst/>
          </a:prstGeom>
          <a:noFill/>
          <a:ln/>
        </p:spPr>
        <p:txBody>
          <a:bodyPr wrap="square" rtlCol="0" anchor="t"/>
          <a:lstStyle/>
          <a:p>
            <a:pPr algn="ctr" indent="0" marL="0">
              <a:buNone/>
            </a:pPr>
            <a:r>
              <a:rPr lang="en-US" sz="1050" b="1" dirty="0">
                <a:solidFill>
                  <a:srgbClr val="120B17"/>
                </a:solidFill>
                <a:latin typeface="Trebuchet MS" pitchFamily="34" charset="0"/>
                <a:ea typeface="Trebuchet MS" pitchFamily="34" charset="-122"/>
                <a:cs typeface="Trebuchet MS" pitchFamily="34" charset="-120"/>
              </a:rPr>
              <a:t>Goo Ball</a:t>
            </a:r>
            <a:endParaRPr lang="en-US" sz="1050" dirty="0"/>
          </a:p>
        </p:txBody>
      </p:sp>
      <p:sp>
        <p:nvSpPr>
          <p:cNvPr id="20" name="Text 16"/>
          <p:cNvSpPr/>
          <p:nvPr/>
        </p:nvSpPr>
        <p:spPr>
          <a:xfrm>
            <a:off x="2566264" y="4919472"/>
            <a:ext cx="1572768" cy="201168"/>
          </a:xfrm>
          <a:prstGeom prst="rect">
            <a:avLst/>
          </a:prstGeom>
          <a:noFill/>
          <a:ln/>
        </p:spPr>
        <p:txBody>
          <a:bodyPr wrap="square" rtlCol="0" anchor="ctr"/>
          <a:lstStyle/>
          <a:p>
            <a:pPr algn="ctr" indent="0" marL="0">
              <a:buNone/>
            </a:pPr>
            <a:r>
              <a:rPr lang="en-US" sz="900" dirty="0">
                <a:solidFill>
                  <a:srgbClr val="8B7F92"/>
                </a:solidFill>
                <a:latin typeface="Arial" pitchFamily="34" charset="0"/>
                <a:ea typeface="Arial" pitchFamily="34" charset="-122"/>
                <a:cs typeface="Arial" pitchFamily="34" charset="-120"/>
              </a:rPr>
              <a:t>017/048</a:t>
            </a:r>
            <a:endParaRPr lang="en-US" sz="900" dirty="0"/>
          </a:p>
        </p:txBody>
      </p:sp>
      <p:sp>
        <p:nvSpPr>
          <p:cNvPr id="21" name="Shape 17"/>
          <p:cNvSpPr/>
          <p:nvPr/>
        </p:nvSpPr>
        <p:spPr>
          <a:xfrm>
            <a:off x="2868016" y="5148072"/>
            <a:ext cx="969264" cy="256032"/>
          </a:xfrm>
          <a:prstGeom prst="roundRect">
            <a:avLst>
              <a:gd name="adj" fmla="val 178571"/>
            </a:avLst>
          </a:prstGeom>
          <a:solidFill>
            <a:srgbClr val="B0B6C3"/>
          </a:solidFill>
          <a:ln w="12700">
            <a:solidFill>
              <a:srgbClr val="333333"/>
            </a:solidFill>
            <a:prstDash val="solid"/>
          </a:ln>
        </p:spPr>
      </p:sp>
      <p:sp>
        <p:nvSpPr>
          <p:cNvPr id="22" name="Text 18"/>
          <p:cNvSpPr/>
          <p:nvPr/>
        </p:nvSpPr>
        <p:spPr>
          <a:xfrm>
            <a:off x="2868016" y="5148072"/>
            <a:ext cx="969264" cy="256032"/>
          </a:xfrm>
          <a:prstGeom prst="rect">
            <a:avLst/>
          </a:prstGeom>
          <a:noFill/>
          <a:ln/>
        </p:spPr>
        <p:txBody>
          <a:bodyPr wrap="square" rtlCol="0" anchor="ctr"/>
          <a:lstStyle/>
          <a:p>
            <a:pPr algn="ctr" indent="0" marL="0">
              <a:buNone/>
            </a:pPr>
            <a:r>
              <a:rPr lang="en-US" sz="950" b="1" dirty="0">
                <a:solidFill>
                  <a:srgbClr val="55606F"/>
                </a:solidFill>
                <a:latin typeface="Arial" pitchFamily="34" charset="0"/>
                <a:ea typeface="Arial" pitchFamily="34" charset="-122"/>
                <a:cs typeface="Arial" pitchFamily="34" charset="-120"/>
              </a:rPr>
              <a:t>COMMON</a:t>
            </a:r>
            <a:endParaRPr lang="en-US" sz="950" dirty="0"/>
          </a:p>
        </p:txBody>
      </p:sp>
      <p:sp>
        <p:nvSpPr>
          <p:cNvPr id="23" name="Shape 19"/>
          <p:cNvSpPr/>
          <p:nvPr/>
        </p:nvSpPr>
        <p:spPr>
          <a:xfrm>
            <a:off x="4340200" y="3035808"/>
            <a:ext cx="1682496" cy="2487168"/>
          </a:xfrm>
          <a:prstGeom prst="roundRect">
            <a:avLst>
              <a:gd name="adj" fmla="val 7609"/>
            </a:avLst>
          </a:prstGeom>
          <a:solidFill>
            <a:srgbClr val="FFFFFF"/>
          </a:solidFill>
          <a:ln w="12700">
            <a:solidFill>
              <a:srgbClr val="E7DEE8"/>
            </a:solidFill>
            <a:prstDash val="solid"/>
          </a:ln>
        </p:spPr>
      </p:sp>
      <p:sp>
        <p:nvSpPr>
          <p:cNvPr id="24" name="Shape 20"/>
          <p:cNvSpPr/>
          <p:nvPr/>
        </p:nvSpPr>
        <p:spPr>
          <a:xfrm>
            <a:off x="4562582" y="3166750"/>
            <a:ext cx="1237732" cy="1237732"/>
          </a:xfrm>
          <a:prstGeom prst="ellipse">
            <a:avLst/>
          </a:prstGeom>
          <a:solidFill>
            <a:srgbClr val="F2FAFD"/>
          </a:solidFill>
          <a:ln w="12700">
            <a:solidFill>
              <a:srgbClr val="333333"/>
            </a:solidFill>
            <a:prstDash val="solid"/>
          </a:ln>
        </p:spPr>
      </p:sp>
      <p:pic>
        <p:nvPicPr>
          <p:cNvPr id="25" name="Image 2" descr="D:\squishy-smash\docs\marketing\squishy_smash_deck_package\assets\staged\model_blushy_bun_bunny.png">    </p:cNvPr>
          <p:cNvPicPr>
            <a:picLocks noChangeAspect="1"/>
          </p:cNvPicPr>
          <p:nvPr/>
        </p:nvPicPr>
        <p:blipFill>
          <a:blip r:embed="rId3"/>
          <a:stretch>
            <a:fillRect/>
          </a:stretch>
        </p:blipFill>
        <p:spPr>
          <a:xfrm>
            <a:off x="4602084" y="3206252"/>
            <a:ext cx="1158728" cy="1158728"/>
          </a:xfrm>
          <a:prstGeom prst="rect">
            <a:avLst/>
          </a:prstGeom>
        </p:spPr>
      </p:pic>
      <p:sp>
        <p:nvSpPr>
          <p:cNvPr id="26" name="Text 21"/>
          <p:cNvSpPr/>
          <p:nvPr/>
        </p:nvSpPr>
        <p:spPr>
          <a:xfrm>
            <a:off x="4395064" y="4480560"/>
            <a:ext cx="1572768" cy="475488"/>
          </a:xfrm>
          <a:prstGeom prst="rect">
            <a:avLst/>
          </a:prstGeom>
          <a:noFill/>
          <a:ln/>
        </p:spPr>
        <p:txBody>
          <a:bodyPr wrap="square" rtlCol="0" anchor="t"/>
          <a:lstStyle/>
          <a:p>
            <a:pPr algn="ctr" indent="0" marL="0">
              <a:buNone/>
            </a:pPr>
            <a:r>
              <a:rPr lang="en-US" sz="1050" b="1" dirty="0">
                <a:solidFill>
                  <a:srgbClr val="120B17"/>
                </a:solidFill>
                <a:latin typeface="Trebuchet MS" pitchFamily="34" charset="0"/>
                <a:ea typeface="Trebuchet MS" pitchFamily="34" charset="-122"/>
                <a:cs typeface="Trebuchet MS" pitchFamily="34" charset="-120"/>
              </a:rPr>
              <a:t>Blushy Bun Bunny</a:t>
            </a:r>
            <a:endParaRPr lang="en-US" sz="1050" dirty="0"/>
          </a:p>
        </p:txBody>
      </p:sp>
      <p:sp>
        <p:nvSpPr>
          <p:cNvPr id="27" name="Text 22"/>
          <p:cNvSpPr/>
          <p:nvPr/>
        </p:nvSpPr>
        <p:spPr>
          <a:xfrm>
            <a:off x="4395064" y="4919472"/>
            <a:ext cx="1572768" cy="201168"/>
          </a:xfrm>
          <a:prstGeom prst="rect">
            <a:avLst/>
          </a:prstGeom>
          <a:noFill/>
          <a:ln/>
        </p:spPr>
        <p:txBody>
          <a:bodyPr wrap="square" rtlCol="0" anchor="ctr"/>
          <a:lstStyle/>
          <a:p>
            <a:pPr algn="ctr" indent="0" marL="0">
              <a:buNone/>
            </a:pPr>
            <a:r>
              <a:rPr lang="en-US" sz="900" dirty="0">
                <a:solidFill>
                  <a:srgbClr val="8B7F92"/>
                </a:solidFill>
                <a:latin typeface="Arial" pitchFamily="34" charset="0"/>
                <a:ea typeface="Arial" pitchFamily="34" charset="-122"/>
                <a:cs typeface="Arial" pitchFamily="34" charset="-120"/>
              </a:rPr>
              <a:t>033/048</a:t>
            </a:r>
            <a:endParaRPr lang="en-US" sz="900" dirty="0"/>
          </a:p>
        </p:txBody>
      </p:sp>
      <p:sp>
        <p:nvSpPr>
          <p:cNvPr id="28" name="Shape 23"/>
          <p:cNvSpPr/>
          <p:nvPr/>
        </p:nvSpPr>
        <p:spPr>
          <a:xfrm>
            <a:off x="4696816" y="5148072"/>
            <a:ext cx="969264" cy="256032"/>
          </a:xfrm>
          <a:prstGeom prst="roundRect">
            <a:avLst>
              <a:gd name="adj" fmla="val 178571"/>
            </a:avLst>
          </a:prstGeom>
          <a:solidFill>
            <a:srgbClr val="B0B6C3"/>
          </a:solidFill>
          <a:ln w="12700">
            <a:solidFill>
              <a:srgbClr val="333333"/>
            </a:solidFill>
            <a:prstDash val="solid"/>
          </a:ln>
        </p:spPr>
      </p:sp>
      <p:sp>
        <p:nvSpPr>
          <p:cNvPr id="29" name="Text 24"/>
          <p:cNvSpPr/>
          <p:nvPr/>
        </p:nvSpPr>
        <p:spPr>
          <a:xfrm>
            <a:off x="4696816" y="5148072"/>
            <a:ext cx="969264" cy="256032"/>
          </a:xfrm>
          <a:prstGeom prst="rect">
            <a:avLst/>
          </a:prstGeom>
          <a:noFill/>
          <a:ln/>
        </p:spPr>
        <p:txBody>
          <a:bodyPr wrap="square" rtlCol="0" anchor="ctr"/>
          <a:lstStyle/>
          <a:p>
            <a:pPr algn="ctr" indent="0" marL="0">
              <a:buNone/>
            </a:pPr>
            <a:r>
              <a:rPr lang="en-US" sz="950" b="1" dirty="0">
                <a:solidFill>
                  <a:srgbClr val="55606F"/>
                </a:solidFill>
                <a:latin typeface="Arial" pitchFamily="34" charset="0"/>
                <a:ea typeface="Arial" pitchFamily="34" charset="-122"/>
                <a:cs typeface="Arial" pitchFamily="34" charset="-120"/>
              </a:rPr>
              <a:t>COMMON</a:t>
            </a:r>
            <a:endParaRPr lang="en-US" sz="950" dirty="0"/>
          </a:p>
        </p:txBody>
      </p:sp>
      <p:sp>
        <p:nvSpPr>
          <p:cNvPr id="30" name="Shape 25"/>
          <p:cNvSpPr/>
          <p:nvPr/>
        </p:nvSpPr>
        <p:spPr>
          <a:xfrm>
            <a:off x="6169000" y="3035808"/>
            <a:ext cx="1682496" cy="2487168"/>
          </a:xfrm>
          <a:prstGeom prst="roundRect">
            <a:avLst>
              <a:gd name="adj" fmla="val 7609"/>
            </a:avLst>
          </a:prstGeom>
          <a:solidFill>
            <a:srgbClr val="FFFFFF"/>
          </a:solidFill>
          <a:ln w="12700">
            <a:solidFill>
              <a:srgbClr val="E7DEE8"/>
            </a:solidFill>
            <a:prstDash val="solid"/>
          </a:ln>
        </p:spPr>
      </p:sp>
      <p:sp>
        <p:nvSpPr>
          <p:cNvPr id="31" name="Shape 26"/>
          <p:cNvSpPr/>
          <p:nvPr/>
        </p:nvSpPr>
        <p:spPr>
          <a:xfrm>
            <a:off x="6391382" y="3166750"/>
            <a:ext cx="1237732" cy="1237732"/>
          </a:xfrm>
          <a:prstGeom prst="ellipse">
            <a:avLst/>
          </a:prstGeom>
          <a:solidFill>
            <a:srgbClr val="FFF6E3"/>
          </a:solidFill>
          <a:ln w="12700">
            <a:solidFill>
              <a:srgbClr val="333333"/>
            </a:solidFill>
            <a:prstDash val="solid"/>
          </a:ln>
        </p:spPr>
      </p:sp>
      <p:pic>
        <p:nvPicPr>
          <p:cNvPr id="32" name="Image 3" descr="D:\squishy-smash\docs\marketing\squishy_smash_deck_package\assets\staged\model_celestial_dumpling_core.png">    </p:cNvPr>
          <p:cNvPicPr>
            <a:picLocks noChangeAspect="1"/>
          </p:cNvPicPr>
          <p:nvPr/>
        </p:nvPicPr>
        <p:blipFill>
          <a:blip r:embed="rId4"/>
          <a:stretch>
            <a:fillRect/>
          </a:stretch>
        </p:blipFill>
        <p:spPr>
          <a:xfrm>
            <a:off x="6430884" y="3206252"/>
            <a:ext cx="1158728" cy="1158728"/>
          </a:xfrm>
          <a:prstGeom prst="rect">
            <a:avLst/>
          </a:prstGeom>
        </p:spPr>
      </p:pic>
      <p:sp>
        <p:nvSpPr>
          <p:cNvPr id="33" name="Text 27"/>
          <p:cNvSpPr/>
          <p:nvPr/>
        </p:nvSpPr>
        <p:spPr>
          <a:xfrm>
            <a:off x="6223864" y="4480560"/>
            <a:ext cx="1572768" cy="475488"/>
          </a:xfrm>
          <a:prstGeom prst="rect">
            <a:avLst/>
          </a:prstGeom>
          <a:noFill/>
          <a:ln/>
        </p:spPr>
        <p:txBody>
          <a:bodyPr wrap="square" rtlCol="0" anchor="t"/>
          <a:lstStyle/>
          <a:p>
            <a:pPr algn="ctr" indent="0" marL="0">
              <a:buNone/>
            </a:pPr>
            <a:r>
              <a:rPr lang="en-US" sz="1050" b="1" dirty="0">
                <a:solidFill>
                  <a:srgbClr val="120B17"/>
                </a:solidFill>
                <a:latin typeface="Trebuchet MS" pitchFamily="34" charset="0"/>
                <a:ea typeface="Trebuchet MS" pitchFamily="34" charset="-122"/>
                <a:cs typeface="Trebuchet MS" pitchFamily="34" charset="-120"/>
              </a:rPr>
              <a:t>Celestial Dumpling Core</a:t>
            </a:r>
            <a:endParaRPr lang="en-US" sz="1050" dirty="0"/>
          </a:p>
        </p:txBody>
      </p:sp>
      <p:sp>
        <p:nvSpPr>
          <p:cNvPr id="34" name="Text 28"/>
          <p:cNvSpPr/>
          <p:nvPr/>
        </p:nvSpPr>
        <p:spPr>
          <a:xfrm>
            <a:off x="6223864" y="4919472"/>
            <a:ext cx="1572768" cy="201168"/>
          </a:xfrm>
          <a:prstGeom prst="rect">
            <a:avLst/>
          </a:prstGeom>
          <a:noFill/>
          <a:ln/>
        </p:spPr>
        <p:txBody>
          <a:bodyPr wrap="square" rtlCol="0" anchor="ctr"/>
          <a:lstStyle/>
          <a:p>
            <a:pPr algn="ctr" indent="0" marL="0">
              <a:buNone/>
            </a:pPr>
            <a:r>
              <a:rPr lang="en-US" sz="900" dirty="0">
                <a:solidFill>
                  <a:srgbClr val="8B7F92"/>
                </a:solidFill>
                <a:latin typeface="Arial" pitchFamily="34" charset="0"/>
                <a:ea typeface="Arial" pitchFamily="34" charset="-122"/>
                <a:cs typeface="Arial" pitchFamily="34" charset="-120"/>
              </a:rPr>
              <a:t>016/048</a:t>
            </a:r>
            <a:endParaRPr lang="en-US" sz="900" dirty="0"/>
          </a:p>
        </p:txBody>
      </p:sp>
      <p:sp>
        <p:nvSpPr>
          <p:cNvPr id="35" name="Shape 29"/>
          <p:cNvSpPr/>
          <p:nvPr/>
        </p:nvSpPr>
        <p:spPr>
          <a:xfrm>
            <a:off x="6525616" y="5148072"/>
            <a:ext cx="969264" cy="256032"/>
          </a:xfrm>
          <a:prstGeom prst="roundRect">
            <a:avLst>
              <a:gd name="adj" fmla="val 178571"/>
            </a:avLst>
          </a:prstGeom>
          <a:solidFill>
            <a:srgbClr val="FFD36E"/>
          </a:solidFill>
          <a:ln w="12700">
            <a:solidFill>
              <a:srgbClr val="333333"/>
            </a:solidFill>
            <a:prstDash val="solid"/>
          </a:ln>
        </p:spPr>
      </p:sp>
      <p:sp>
        <p:nvSpPr>
          <p:cNvPr id="36" name="Text 30"/>
          <p:cNvSpPr/>
          <p:nvPr/>
        </p:nvSpPr>
        <p:spPr>
          <a:xfrm>
            <a:off x="6525616" y="5148072"/>
            <a:ext cx="969264" cy="256032"/>
          </a:xfrm>
          <a:prstGeom prst="rect">
            <a:avLst/>
          </a:prstGeom>
          <a:noFill/>
          <a:ln/>
        </p:spPr>
        <p:txBody>
          <a:bodyPr wrap="square" rtlCol="0" anchor="ctr"/>
          <a:lstStyle/>
          <a:p>
            <a:pPr algn="ctr" indent="0" marL="0">
              <a:buNone/>
            </a:pPr>
            <a:r>
              <a:rPr lang="en-US" sz="950" b="1" dirty="0">
                <a:solidFill>
                  <a:srgbClr val="A8761B"/>
                </a:solidFill>
                <a:latin typeface="Arial" pitchFamily="34" charset="0"/>
                <a:ea typeface="Arial" pitchFamily="34" charset="-122"/>
                <a:cs typeface="Arial" pitchFamily="34" charset="-120"/>
              </a:rPr>
              <a:t>LEGENDARY</a:t>
            </a:r>
            <a:endParaRPr lang="en-US" sz="950" dirty="0"/>
          </a:p>
        </p:txBody>
      </p:sp>
      <p:sp>
        <p:nvSpPr>
          <p:cNvPr id="37" name="Shape 31"/>
          <p:cNvSpPr/>
          <p:nvPr/>
        </p:nvSpPr>
        <p:spPr>
          <a:xfrm>
            <a:off x="7997800" y="3035808"/>
            <a:ext cx="1682496" cy="2487168"/>
          </a:xfrm>
          <a:prstGeom prst="roundRect">
            <a:avLst>
              <a:gd name="adj" fmla="val 7609"/>
            </a:avLst>
          </a:prstGeom>
          <a:solidFill>
            <a:srgbClr val="FFFFFF"/>
          </a:solidFill>
          <a:ln w="12700">
            <a:solidFill>
              <a:srgbClr val="E7DEE8"/>
            </a:solidFill>
            <a:prstDash val="solid"/>
          </a:ln>
        </p:spPr>
      </p:sp>
      <p:sp>
        <p:nvSpPr>
          <p:cNvPr id="38" name="Shape 32"/>
          <p:cNvSpPr/>
          <p:nvPr/>
        </p:nvSpPr>
        <p:spPr>
          <a:xfrm>
            <a:off x="8220182" y="3166750"/>
            <a:ext cx="1237732" cy="1237732"/>
          </a:xfrm>
          <a:prstGeom prst="ellipse">
            <a:avLst/>
          </a:prstGeom>
          <a:solidFill>
            <a:srgbClr val="FFF6E3"/>
          </a:solidFill>
          <a:ln w="12700">
            <a:solidFill>
              <a:srgbClr val="333333"/>
            </a:solidFill>
            <a:prstDash val="solid"/>
          </a:ln>
        </p:spPr>
      </p:sp>
      <p:pic>
        <p:nvPicPr>
          <p:cNvPr id="39" name="Image 4" descr="D:\squishy-smash\docs\marketing\squishy_smash_deck_package\assets\staged\model_singularity_goo_core.png">    </p:cNvPr>
          <p:cNvPicPr>
            <a:picLocks noChangeAspect="1"/>
          </p:cNvPicPr>
          <p:nvPr/>
        </p:nvPicPr>
        <p:blipFill>
          <a:blip r:embed="rId5"/>
          <a:stretch>
            <a:fillRect/>
          </a:stretch>
        </p:blipFill>
        <p:spPr>
          <a:xfrm>
            <a:off x="8259684" y="3206252"/>
            <a:ext cx="1158728" cy="1158728"/>
          </a:xfrm>
          <a:prstGeom prst="rect">
            <a:avLst/>
          </a:prstGeom>
        </p:spPr>
      </p:pic>
      <p:sp>
        <p:nvSpPr>
          <p:cNvPr id="40" name="Text 33"/>
          <p:cNvSpPr/>
          <p:nvPr/>
        </p:nvSpPr>
        <p:spPr>
          <a:xfrm>
            <a:off x="8052664" y="4480560"/>
            <a:ext cx="1572768" cy="475488"/>
          </a:xfrm>
          <a:prstGeom prst="rect">
            <a:avLst/>
          </a:prstGeom>
          <a:noFill/>
          <a:ln/>
        </p:spPr>
        <p:txBody>
          <a:bodyPr wrap="square" rtlCol="0" anchor="t"/>
          <a:lstStyle/>
          <a:p>
            <a:pPr algn="ctr" indent="0" marL="0">
              <a:buNone/>
            </a:pPr>
            <a:r>
              <a:rPr lang="en-US" sz="1050" b="1" dirty="0">
                <a:solidFill>
                  <a:srgbClr val="120B17"/>
                </a:solidFill>
                <a:latin typeface="Trebuchet MS" pitchFamily="34" charset="0"/>
                <a:ea typeface="Trebuchet MS" pitchFamily="34" charset="-122"/>
                <a:cs typeface="Trebuchet MS" pitchFamily="34" charset="-120"/>
              </a:rPr>
              <a:t>Singularity Goo Core</a:t>
            </a:r>
            <a:endParaRPr lang="en-US" sz="1050" dirty="0"/>
          </a:p>
        </p:txBody>
      </p:sp>
      <p:sp>
        <p:nvSpPr>
          <p:cNvPr id="41" name="Text 34"/>
          <p:cNvSpPr/>
          <p:nvPr/>
        </p:nvSpPr>
        <p:spPr>
          <a:xfrm>
            <a:off x="8052664" y="4919472"/>
            <a:ext cx="1572768" cy="201168"/>
          </a:xfrm>
          <a:prstGeom prst="rect">
            <a:avLst/>
          </a:prstGeom>
          <a:noFill/>
          <a:ln/>
        </p:spPr>
        <p:txBody>
          <a:bodyPr wrap="square" rtlCol="0" anchor="ctr"/>
          <a:lstStyle/>
          <a:p>
            <a:pPr algn="ctr" indent="0" marL="0">
              <a:buNone/>
            </a:pPr>
            <a:r>
              <a:rPr lang="en-US" sz="900" dirty="0">
                <a:solidFill>
                  <a:srgbClr val="8B7F92"/>
                </a:solidFill>
                <a:latin typeface="Arial" pitchFamily="34" charset="0"/>
                <a:ea typeface="Arial" pitchFamily="34" charset="-122"/>
                <a:cs typeface="Arial" pitchFamily="34" charset="-120"/>
              </a:rPr>
              <a:t>032/048</a:t>
            </a:r>
            <a:endParaRPr lang="en-US" sz="900" dirty="0"/>
          </a:p>
        </p:txBody>
      </p:sp>
      <p:sp>
        <p:nvSpPr>
          <p:cNvPr id="42" name="Shape 35"/>
          <p:cNvSpPr/>
          <p:nvPr/>
        </p:nvSpPr>
        <p:spPr>
          <a:xfrm>
            <a:off x="8354416" y="5148072"/>
            <a:ext cx="969264" cy="256032"/>
          </a:xfrm>
          <a:prstGeom prst="roundRect">
            <a:avLst>
              <a:gd name="adj" fmla="val 178571"/>
            </a:avLst>
          </a:prstGeom>
          <a:solidFill>
            <a:srgbClr val="FFD36E"/>
          </a:solidFill>
          <a:ln w="12700">
            <a:solidFill>
              <a:srgbClr val="333333"/>
            </a:solidFill>
            <a:prstDash val="solid"/>
          </a:ln>
        </p:spPr>
      </p:sp>
      <p:sp>
        <p:nvSpPr>
          <p:cNvPr id="43" name="Text 36"/>
          <p:cNvSpPr/>
          <p:nvPr/>
        </p:nvSpPr>
        <p:spPr>
          <a:xfrm>
            <a:off x="8354416" y="5148072"/>
            <a:ext cx="969264" cy="256032"/>
          </a:xfrm>
          <a:prstGeom prst="rect">
            <a:avLst/>
          </a:prstGeom>
          <a:noFill/>
          <a:ln/>
        </p:spPr>
        <p:txBody>
          <a:bodyPr wrap="square" rtlCol="0" anchor="ctr"/>
          <a:lstStyle/>
          <a:p>
            <a:pPr algn="ctr" indent="0" marL="0">
              <a:buNone/>
            </a:pPr>
            <a:r>
              <a:rPr lang="en-US" sz="950" b="1" dirty="0">
                <a:solidFill>
                  <a:srgbClr val="A8761B"/>
                </a:solidFill>
                <a:latin typeface="Arial" pitchFamily="34" charset="0"/>
                <a:ea typeface="Arial" pitchFamily="34" charset="-122"/>
                <a:cs typeface="Arial" pitchFamily="34" charset="-120"/>
              </a:rPr>
              <a:t>LEGENDARY</a:t>
            </a:r>
            <a:endParaRPr lang="en-US" sz="950" dirty="0"/>
          </a:p>
        </p:txBody>
      </p:sp>
      <p:sp>
        <p:nvSpPr>
          <p:cNvPr id="44" name="Shape 37"/>
          <p:cNvSpPr/>
          <p:nvPr/>
        </p:nvSpPr>
        <p:spPr>
          <a:xfrm>
            <a:off x="9826600" y="3035808"/>
            <a:ext cx="1682496" cy="2487168"/>
          </a:xfrm>
          <a:prstGeom prst="roundRect">
            <a:avLst>
              <a:gd name="adj" fmla="val 7609"/>
            </a:avLst>
          </a:prstGeom>
          <a:solidFill>
            <a:srgbClr val="FFFFFF"/>
          </a:solidFill>
          <a:ln w="12700">
            <a:solidFill>
              <a:srgbClr val="E7DEE8"/>
            </a:solidFill>
            <a:prstDash val="solid"/>
          </a:ln>
        </p:spPr>
      </p:sp>
      <p:sp>
        <p:nvSpPr>
          <p:cNvPr id="45" name="Shape 38"/>
          <p:cNvSpPr/>
          <p:nvPr/>
        </p:nvSpPr>
        <p:spPr>
          <a:xfrm>
            <a:off x="10048982" y="3166750"/>
            <a:ext cx="1237732" cy="1237732"/>
          </a:xfrm>
          <a:prstGeom prst="ellipse">
            <a:avLst/>
          </a:prstGeom>
          <a:solidFill>
            <a:srgbClr val="FFF6E3"/>
          </a:solidFill>
          <a:ln w="12700">
            <a:solidFill>
              <a:srgbClr val="333333"/>
            </a:solidFill>
            <a:prstDash val="solid"/>
          </a:ln>
        </p:spPr>
      </p:sp>
      <p:pic>
        <p:nvPicPr>
          <p:cNvPr id="46" name="Image 5" descr="D:\squishy-smash\docs\marketing\squishy_smash_deck_package\assets\staged\model_mythic_plush_familiar.png">    </p:cNvPr>
          <p:cNvPicPr>
            <a:picLocks noChangeAspect="1"/>
          </p:cNvPicPr>
          <p:nvPr/>
        </p:nvPicPr>
        <p:blipFill>
          <a:blip r:embed="rId6"/>
          <a:stretch>
            <a:fillRect/>
          </a:stretch>
        </p:blipFill>
        <p:spPr>
          <a:xfrm>
            <a:off x="10088484" y="3206252"/>
            <a:ext cx="1158728" cy="1158728"/>
          </a:xfrm>
          <a:prstGeom prst="rect">
            <a:avLst/>
          </a:prstGeom>
        </p:spPr>
      </p:pic>
      <p:sp>
        <p:nvSpPr>
          <p:cNvPr id="47" name="Text 39"/>
          <p:cNvSpPr/>
          <p:nvPr/>
        </p:nvSpPr>
        <p:spPr>
          <a:xfrm>
            <a:off x="9881464" y="4480560"/>
            <a:ext cx="1572768" cy="475488"/>
          </a:xfrm>
          <a:prstGeom prst="rect">
            <a:avLst/>
          </a:prstGeom>
          <a:noFill/>
          <a:ln/>
        </p:spPr>
        <p:txBody>
          <a:bodyPr wrap="square" rtlCol="0" anchor="t"/>
          <a:lstStyle/>
          <a:p>
            <a:pPr algn="ctr" indent="0" marL="0">
              <a:buNone/>
            </a:pPr>
            <a:r>
              <a:rPr lang="en-US" sz="1050" b="1" dirty="0">
                <a:solidFill>
                  <a:srgbClr val="120B17"/>
                </a:solidFill>
                <a:latin typeface="Trebuchet MS" pitchFamily="34" charset="0"/>
                <a:ea typeface="Trebuchet MS" pitchFamily="34" charset="-122"/>
                <a:cs typeface="Trebuchet MS" pitchFamily="34" charset="-120"/>
              </a:rPr>
              <a:t>Mythic Plush Familiar</a:t>
            </a:r>
            <a:endParaRPr lang="en-US" sz="1050" dirty="0"/>
          </a:p>
        </p:txBody>
      </p:sp>
      <p:sp>
        <p:nvSpPr>
          <p:cNvPr id="48" name="Text 40"/>
          <p:cNvSpPr/>
          <p:nvPr/>
        </p:nvSpPr>
        <p:spPr>
          <a:xfrm>
            <a:off x="9881464" y="4919472"/>
            <a:ext cx="1572768" cy="201168"/>
          </a:xfrm>
          <a:prstGeom prst="rect">
            <a:avLst/>
          </a:prstGeom>
          <a:noFill/>
          <a:ln/>
        </p:spPr>
        <p:txBody>
          <a:bodyPr wrap="square" rtlCol="0" anchor="ctr"/>
          <a:lstStyle/>
          <a:p>
            <a:pPr algn="ctr" indent="0" marL="0">
              <a:buNone/>
            </a:pPr>
            <a:r>
              <a:rPr lang="en-US" sz="900" dirty="0">
                <a:solidFill>
                  <a:srgbClr val="8B7F92"/>
                </a:solidFill>
                <a:latin typeface="Arial" pitchFamily="34" charset="0"/>
                <a:ea typeface="Arial" pitchFamily="34" charset="-122"/>
                <a:cs typeface="Arial" pitchFamily="34" charset="-120"/>
              </a:rPr>
              <a:t>048/048</a:t>
            </a:r>
            <a:endParaRPr lang="en-US" sz="900" dirty="0"/>
          </a:p>
        </p:txBody>
      </p:sp>
      <p:sp>
        <p:nvSpPr>
          <p:cNvPr id="49" name="Shape 41"/>
          <p:cNvSpPr/>
          <p:nvPr/>
        </p:nvSpPr>
        <p:spPr>
          <a:xfrm>
            <a:off x="10183216" y="5148072"/>
            <a:ext cx="969264" cy="256032"/>
          </a:xfrm>
          <a:prstGeom prst="roundRect">
            <a:avLst>
              <a:gd name="adj" fmla="val 178571"/>
            </a:avLst>
          </a:prstGeom>
          <a:solidFill>
            <a:srgbClr val="FFD36E"/>
          </a:solidFill>
          <a:ln w="12700">
            <a:solidFill>
              <a:srgbClr val="333333"/>
            </a:solidFill>
            <a:prstDash val="solid"/>
          </a:ln>
        </p:spPr>
      </p:sp>
      <p:sp>
        <p:nvSpPr>
          <p:cNvPr id="50" name="Text 42"/>
          <p:cNvSpPr/>
          <p:nvPr/>
        </p:nvSpPr>
        <p:spPr>
          <a:xfrm>
            <a:off x="10183216" y="5148072"/>
            <a:ext cx="969264" cy="256032"/>
          </a:xfrm>
          <a:prstGeom prst="rect">
            <a:avLst/>
          </a:prstGeom>
          <a:noFill/>
          <a:ln/>
        </p:spPr>
        <p:txBody>
          <a:bodyPr wrap="square" rtlCol="0" anchor="ctr"/>
          <a:lstStyle/>
          <a:p>
            <a:pPr algn="ctr" indent="0" marL="0">
              <a:buNone/>
            </a:pPr>
            <a:r>
              <a:rPr lang="en-US" sz="950" b="1" dirty="0">
                <a:solidFill>
                  <a:srgbClr val="A8761B"/>
                </a:solidFill>
                <a:latin typeface="Arial" pitchFamily="34" charset="0"/>
                <a:ea typeface="Arial" pitchFamily="34" charset="-122"/>
                <a:cs typeface="Arial" pitchFamily="34" charset="-120"/>
              </a:rPr>
              <a:t>LEGENDARY</a:t>
            </a:r>
            <a:endParaRPr lang="en-US" sz="950" dirty="0"/>
          </a:p>
        </p:txBody>
      </p:sp>
      <p:sp>
        <p:nvSpPr>
          <p:cNvPr id="51" name="Text 43"/>
          <p:cNvSpPr/>
          <p:nvPr/>
        </p:nvSpPr>
        <p:spPr>
          <a:xfrm>
            <a:off x="658368" y="5724144"/>
            <a:ext cx="2084832" cy="36576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  Lower tooling investment</a:t>
            </a:r>
            <a:endParaRPr lang="en-US" sz="1000" dirty="0"/>
          </a:p>
        </p:txBody>
      </p:sp>
      <p:sp>
        <p:nvSpPr>
          <p:cNvPr id="52" name="Text 44"/>
          <p:cNvSpPr/>
          <p:nvPr/>
        </p:nvSpPr>
        <p:spPr>
          <a:xfrm>
            <a:off x="2834640" y="5724144"/>
            <a:ext cx="2084832" cy="36576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  Faster testing</a:t>
            </a:r>
            <a:endParaRPr lang="en-US" sz="1000" dirty="0"/>
          </a:p>
        </p:txBody>
      </p:sp>
      <p:sp>
        <p:nvSpPr>
          <p:cNvPr id="53" name="Text 45"/>
          <p:cNvSpPr/>
          <p:nvPr/>
        </p:nvSpPr>
        <p:spPr>
          <a:xfrm>
            <a:off x="5010912" y="5724144"/>
            <a:ext cx="2084832" cy="36576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  Clearer customer feedback</a:t>
            </a:r>
            <a:endParaRPr lang="en-US" sz="1000" dirty="0"/>
          </a:p>
        </p:txBody>
      </p:sp>
      <p:sp>
        <p:nvSpPr>
          <p:cNvPr id="54" name="Text 46"/>
          <p:cNvSpPr/>
          <p:nvPr/>
        </p:nvSpPr>
        <p:spPr>
          <a:xfrm>
            <a:off x="7187184" y="5724144"/>
            <a:ext cx="2084832" cy="36576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  Easier quality control</a:t>
            </a:r>
            <a:endParaRPr lang="en-US" sz="1000" dirty="0"/>
          </a:p>
        </p:txBody>
      </p:sp>
      <p:sp>
        <p:nvSpPr>
          <p:cNvPr id="55" name="Text 47"/>
          <p:cNvSpPr/>
          <p:nvPr/>
        </p:nvSpPr>
        <p:spPr>
          <a:xfrm>
            <a:off x="9363456" y="5724144"/>
            <a:ext cx="2084832" cy="36576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  Builds anticipation for later series</a:t>
            </a:r>
            <a:endParaRPr lang="en-US" sz="1000" dirty="0"/>
          </a:p>
        </p:txBody>
      </p:sp>
      <p:sp>
        <p:nvSpPr>
          <p:cNvPr id="56" name="Text 48"/>
          <p:cNvSpPr/>
          <p:nvPr/>
        </p:nvSpPr>
        <p:spPr>
          <a:xfrm>
            <a:off x="658368" y="6053328"/>
            <a:ext cx="10881360" cy="384048"/>
          </a:xfrm>
          <a:prstGeom prst="rect">
            <a:avLst/>
          </a:prstGeom>
          <a:noFill/>
          <a:ln/>
        </p:spPr>
        <p:txBody>
          <a:bodyPr wrap="square" rtlCol="0" anchor="t"/>
          <a:lstStyle/>
          <a:p>
            <a:pPr indent="0" marL="0">
              <a:buNone/>
            </a:pPr>
            <a:r>
              <a:rPr lang="en-US" sz="1050" i="1" dirty="0">
                <a:solidFill>
                  <a:srgbClr val="7C6E86"/>
                </a:solidFill>
                <a:latin typeface="Arial" pitchFamily="34" charset="0"/>
                <a:ea typeface="Arial" pitchFamily="34" charset="-122"/>
                <a:cs typeface="Arial" pitchFamily="34" charset="-120"/>
              </a:rPr>
              <a:t>Proposed selections. Final lineup to be confirmed with the manufacturing partner.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7</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17788F"/>
                </a:solidFill>
                <a:latin typeface="Arial" pitchFamily="34" charset="0"/>
                <a:ea typeface="Arial" pitchFamily="34" charset="-122"/>
                <a:cs typeface="Arial" pitchFamily="34" charset="-120"/>
              </a:rPr>
              <a:t>COLLECTIBILITY</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Designed to Encourage Repeat Discovery</a:t>
            </a:r>
            <a:endParaRPr lang="en-US" sz="3000" dirty="0"/>
          </a:p>
        </p:txBody>
      </p:sp>
      <p:sp>
        <p:nvSpPr>
          <p:cNvPr id="6" name="Shape 4"/>
          <p:cNvSpPr/>
          <p:nvPr/>
        </p:nvSpPr>
        <p:spPr>
          <a:xfrm>
            <a:off x="658368" y="1737360"/>
            <a:ext cx="786384" cy="50292"/>
          </a:xfrm>
          <a:prstGeom prst="rect">
            <a:avLst/>
          </a:prstGeom>
          <a:solidFill>
            <a:srgbClr val="17788F"/>
          </a:solidFill>
          <a:ln w="12700">
            <a:solidFill>
              <a:srgbClr val="333333"/>
            </a:solidFill>
            <a:prstDash val="solid"/>
          </a:ln>
        </p:spPr>
      </p:sp>
      <p:sp>
        <p:nvSpPr>
          <p:cNvPr id="7" name="Shape 5"/>
          <p:cNvSpPr/>
          <p:nvPr/>
        </p:nvSpPr>
        <p:spPr>
          <a:xfrm>
            <a:off x="658368" y="2084832"/>
            <a:ext cx="5175504" cy="3246120"/>
          </a:xfrm>
          <a:prstGeom prst="roundRect">
            <a:avLst>
              <a:gd name="adj" fmla="val 3944"/>
            </a:avLst>
          </a:prstGeom>
          <a:solidFill>
            <a:srgbClr val="FFF8F3"/>
          </a:solidFill>
          <a:ln w="12700">
            <a:solidFill>
              <a:srgbClr val="E7DEE8"/>
            </a:solidFill>
            <a:prstDash val="solid"/>
          </a:ln>
        </p:spPr>
      </p:sp>
      <p:sp>
        <p:nvSpPr>
          <p:cNvPr id="8" name="Text 6"/>
          <p:cNvSpPr/>
          <p:nvPr/>
        </p:nvSpPr>
        <p:spPr>
          <a:xfrm>
            <a:off x="969264" y="2340864"/>
            <a:ext cx="4572000" cy="329184"/>
          </a:xfrm>
          <a:prstGeom prst="rect">
            <a:avLst/>
          </a:prstGeom>
          <a:noFill/>
          <a:ln/>
        </p:spPr>
        <p:txBody>
          <a:bodyPr wrap="square" rtlCol="0" anchor="ctr"/>
          <a:lstStyle/>
          <a:p>
            <a:pPr indent="0" marL="0">
              <a:buNone/>
            </a:pPr>
            <a:r>
              <a:rPr lang="en-US" sz="1500" b="1" dirty="0">
                <a:solidFill>
                  <a:srgbClr val="6E37B0"/>
                </a:solidFill>
                <a:latin typeface="Trebuchet MS" pitchFamily="34" charset="0"/>
                <a:ea typeface="Trebuchet MS" pitchFamily="34" charset="-122"/>
                <a:cs typeface="Trebuchet MS" pitchFamily="34" charset="-120"/>
              </a:rPr>
              <a:t>Built-in collectible structure</a:t>
            </a:r>
            <a:endParaRPr lang="en-US" sz="1500" dirty="0"/>
          </a:p>
        </p:txBody>
      </p:sp>
      <p:sp>
        <p:nvSpPr>
          <p:cNvPr id="9" name="Shape 7"/>
          <p:cNvSpPr/>
          <p:nvPr/>
        </p:nvSpPr>
        <p:spPr>
          <a:xfrm>
            <a:off x="969264" y="2932938"/>
            <a:ext cx="91440" cy="91440"/>
          </a:xfrm>
          <a:prstGeom prst="ellipse">
            <a:avLst/>
          </a:prstGeom>
          <a:solidFill>
            <a:srgbClr val="6E37B0"/>
          </a:solidFill>
          <a:ln w="12700">
            <a:solidFill>
              <a:srgbClr val="333333"/>
            </a:solidFill>
            <a:prstDash val="solid"/>
          </a:ln>
        </p:spPr>
      </p:sp>
      <p:sp>
        <p:nvSpPr>
          <p:cNvPr id="10" name="Text 8"/>
          <p:cNvSpPr/>
          <p:nvPr/>
        </p:nvSpPr>
        <p:spPr>
          <a:xfrm>
            <a:off x="1170432" y="2834640"/>
            <a:ext cx="437083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Four rarity tiers per character</a:t>
            </a:r>
            <a:endParaRPr lang="en-US" sz="1250" dirty="0"/>
          </a:p>
        </p:txBody>
      </p:sp>
      <p:sp>
        <p:nvSpPr>
          <p:cNvPr id="11" name="Shape 9"/>
          <p:cNvSpPr/>
          <p:nvPr/>
        </p:nvSpPr>
        <p:spPr>
          <a:xfrm>
            <a:off x="969264" y="3353562"/>
            <a:ext cx="91440" cy="91440"/>
          </a:xfrm>
          <a:prstGeom prst="ellipse">
            <a:avLst/>
          </a:prstGeom>
          <a:solidFill>
            <a:srgbClr val="6E37B0"/>
          </a:solidFill>
          <a:ln w="12700">
            <a:solidFill>
              <a:srgbClr val="333333"/>
            </a:solidFill>
            <a:prstDash val="solid"/>
          </a:ln>
        </p:spPr>
      </p:sp>
      <p:sp>
        <p:nvSpPr>
          <p:cNvPr id="12" name="Text 10"/>
          <p:cNvSpPr/>
          <p:nvPr/>
        </p:nvSpPr>
        <p:spPr>
          <a:xfrm>
            <a:off x="1170432" y="3255264"/>
            <a:ext cx="437083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Numbered series (001/048 – 048/048)</a:t>
            </a:r>
            <a:endParaRPr lang="en-US" sz="1250" dirty="0"/>
          </a:p>
        </p:txBody>
      </p:sp>
      <p:sp>
        <p:nvSpPr>
          <p:cNvPr id="13" name="Shape 11"/>
          <p:cNvSpPr/>
          <p:nvPr/>
        </p:nvSpPr>
        <p:spPr>
          <a:xfrm>
            <a:off x="969264" y="3774186"/>
            <a:ext cx="91440" cy="91440"/>
          </a:xfrm>
          <a:prstGeom prst="ellipse">
            <a:avLst/>
          </a:prstGeom>
          <a:solidFill>
            <a:srgbClr val="6E37B0"/>
          </a:solidFill>
          <a:ln w="12700">
            <a:solidFill>
              <a:srgbClr val="333333"/>
            </a:solidFill>
            <a:prstDash val="solid"/>
          </a:ln>
        </p:spPr>
      </p:sp>
      <p:sp>
        <p:nvSpPr>
          <p:cNvPr id="14" name="Text 12"/>
          <p:cNvSpPr/>
          <p:nvPr/>
        </p:nvSpPr>
        <p:spPr>
          <a:xfrm>
            <a:off x="1170432" y="3675888"/>
            <a:ext cx="437083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A matching collectible card for every character</a:t>
            </a:r>
            <a:endParaRPr lang="en-US" sz="1250" dirty="0"/>
          </a:p>
        </p:txBody>
      </p:sp>
      <p:sp>
        <p:nvSpPr>
          <p:cNvPr id="15" name="Shape 13"/>
          <p:cNvSpPr/>
          <p:nvPr/>
        </p:nvSpPr>
        <p:spPr>
          <a:xfrm>
            <a:off x="969264" y="4194810"/>
            <a:ext cx="91440" cy="91440"/>
          </a:xfrm>
          <a:prstGeom prst="ellipse">
            <a:avLst/>
          </a:prstGeom>
          <a:solidFill>
            <a:srgbClr val="6E37B0"/>
          </a:solidFill>
          <a:ln w="12700">
            <a:solidFill>
              <a:srgbClr val="333333"/>
            </a:solidFill>
            <a:prstDash val="solid"/>
          </a:ln>
        </p:spPr>
      </p:sp>
      <p:sp>
        <p:nvSpPr>
          <p:cNvPr id="16" name="Text 14"/>
          <p:cNvSpPr/>
          <p:nvPr/>
        </p:nvSpPr>
        <p:spPr>
          <a:xfrm>
            <a:off x="1170432" y="4096512"/>
            <a:ext cx="437083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Character profile and story for each</a:t>
            </a:r>
            <a:endParaRPr lang="en-US" sz="1250" dirty="0"/>
          </a:p>
        </p:txBody>
      </p:sp>
      <p:sp>
        <p:nvSpPr>
          <p:cNvPr id="17" name="Shape 15"/>
          <p:cNvSpPr/>
          <p:nvPr/>
        </p:nvSpPr>
        <p:spPr>
          <a:xfrm>
            <a:off x="969264" y="4615434"/>
            <a:ext cx="91440" cy="91440"/>
          </a:xfrm>
          <a:prstGeom prst="ellipse">
            <a:avLst/>
          </a:prstGeom>
          <a:solidFill>
            <a:srgbClr val="6E37B0"/>
          </a:solidFill>
          <a:ln w="12700">
            <a:solidFill>
              <a:srgbClr val="333333"/>
            </a:solidFill>
            <a:prstDash val="solid"/>
          </a:ln>
        </p:spPr>
      </p:sp>
      <p:sp>
        <p:nvSpPr>
          <p:cNvPr id="18" name="Text 16"/>
          <p:cNvSpPr/>
          <p:nvPr/>
        </p:nvSpPr>
        <p:spPr>
          <a:xfrm>
            <a:off x="1170432" y="4517136"/>
            <a:ext cx="437083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Three themed packs</a:t>
            </a:r>
            <a:endParaRPr lang="en-US" sz="1250" dirty="0"/>
          </a:p>
        </p:txBody>
      </p:sp>
      <p:sp>
        <p:nvSpPr>
          <p:cNvPr id="19" name="Shape 17"/>
          <p:cNvSpPr/>
          <p:nvPr/>
        </p:nvSpPr>
        <p:spPr>
          <a:xfrm>
            <a:off x="6355080" y="2084832"/>
            <a:ext cx="5175504" cy="3246120"/>
          </a:xfrm>
          <a:prstGeom prst="roundRect">
            <a:avLst>
              <a:gd name="adj" fmla="val 3944"/>
            </a:avLst>
          </a:prstGeom>
          <a:solidFill>
            <a:srgbClr val="F2FAFD"/>
          </a:solidFill>
          <a:ln w="12700">
            <a:solidFill>
              <a:srgbClr val="E7DEE8"/>
            </a:solidFill>
            <a:prstDash val="solid"/>
          </a:ln>
        </p:spPr>
      </p:sp>
      <p:sp>
        <p:nvSpPr>
          <p:cNvPr id="20" name="Text 18"/>
          <p:cNvSpPr/>
          <p:nvPr/>
        </p:nvSpPr>
        <p:spPr>
          <a:xfrm>
            <a:off x="6665976" y="2340864"/>
            <a:ext cx="4572000" cy="329184"/>
          </a:xfrm>
          <a:prstGeom prst="rect">
            <a:avLst/>
          </a:prstGeom>
          <a:noFill/>
          <a:ln/>
        </p:spPr>
        <p:txBody>
          <a:bodyPr wrap="square" rtlCol="0" anchor="ctr"/>
          <a:lstStyle/>
          <a:p>
            <a:pPr indent="0" marL="0">
              <a:buNone/>
            </a:pPr>
            <a:r>
              <a:rPr lang="en-US" sz="1500" b="1" dirty="0">
                <a:solidFill>
                  <a:srgbClr val="17788F"/>
                </a:solidFill>
                <a:latin typeface="Trebuchet MS" pitchFamily="34" charset="0"/>
                <a:ea typeface="Trebuchet MS" pitchFamily="34" charset="-122"/>
                <a:cs typeface="Trebuchet MS" pitchFamily="34" charset="-120"/>
              </a:rPr>
              <a:t>Potential finishes and variants</a:t>
            </a:r>
            <a:endParaRPr lang="en-US" sz="1500" dirty="0"/>
          </a:p>
        </p:txBody>
      </p:sp>
      <p:sp>
        <p:nvSpPr>
          <p:cNvPr id="21" name="Shape 19"/>
          <p:cNvSpPr/>
          <p:nvPr/>
        </p:nvSpPr>
        <p:spPr>
          <a:xfrm>
            <a:off x="6665976" y="2932938"/>
            <a:ext cx="91440" cy="91440"/>
          </a:xfrm>
          <a:prstGeom prst="ellipse">
            <a:avLst/>
          </a:prstGeom>
          <a:solidFill>
            <a:srgbClr val="17788F"/>
          </a:solidFill>
          <a:ln w="12700">
            <a:solidFill>
              <a:srgbClr val="333333"/>
            </a:solidFill>
            <a:prstDash val="solid"/>
          </a:ln>
        </p:spPr>
      </p:sp>
      <p:sp>
        <p:nvSpPr>
          <p:cNvPr id="22" name="Text 20"/>
          <p:cNvSpPr/>
          <p:nvPr/>
        </p:nvSpPr>
        <p:spPr>
          <a:xfrm>
            <a:off x="6867144" y="2834640"/>
            <a:ext cx="437083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Glow-in-the-dark</a:t>
            </a:r>
            <a:endParaRPr lang="en-US" sz="1250" dirty="0"/>
          </a:p>
        </p:txBody>
      </p:sp>
      <p:sp>
        <p:nvSpPr>
          <p:cNvPr id="23" name="Shape 21"/>
          <p:cNvSpPr/>
          <p:nvPr/>
        </p:nvSpPr>
        <p:spPr>
          <a:xfrm>
            <a:off x="6665976" y="3353562"/>
            <a:ext cx="91440" cy="91440"/>
          </a:xfrm>
          <a:prstGeom prst="ellipse">
            <a:avLst/>
          </a:prstGeom>
          <a:solidFill>
            <a:srgbClr val="17788F"/>
          </a:solidFill>
          <a:ln w="12700">
            <a:solidFill>
              <a:srgbClr val="333333"/>
            </a:solidFill>
            <a:prstDash val="solid"/>
          </a:ln>
        </p:spPr>
      </p:sp>
      <p:sp>
        <p:nvSpPr>
          <p:cNvPr id="24" name="Text 22"/>
          <p:cNvSpPr/>
          <p:nvPr/>
        </p:nvSpPr>
        <p:spPr>
          <a:xfrm>
            <a:off x="6867144" y="3255264"/>
            <a:ext cx="437083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Scented</a:t>
            </a:r>
            <a:endParaRPr lang="en-US" sz="1250" dirty="0"/>
          </a:p>
        </p:txBody>
      </p:sp>
      <p:sp>
        <p:nvSpPr>
          <p:cNvPr id="25" name="Shape 23"/>
          <p:cNvSpPr/>
          <p:nvPr/>
        </p:nvSpPr>
        <p:spPr>
          <a:xfrm>
            <a:off x="6665976" y="3774186"/>
            <a:ext cx="91440" cy="91440"/>
          </a:xfrm>
          <a:prstGeom prst="ellipse">
            <a:avLst/>
          </a:prstGeom>
          <a:solidFill>
            <a:srgbClr val="17788F"/>
          </a:solidFill>
          <a:ln w="12700">
            <a:solidFill>
              <a:srgbClr val="333333"/>
            </a:solidFill>
            <a:prstDash val="solid"/>
          </a:ln>
        </p:spPr>
      </p:sp>
      <p:sp>
        <p:nvSpPr>
          <p:cNvPr id="26" name="Text 24"/>
          <p:cNvSpPr/>
          <p:nvPr/>
        </p:nvSpPr>
        <p:spPr>
          <a:xfrm>
            <a:off x="6867144" y="3675888"/>
            <a:ext cx="437083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Glitter and metallic</a:t>
            </a:r>
            <a:endParaRPr lang="en-US" sz="1250" dirty="0"/>
          </a:p>
        </p:txBody>
      </p:sp>
      <p:sp>
        <p:nvSpPr>
          <p:cNvPr id="27" name="Shape 25"/>
          <p:cNvSpPr/>
          <p:nvPr/>
        </p:nvSpPr>
        <p:spPr>
          <a:xfrm>
            <a:off x="6665976" y="4194810"/>
            <a:ext cx="91440" cy="91440"/>
          </a:xfrm>
          <a:prstGeom prst="ellipse">
            <a:avLst/>
          </a:prstGeom>
          <a:solidFill>
            <a:srgbClr val="17788F"/>
          </a:solidFill>
          <a:ln w="12700">
            <a:solidFill>
              <a:srgbClr val="333333"/>
            </a:solidFill>
            <a:prstDash val="solid"/>
          </a:ln>
        </p:spPr>
      </p:sp>
      <p:sp>
        <p:nvSpPr>
          <p:cNvPr id="28" name="Text 26"/>
          <p:cNvSpPr/>
          <p:nvPr/>
        </p:nvSpPr>
        <p:spPr>
          <a:xfrm>
            <a:off x="6867144" y="4096512"/>
            <a:ext cx="437083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Colour-changing</a:t>
            </a:r>
            <a:endParaRPr lang="en-US" sz="1250" dirty="0"/>
          </a:p>
        </p:txBody>
      </p:sp>
      <p:sp>
        <p:nvSpPr>
          <p:cNvPr id="29" name="Shape 27"/>
          <p:cNvSpPr/>
          <p:nvPr/>
        </p:nvSpPr>
        <p:spPr>
          <a:xfrm>
            <a:off x="6665976" y="4615434"/>
            <a:ext cx="91440" cy="91440"/>
          </a:xfrm>
          <a:prstGeom prst="ellipse">
            <a:avLst/>
          </a:prstGeom>
          <a:solidFill>
            <a:srgbClr val="17788F"/>
          </a:solidFill>
          <a:ln w="12700">
            <a:solidFill>
              <a:srgbClr val="333333"/>
            </a:solidFill>
            <a:prstDash val="solid"/>
          </a:ln>
        </p:spPr>
      </p:sp>
      <p:sp>
        <p:nvSpPr>
          <p:cNvPr id="30" name="Text 28"/>
          <p:cNvSpPr/>
          <p:nvPr/>
        </p:nvSpPr>
        <p:spPr>
          <a:xfrm>
            <a:off x="6867144" y="4517136"/>
            <a:ext cx="437083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Seasonal and holiday editions</a:t>
            </a:r>
            <a:endParaRPr lang="en-US" sz="1250" dirty="0"/>
          </a:p>
        </p:txBody>
      </p:sp>
      <p:sp>
        <p:nvSpPr>
          <p:cNvPr id="31" name="Shape 29"/>
          <p:cNvSpPr/>
          <p:nvPr/>
        </p:nvSpPr>
        <p:spPr>
          <a:xfrm>
            <a:off x="6665976" y="5036058"/>
            <a:ext cx="91440" cy="91440"/>
          </a:xfrm>
          <a:prstGeom prst="ellipse">
            <a:avLst/>
          </a:prstGeom>
          <a:solidFill>
            <a:srgbClr val="17788F"/>
          </a:solidFill>
          <a:ln w="12700">
            <a:solidFill>
              <a:srgbClr val="333333"/>
            </a:solidFill>
            <a:prstDash val="solid"/>
          </a:ln>
        </p:spPr>
      </p:sp>
      <p:sp>
        <p:nvSpPr>
          <p:cNvPr id="32" name="Text 30"/>
          <p:cNvSpPr/>
          <p:nvPr/>
        </p:nvSpPr>
        <p:spPr>
          <a:xfrm>
            <a:off x="6867144" y="4937760"/>
            <a:ext cx="4370832" cy="420624"/>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Chase variants</a:t>
            </a:r>
            <a:endParaRPr lang="en-US" sz="1250" dirty="0"/>
          </a:p>
        </p:txBody>
      </p:sp>
      <p:sp>
        <p:nvSpPr>
          <p:cNvPr id="33" name="Shape 31"/>
          <p:cNvSpPr/>
          <p:nvPr/>
        </p:nvSpPr>
        <p:spPr>
          <a:xfrm>
            <a:off x="658368" y="5541264"/>
            <a:ext cx="10881360" cy="713232"/>
          </a:xfrm>
          <a:prstGeom prst="roundRect">
            <a:avLst>
              <a:gd name="adj" fmla="val 17949"/>
            </a:avLst>
          </a:prstGeom>
          <a:solidFill>
            <a:srgbClr val="FFF0F6"/>
          </a:solidFill>
          <a:ln w="12700">
            <a:solidFill>
              <a:srgbClr val="333333"/>
            </a:solidFill>
            <a:prstDash val="solid"/>
          </a:ln>
        </p:spPr>
      </p:sp>
      <p:sp>
        <p:nvSpPr>
          <p:cNvPr id="34" name="Text 32"/>
          <p:cNvSpPr/>
          <p:nvPr/>
        </p:nvSpPr>
        <p:spPr>
          <a:xfrm>
            <a:off x="969264" y="5541264"/>
            <a:ext cx="10241280" cy="713232"/>
          </a:xfrm>
          <a:prstGeom prst="rect">
            <a:avLst/>
          </a:prstGeom>
          <a:noFill/>
          <a:ln/>
        </p:spPr>
        <p:txBody>
          <a:bodyPr wrap="square" rtlCol="0" anchor="ctr"/>
          <a:lstStyle/>
          <a:p>
            <a:pPr indent="0" marL="0">
              <a:buNone/>
            </a:pPr>
            <a:r>
              <a:rPr lang="en-US" sz="1200" i="1" dirty="0">
                <a:solidFill>
                  <a:srgbClr val="120B17"/>
                </a:solidFill>
                <a:latin typeface="Arial" pitchFamily="34" charset="0"/>
                <a:ea typeface="Arial" pitchFamily="34" charset="-122"/>
                <a:cs typeface="Arial" pitchFamily="34" charset="-120"/>
              </a:rPr>
              <a:t>Every character is individually named and numbered, so collections are transparent — a buyer always knows exactly what they are purchasing.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8</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A8761B"/>
                </a:solidFill>
                <a:latin typeface="Arial" pitchFamily="34" charset="0"/>
                <a:ea typeface="Arial" pitchFamily="34" charset="-122"/>
                <a:cs typeface="Arial" pitchFamily="34" charset="-120"/>
              </a:rPr>
              <a:t>CROSS-PLATFORM CONNECTION</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Every Toy Can Unlock More of the World</a:t>
            </a:r>
            <a:endParaRPr lang="en-US" sz="3000" dirty="0"/>
          </a:p>
        </p:txBody>
      </p:sp>
      <p:sp>
        <p:nvSpPr>
          <p:cNvPr id="6" name="Shape 4"/>
          <p:cNvSpPr/>
          <p:nvPr/>
        </p:nvSpPr>
        <p:spPr>
          <a:xfrm>
            <a:off x="658368" y="1737360"/>
            <a:ext cx="786384" cy="50292"/>
          </a:xfrm>
          <a:prstGeom prst="rect">
            <a:avLst/>
          </a:prstGeom>
          <a:solidFill>
            <a:srgbClr val="A8761B"/>
          </a:solidFill>
          <a:ln w="12700">
            <a:solidFill>
              <a:srgbClr val="333333"/>
            </a:solidFill>
            <a:prstDash val="solid"/>
          </a:ln>
        </p:spPr>
      </p:sp>
      <p:sp>
        <p:nvSpPr>
          <p:cNvPr id="7" name="Text 5"/>
          <p:cNvSpPr/>
          <p:nvPr/>
        </p:nvSpPr>
        <p:spPr>
          <a:xfrm>
            <a:off x="658368" y="2029968"/>
            <a:ext cx="10881360" cy="566928"/>
          </a:xfrm>
          <a:prstGeom prst="rect">
            <a:avLst/>
          </a:prstGeom>
          <a:noFill/>
          <a:ln/>
        </p:spPr>
        <p:txBody>
          <a:bodyPr wrap="square" rtlCol="0" anchor="ctr"/>
          <a:lstStyle/>
          <a:p>
            <a:pPr indent="0" marL="0">
              <a:lnSpc>
                <a:spcPct val="125000"/>
              </a:lnSpc>
              <a:buNone/>
            </a:pPr>
            <a:r>
              <a:rPr lang="en-US" sz="1250" dirty="0">
                <a:solidFill>
                  <a:srgbClr val="4A3F52"/>
                </a:solidFill>
                <a:latin typeface="Arial" pitchFamily="34" charset="0"/>
                <a:ea typeface="Arial" pitchFamily="34" charset="-122"/>
                <a:cs typeface="Arial" pitchFamily="34" charset="-120"/>
              </a:rPr>
              <a:t>The physical product can become a bridge between the books, games and cards. The digital surfaces below are live today; the toy-to-digital connections are planned features, not shipped ones.</a:t>
            </a:r>
            <a:endParaRPr lang="en-US" sz="1250" dirty="0"/>
          </a:p>
        </p:txBody>
      </p:sp>
      <p:sp>
        <p:nvSpPr>
          <p:cNvPr id="8" name="Shape 6"/>
          <p:cNvSpPr/>
          <p:nvPr/>
        </p:nvSpPr>
        <p:spPr>
          <a:xfrm>
            <a:off x="658368" y="2633472"/>
            <a:ext cx="3456432" cy="2743200"/>
          </a:xfrm>
          <a:prstGeom prst="roundRect">
            <a:avLst>
              <a:gd name="adj" fmla="val 4667"/>
            </a:avLst>
          </a:prstGeom>
          <a:solidFill>
            <a:srgbClr val="FFF8F3"/>
          </a:solidFill>
          <a:ln w="12700">
            <a:solidFill>
              <a:srgbClr val="E7DEE8"/>
            </a:solidFill>
            <a:prstDash val="solid"/>
          </a:ln>
        </p:spPr>
      </p:sp>
      <p:pic>
        <p:nvPicPr>
          <p:cNvPr id="9" name="Image 0" descr="D:\squishy-smash\docs\marketing\squishy_smash_deck_package\assets\staged\app_01.jpg">    </p:cNvPr>
          <p:cNvPicPr>
            <a:picLocks noChangeAspect="1"/>
          </p:cNvPicPr>
          <p:nvPr/>
        </p:nvPicPr>
        <p:blipFill>
          <a:blip r:embed="rId1"/>
          <a:stretch>
            <a:fillRect/>
          </a:stretch>
        </p:blipFill>
        <p:spPr>
          <a:xfrm>
            <a:off x="1934737" y="2779776"/>
            <a:ext cx="903693" cy="1956816"/>
          </a:xfrm>
          <a:prstGeom prst="rect">
            <a:avLst/>
          </a:prstGeom>
        </p:spPr>
      </p:pic>
      <p:sp>
        <p:nvSpPr>
          <p:cNvPr id="10" name="Text 7"/>
          <p:cNvSpPr/>
          <p:nvPr/>
        </p:nvSpPr>
        <p:spPr>
          <a:xfrm>
            <a:off x="841248" y="4809744"/>
            <a:ext cx="3090672" cy="256032"/>
          </a:xfrm>
          <a:prstGeom prst="rect">
            <a:avLst/>
          </a:prstGeom>
          <a:noFill/>
          <a:ln/>
        </p:spPr>
        <p:txBody>
          <a:bodyPr wrap="square" rtlCol="0" anchor="ctr"/>
          <a:lstStyle/>
          <a:p>
            <a:pPr algn="ctr" indent="0" marL="0">
              <a:buNone/>
            </a:pPr>
            <a:r>
              <a:rPr lang="en-US" sz="1250" b="1" dirty="0">
                <a:solidFill>
                  <a:srgbClr val="120B17"/>
                </a:solidFill>
                <a:latin typeface="Trebuchet MS" pitchFamily="34" charset="0"/>
                <a:ea typeface="Trebuchet MS" pitchFamily="34" charset="-122"/>
                <a:cs typeface="Trebuchet MS" pitchFamily="34" charset="-120"/>
              </a:rPr>
              <a:t>iOS App</a:t>
            </a:r>
            <a:endParaRPr lang="en-US" sz="1250" dirty="0"/>
          </a:p>
        </p:txBody>
      </p:sp>
      <p:sp>
        <p:nvSpPr>
          <p:cNvPr id="11" name="Text 8"/>
          <p:cNvSpPr/>
          <p:nvPr/>
        </p:nvSpPr>
        <p:spPr>
          <a:xfrm>
            <a:off x="841248" y="5065776"/>
            <a:ext cx="3090672" cy="237744"/>
          </a:xfrm>
          <a:prstGeom prst="rect">
            <a:avLst/>
          </a:prstGeom>
          <a:noFill/>
          <a:ln/>
        </p:spPr>
        <p:txBody>
          <a:bodyPr wrap="square" rtlCol="0" anchor="ctr"/>
          <a:lstStyle/>
          <a:p>
            <a:pPr algn="ctr" indent="0" marL="0">
              <a:buNone/>
            </a:pPr>
            <a:r>
              <a:rPr lang="en-US" sz="950" dirty="0">
                <a:solidFill>
                  <a:srgbClr val="C4306E"/>
                </a:solidFill>
                <a:latin typeface="Arial" pitchFamily="34" charset="0"/>
                <a:ea typeface="Arial" pitchFamily="34" charset="-122"/>
                <a:cs typeface="Arial" pitchFamily="34" charset="-120"/>
              </a:rPr>
              <a:t>Live on the App Store</a:t>
            </a:r>
            <a:endParaRPr lang="en-US" sz="950" dirty="0"/>
          </a:p>
        </p:txBody>
      </p:sp>
      <p:sp>
        <p:nvSpPr>
          <p:cNvPr id="12" name="Shape 9"/>
          <p:cNvSpPr/>
          <p:nvPr/>
        </p:nvSpPr>
        <p:spPr>
          <a:xfrm>
            <a:off x="4370832" y="2633472"/>
            <a:ext cx="3456432" cy="2743200"/>
          </a:xfrm>
          <a:prstGeom prst="roundRect">
            <a:avLst>
              <a:gd name="adj" fmla="val 4667"/>
            </a:avLst>
          </a:prstGeom>
          <a:solidFill>
            <a:srgbClr val="FFF8F3"/>
          </a:solidFill>
          <a:ln w="12700">
            <a:solidFill>
              <a:srgbClr val="E7DEE8"/>
            </a:solidFill>
            <a:prstDash val="solid"/>
          </a:ln>
        </p:spPr>
      </p:sp>
      <p:pic>
        <p:nvPicPr>
          <p:cNvPr id="13" name="Image 1" descr="D:\squishy-smash\docs\marketing\squishy_smash_deck_package\assets\staged\roblox.jpg">    </p:cNvPr>
          <p:cNvPicPr>
            <a:picLocks noChangeAspect="1"/>
          </p:cNvPicPr>
          <p:nvPr/>
        </p:nvPicPr>
        <p:blipFill>
          <a:blip r:embed="rId2"/>
          <a:stretch>
            <a:fillRect/>
          </a:stretch>
        </p:blipFill>
        <p:spPr>
          <a:xfrm>
            <a:off x="4517136" y="2867794"/>
            <a:ext cx="3163824" cy="1780781"/>
          </a:xfrm>
          <a:prstGeom prst="rect">
            <a:avLst/>
          </a:prstGeom>
        </p:spPr>
      </p:pic>
      <p:sp>
        <p:nvSpPr>
          <p:cNvPr id="14" name="Text 10"/>
          <p:cNvSpPr/>
          <p:nvPr/>
        </p:nvSpPr>
        <p:spPr>
          <a:xfrm>
            <a:off x="4553712" y="4809744"/>
            <a:ext cx="3090672" cy="256032"/>
          </a:xfrm>
          <a:prstGeom prst="rect">
            <a:avLst/>
          </a:prstGeom>
          <a:noFill/>
          <a:ln/>
        </p:spPr>
        <p:txBody>
          <a:bodyPr wrap="square" rtlCol="0" anchor="ctr"/>
          <a:lstStyle/>
          <a:p>
            <a:pPr algn="ctr" indent="0" marL="0">
              <a:buNone/>
            </a:pPr>
            <a:r>
              <a:rPr lang="en-US" sz="1250" b="1" dirty="0">
                <a:solidFill>
                  <a:srgbClr val="120B17"/>
                </a:solidFill>
                <a:latin typeface="Trebuchet MS" pitchFamily="34" charset="0"/>
                <a:ea typeface="Trebuchet MS" pitchFamily="34" charset="-122"/>
                <a:cs typeface="Trebuchet MS" pitchFamily="34" charset="-120"/>
              </a:rPr>
              <a:t>Roblox Experience</a:t>
            </a:r>
            <a:endParaRPr lang="en-US" sz="1250" dirty="0"/>
          </a:p>
        </p:txBody>
      </p:sp>
      <p:sp>
        <p:nvSpPr>
          <p:cNvPr id="15" name="Text 11"/>
          <p:cNvSpPr/>
          <p:nvPr/>
        </p:nvSpPr>
        <p:spPr>
          <a:xfrm>
            <a:off x="4553712" y="5065776"/>
            <a:ext cx="3090672" cy="237744"/>
          </a:xfrm>
          <a:prstGeom prst="rect">
            <a:avLst/>
          </a:prstGeom>
          <a:noFill/>
          <a:ln/>
        </p:spPr>
        <p:txBody>
          <a:bodyPr wrap="square" rtlCol="0" anchor="ctr"/>
          <a:lstStyle/>
          <a:p>
            <a:pPr algn="ctr" indent="0" marL="0">
              <a:buNone/>
            </a:pPr>
            <a:r>
              <a:rPr lang="en-US" sz="950" dirty="0">
                <a:solidFill>
                  <a:srgbClr val="6E37B0"/>
                </a:solidFill>
                <a:latin typeface="Arial" pitchFamily="34" charset="0"/>
                <a:ea typeface="Arial" pitchFamily="34" charset="-122"/>
                <a:cs typeface="Arial" pitchFamily="34" charset="-120"/>
              </a:rPr>
              <a:t>Live — "The Lost Sparkle"</a:t>
            </a:r>
            <a:endParaRPr lang="en-US" sz="950" dirty="0"/>
          </a:p>
        </p:txBody>
      </p:sp>
      <p:sp>
        <p:nvSpPr>
          <p:cNvPr id="16" name="Shape 12"/>
          <p:cNvSpPr/>
          <p:nvPr/>
        </p:nvSpPr>
        <p:spPr>
          <a:xfrm>
            <a:off x="8083296" y="2633472"/>
            <a:ext cx="3456432" cy="2743200"/>
          </a:xfrm>
          <a:prstGeom prst="roundRect">
            <a:avLst>
              <a:gd name="adj" fmla="val 4667"/>
            </a:avLst>
          </a:prstGeom>
          <a:solidFill>
            <a:srgbClr val="FFF8F3"/>
          </a:solidFill>
          <a:ln w="12700">
            <a:solidFill>
              <a:srgbClr val="E7DEE8"/>
            </a:solidFill>
            <a:prstDash val="solid"/>
          </a:ln>
        </p:spPr>
      </p:sp>
      <p:pic>
        <p:nvPicPr>
          <p:cNvPr id="17" name="Image 2" descr="D:\squishy-smash\docs\marketing\squishy_smash_deck_package\assets\staged\app_02.jpg">    </p:cNvPr>
          <p:cNvPicPr>
            <a:picLocks noChangeAspect="1"/>
          </p:cNvPicPr>
          <p:nvPr/>
        </p:nvPicPr>
        <p:blipFill>
          <a:blip r:embed="rId3"/>
          <a:stretch>
            <a:fillRect/>
          </a:stretch>
        </p:blipFill>
        <p:spPr>
          <a:xfrm>
            <a:off x="9359665" y="2779776"/>
            <a:ext cx="903693" cy="1956816"/>
          </a:xfrm>
          <a:prstGeom prst="rect">
            <a:avLst/>
          </a:prstGeom>
        </p:spPr>
      </p:pic>
      <p:sp>
        <p:nvSpPr>
          <p:cNvPr id="18" name="Text 13"/>
          <p:cNvSpPr/>
          <p:nvPr/>
        </p:nvSpPr>
        <p:spPr>
          <a:xfrm>
            <a:off x="8266176" y="4809744"/>
            <a:ext cx="3090672" cy="256032"/>
          </a:xfrm>
          <a:prstGeom prst="rect">
            <a:avLst/>
          </a:prstGeom>
          <a:noFill/>
          <a:ln/>
        </p:spPr>
        <p:txBody>
          <a:bodyPr wrap="square" rtlCol="0" anchor="ctr"/>
          <a:lstStyle/>
          <a:p>
            <a:pPr algn="ctr" indent="0" marL="0">
              <a:buNone/>
            </a:pPr>
            <a:r>
              <a:rPr lang="en-US" sz="1250" b="1" dirty="0">
                <a:solidFill>
                  <a:srgbClr val="120B17"/>
                </a:solidFill>
                <a:latin typeface="Trebuchet MS" pitchFamily="34" charset="0"/>
                <a:ea typeface="Trebuchet MS" pitchFamily="34" charset="-122"/>
                <a:cs typeface="Trebuchet MS" pitchFamily="34" charset="-120"/>
              </a:rPr>
              <a:t>Collection Album</a:t>
            </a:r>
            <a:endParaRPr lang="en-US" sz="1250" dirty="0"/>
          </a:p>
        </p:txBody>
      </p:sp>
      <p:sp>
        <p:nvSpPr>
          <p:cNvPr id="19" name="Text 14"/>
          <p:cNvSpPr/>
          <p:nvPr/>
        </p:nvSpPr>
        <p:spPr>
          <a:xfrm>
            <a:off x="8266176" y="5065776"/>
            <a:ext cx="3090672" cy="237744"/>
          </a:xfrm>
          <a:prstGeom prst="rect">
            <a:avLst/>
          </a:prstGeom>
          <a:noFill/>
          <a:ln/>
        </p:spPr>
        <p:txBody>
          <a:bodyPr wrap="square" rtlCol="0" anchor="ctr"/>
          <a:lstStyle/>
          <a:p>
            <a:pPr algn="ctr" indent="0" marL="0">
              <a:buNone/>
            </a:pPr>
            <a:r>
              <a:rPr lang="en-US" sz="950" dirty="0">
                <a:solidFill>
                  <a:srgbClr val="17788F"/>
                </a:solidFill>
                <a:latin typeface="Arial" pitchFamily="34" charset="0"/>
                <a:ea typeface="Arial" pitchFamily="34" charset="-122"/>
                <a:cs typeface="Arial" pitchFamily="34" charset="-120"/>
              </a:rPr>
              <a:t>48-card in-app album</a:t>
            </a:r>
            <a:endParaRPr lang="en-US" sz="950" dirty="0"/>
          </a:p>
        </p:txBody>
      </p:sp>
      <p:sp>
        <p:nvSpPr>
          <p:cNvPr id="20" name="Text 15"/>
          <p:cNvSpPr/>
          <p:nvPr/>
        </p:nvSpPr>
        <p:spPr>
          <a:xfrm>
            <a:off x="658368" y="5522976"/>
            <a:ext cx="10881360" cy="256032"/>
          </a:xfrm>
          <a:prstGeom prst="rect">
            <a:avLst/>
          </a:prstGeom>
          <a:noFill/>
          <a:ln/>
        </p:spPr>
        <p:txBody>
          <a:bodyPr wrap="square" rtlCol="0" anchor="ctr"/>
          <a:lstStyle/>
          <a:p>
            <a:pPr indent="0" marL="0">
              <a:buNone/>
            </a:pPr>
            <a:r>
              <a:rPr lang="en-US" sz="1050" b="1" spc="80" kern="0" dirty="0">
                <a:solidFill>
                  <a:srgbClr val="C4306E"/>
                </a:solidFill>
                <a:latin typeface="Arial" pitchFamily="34" charset="0"/>
                <a:ea typeface="Arial" pitchFamily="34" charset="-122"/>
                <a:cs typeface="Arial" pitchFamily="34" charset="-120"/>
              </a:rPr>
              <a:t>Planned toy-to-digital connections (not yet implemented)</a:t>
            </a:r>
            <a:endParaRPr lang="en-US" sz="1050" dirty="0"/>
          </a:p>
        </p:txBody>
      </p:sp>
      <p:sp>
        <p:nvSpPr>
          <p:cNvPr id="21" name="Text 16"/>
          <p:cNvSpPr/>
          <p:nvPr/>
        </p:nvSpPr>
        <p:spPr>
          <a:xfrm>
            <a:off x="658368" y="5797296"/>
            <a:ext cx="2048256" cy="36576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  QR code to the brand site</a:t>
            </a:r>
            <a:endParaRPr lang="en-US" sz="1000" dirty="0"/>
          </a:p>
        </p:txBody>
      </p:sp>
      <p:sp>
        <p:nvSpPr>
          <p:cNvPr id="22" name="Text 17"/>
          <p:cNvSpPr/>
          <p:nvPr/>
        </p:nvSpPr>
        <p:spPr>
          <a:xfrm>
            <a:off x="2834640" y="5797296"/>
            <a:ext cx="2048256" cy="36576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  Roblox cosmetic bonus</a:t>
            </a:r>
            <a:endParaRPr lang="en-US" sz="1000" dirty="0"/>
          </a:p>
        </p:txBody>
      </p:sp>
      <p:sp>
        <p:nvSpPr>
          <p:cNvPr id="23" name="Text 18"/>
          <p:cNvSpPr/>
          <p:nvPr/>
        </p:nvSpPr>
        <p:spPr>
          <a:xfrm>
            <a:off x="5010912" y="5797296"/>
            <a:ext cx="2048256" cy="36576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  iOS app reward</a:t>
            </a:r>
            <a:endParaRPr lang="en-US" sz="1000" dirty="0"/>
          </a:p>
        </p:txBody>
      </p:sp>
      <p:sp>
        <p:nvSpPr>
          <p:cNvPr id="24" name="Text 19"/>
          <p:cNvSpPr/>
          <p:nvPr/>
        </p:nvSpPr>
        <p:spPr>
          <a:xfrm>
            <a:off x="7187184" y="5797296"/>
            <a:ext cx="2048256" cy="36576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  Character profile page</a:t>
            </a:r>
            <a:endParaRPr lang="en-US" sz="1000" dirty="0"/>
          </a:p>
        </p:txBody>
      </p:sp>
      <p:sp>
        <p:nvSpPr>
          <p:cNvPr id="25" name="Text 20"/>
          <p:cNvSpPr/>
          <p:nvPr/>
        </p:nvSpPr>
        <p:spPr>
          <a:xfrm>
            <a:off x="9363456" y="5797296"/>
            <a:ext cx="2048256" cy="36576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  Printable activities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9</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4F7A18"/>
                </a:solidFill>
                <a:latin typeface="Arial" pitchFamily="34" charset="0"/>
                <a:ea typeface="Arial" pitchFamily="34" charset="-122"/>
                <a:cs typeface="Arial" pitchFamily="34" charset="-120"/>
              </a:rPr>
              <a:t>PACKAGING DIRECTION</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Retail-Ready Storytelling</a:t>
            </a:r>
            <a:endParaRPr lang="en-US" sz="3000" dirty="0"/>
          </a:p>
        </p:txBody>
      </p:sp>
      <p:sp>
        <p:nvSpPr>
          <p:cNvPr id="6" name="Shape 4"/>
          <p:cNvSpPr/>
          <p:nvPr/>
        </p:nvSpPr>
        <p:spPr>
          <a:xfrm>
            <a:off x="658368" y="1737360"/>
            <a:ext cx="786384" cy="50292"/>
          </a:xfrm>
          <a:prstGeom prst="rect">
            <a:avLst/>
          </a:prstGeom>
          <a:solidFill>
            <a:srgbClr val="4F7A18"/>
          </a:solidFill>
          <a:ln w="12700">
            <a:solidFill>
              <a:srgbClr val="333333"/>
            </a:solidFill>
            <a:prstDash val="solid"/>
          </a:ln>
        </p:spPr>
      </p:sp>
      <p:sp>
        <p:nvSpPr>
          <p:cNvPr id="7" name="Text 5"/>
          <p:cNvSpPr/>
          <p:nvPr/>
        </p:nvSpPr>
        <p:spPr>
          <a:xfrm>
            <a:off x="658368" y="2029968"/>
            <a:ext cx="6766560" cy="822960"/>
          </a:xfrm>
          <a:prstGeom prst="rect">
            <a:avLst/>
          </a:prstGeom>
          <a:noFill/>
          <a:ln/>
        </p:spPr>
        <p:txBody>
          <a:bodyPr wrap="square" rtlCol="0" anchor="ctr"/>
          <a:lstStyle/>
          <a:p>
            <a:pPr indent="0" marL="0">
              <a:lnSpc>
                <a:spcPct val="128000"/>
              </a:lnSpc>
              <a:buNone/>
            </a:pPr>
            <a:r>
              <a:rPr lang="en-US" sz="1300" dirty="0">
                <a:solidFill>
                  <a:srgbClr val="4A3F52"/>
                </a:solidFill>
                <a:latin typeface="Arial" pitchFamily="34" charset="0"/>
                <a:ea typeface="Arial" pitchFamily="34" charset="-122"/>
                <a:cs typeface="Arial" pitchFamily="34" charset="-120"/>
              </a:rPr>
              <a:t>The existing trading-card design already contains every element a retail package needs — name, number, rarity, artwork and character description. It is a natural basis for packaging artwork.</a:t>
            </a:r>
            <a:endParaRPr lang="en-US" sz="1300" dirty="0"/>
          </a:p>
        </p:txBody>
      </p:sp>
      <p:sp>
        <p:nvSpPr>
          <p:cNvPr id="8" name="Text 6"/>
          <p:cNvSpPr/>
          <p:nvPr/>
        </p:nvSpPr>
        <p:spPr>
          <a:xfrm>
            <a:off x="658368" y="2926080"/>
            <a:ext cx="6766560" cy="237744"/>
          </a:xfrm>
          <a:prstGeom prst="rect">
            <a:avLst/>
          </a:prstGeom>
          <a:noFill/>
          <a:ln/>
        </p:spPr>
        <p:txBody>
          <a:bodyPr wrap="square" rtlCol="0" anchor="ctr"/>
          <a:lstStyle/>
          <a:p>
            <a:pPr indent="0" marL="0">
              <a:buNone/>
            </a:pPr>
            <a:r>
              <a:rPr lang="en-US" sz="950" b="1" spc="140" kern="0" dirty="0">
                <a:solidFill>
                  <a:srgbClr val="6E37B0"/>
                </a:solidFill>
                <a:latin typeface="Arial" pitchFamily="34" charset="0"/>
                <a:ea typeface="Arial" pitchFamily="34" charset="-122"/>
                <a:cs typeface="Arial" pitchFamily="34" charset="-120"/>
              </a:rPr>
              <a:t>PACKAGING COMPONENTS</a:t>
            </a:r>
            <a:endParaRPr lang="en-US" sz="950" dirty="0"/>
          </a:p>
        </p:txBody>
      </p:sp>
      <p:sp>
        <p:nvSpPr>
          <p:cNvPr id="9" name="Shape 7"/>
          <p:cNvSpPr/>
          <p:nvPr/>
        </p:nvSpPr>
        <p:spPr>
          <a:xfrm>
            <a:off x="658368" y="3312414"/>
            <a:ext cx="91440" cy="91440"/>
          </a:xfrm>
          <a:prstGeom prst="ellipse">
            <a:avLst/>
          </a:prstGeom>
          <a:solidFill>
            <a:srgbClr val="6E37B0"/>
          </a:solidFill>
          <a:ln w="12700">
            <a:solidFill>
              <a:srgbClr val="333333"/>
            </a:solidFill>
            <a:prstDash val="solid"/>
          </a:ln>
        </p:spPr>
      </p:sp>
      <p:sp>
        <p:nvSpPr>
          <p:cNvPr id="10" name="Text 8"/>
          <p:cNvSpPr/>
          <p:nvPr/>
        </p:nvSpPr>
        <p:spPr>
          <a:xfrm>
            <a:off x="859536" y="3218688"/>
            <a:ext cx="2999232" cy="329184"/>
          </a:xfrm>
          <a:prstGeom prst="rect">
            <a:avLst/>
          </a:prstGeom>
          <a:noFill/>
          <a:ln/>
        </p:spPr>
        <p:txBody>
          <a:bodyPr wrap="square" rtlCol="0" anchor="t"/>
          <a:lstStyle/>
          <a:p>
            <a:pPr indent="0" marL="0">
              <a:buNone/>
            </a:pPr>
            <a:r>
              <a:rPr lang="en-US" sz="1150" dirty="0">
                <a:solidFill>
                  <a:srgbClr val="120B17"/>
                </a:solidFill>
                <a:latin typeface="Arial" pitchFamily="34" charset="0"/>
                <a:ea typeface="Arial" pitchFamily="34" charset="-122"/>
                <a:cs typeface="Arial" pitchFamily="34" charset="-120"/>
              </a:rPr>
              <a:t>Squishy Smash logo</a:t>
            </a:r>
            <a:endParaRPr lang="en-US" sz="1150" dirty="0"/>
          </a:p>
        </p:txBody>
      </p:sp>
      <p:sp>
        <p:nvSpPr>
          <p:cNvPr id="11" name="Shape 9"/>
          <p:cNvSpPr/>
          <p:nvPr/>
        </p:nvSpPr>
        <p:spPr>
          <a:xfrm>
            <a:off x="658368" y="3641598"/>
            <a:ext cx="91440" cy="91440"/>
          </a:xfrm>
          <a:prstGeom prst="ellipse">
            <a:avLst/>
          </a:prstGeom>
          <a:solidFill>
            <a:srgbClr val="6E37B0"/>
          </a:solidFill>
          <a:ln w="12700">
            <a:solidFill>
              <a:srgbClr val="333333"/>
            </a:solidFill>
            <a:prstDash val="solid"/>
          </a:ln>
        </p:spPr>
      </p:sp>
      <p:sp>
        <p:nvSpPr>
          <p:cNvPr id="12" name="Text 10"/>
          <p:cNvSpPr/>
          <p:nvPr/>
        </p:nvSpPr>
        <p:spPr>
          <a:xfrm>
            <a:off x="859536" y="3547872"/>
            <a:ext cx="2999232" cy="329184"/>
          </a:xfrm>
          <a:prstGeom prst="rect">
            <a:avLst/>
          </a:prstGeom>
          <a:noFill/>
          <a:ln/>
        </p:spPr>
        <p:txBody>
          <a:bodyPr wrap="square" rtlCol="0" anchor="t"/>
          <a:lstStyle/>
          <a:p>
            <a:pPr indent="0" marL="0">
              <a:buNone/>
            </a:pPr>
            <a:r>
              <a:rPr lang="en-US" sz="1150" dirty="0">
                <a:solidFill>
                  <a:srgbClr val="120B17"/>
                </a:solidFill>
                <a:latin typeface="Arial" pitchFamily="34" charset="0"/>
                <a:ea typeface="Arial" pitchFamily="34" charset="-122"/>
                <a:cs typeface="Arial" pitchFamily="34" charset="-120"/>
              </a:rPr>
              <a:t>Character name</a:t>
            </a:r>
            <a:endParaRPr lang="en-US" sz="1150" dirty="0"/>
          </a:p>
        </p:txBody>
      </p:sp>
      <p:sp>
        <p:nvSpPr>
          <p:cNvPr id="13" name="Shape 11"/>
          <p:cNvSpPr/>
          <p:nvPr/>
        </p:nvSpPr>
        <p:spPr>
          <a:xfrm>
            <a:off x="658368" y="3970782"/>
            <a:ext cx="91440" cy="91440"/>
          </a:xfrm>
          <a:prstGeom prst="ellipse">
            <a:avLst/>
          </a:prstGeom>
          <a:solidFill>
            <a:srgbClr val="6E37B0"/>
          </a:solidFill>
          <a:ln w="12700">
            <a:solidFill>
              <a:srgbClr val="333333"/>
            </a:solidFill>
            <a:prstDash val="solid"/>
          </a:ln>
        </p:spPr>
      </p:sp>
      <p:sp>
        <p:nvSpPr>
          <p:cNvPr id="14" name="Text 12"/>
          <p:cNvSpPr/>
          <p:nvPr/>
        </p:nvSpPr>
        <p:spPr>
          <a:xfrm>
            <a:off x="859536" y="3877056"/>
            <a:ext cx="2999232" cy="329184"/>
          </a:xfrm>
          <a:prstGeom prst="rect">
            <a:avLst/>
          </a:prstGeom>
          <a:noFill/>
          <a:ln/>
        </p:spPr>
        <p:txBody>
          <a:bodyPr wrap="square" rtlCol="0" anchor="t"/>
          <a:lstStyle/>
          <a:p>
            <a:pPr indent="0" marL="0">
              <a:buNone/>
            </a:pPr>
            <a:r>
              <a:rPr lang="en-US" sz="1150" dirty="0">
                <a:solidFill>
                  <a:srgbClr val="120B17"/>
                </a:solidFill>
                <a:latin typeface="Arial" pitchFamily="34" charset="0"/>
                <a:ea typeface="Arial" pitchFamily="34" charset="-122"/>
                <a:cs typeface="Arial" pitchFamily="34" charset="-120"/>
              </a:rPr>
              <a:t>Series number</a:t>
            </a:r>
            <a:endParaRPr lang="en-US" sz="1150" dirty="0"/>
          </a:p>
        </p:txBody>
      </p:sp>
      <p:sp>
        <p:nvSpPr>
          <p:cNvPr id="15" name="Shape 13"/>
          <p:cNvSpPr/>
          <p:nvPr/>
        </p:nvSpPr>
        <p:spPr>
          <a:xfrm>
            <a:off x="658368" y="4299966"/>
            <a:ext cx="91440" cy="91440"/>
          </a:xfrm>
          <a:prstGeom prst="ellipse">
            <a:avLst/>
          </a:prstGeom>
          <a:solidFill>
            <a:srgbClr val="6E37B0"/>
          </a:solidFill>
          <a:ln w="12700">
            <a:solidFill>
              <a:srgbClr val="333333"/>
            </a:solidFill>
            <a:prstDash val="solid"/>
          </a:ln>
        </p:spPr>
      </p:sp>
      <p:sp>
        <p:nvSpPr>
          <p:cNvPr id="16" name="Text 14"/>
          <p:cNvSpPr/>
          <p:nvPr/>
        </p:nvSpPr>
        <p:spPr>
          <a:xfrm>
            <a:off x="859536" y="4206240"/>
            <a:ext cx="2999232" cy="329184"/>
          </a:xfrm>
          <a:prstGeom prst="rect">
            <a:avLst/>
          </a:prstGeom>
          <a:noFill/>
          <a:ln/>
        </p:spPr>
        <p:txBody>
          <a:bodyPr wrap="square" rtlCol="0" anchor="t"/>
          <a:lstStyle/>
          <a:p>
            <a:pPr indent="0" marL="0">
              <a:buNone/>
            </a:pPr>
            <a:r>
              <a:rPr lang="en-US" sz="1150" dirty="0">
                <a:solidFill>
                  <a:srgbClr val="120B17"/>
                </a:solidFill>
                <a:latin typeface="Arial" pitchFamily="34" charset="0"/>
                <a:ea typeface="Arial" pitchFamily="34" charset="-122"/>
                <a:cs typeface="Arial" pitchFamily="34" charset="-120"/>
              </a:rPr>
              <a:t>Rarity badge</a:t>
            </a:r>
            <a:endParaRPr lang="en-US" sz="1150" dirty="0"/>
          </a:p>
        </p:txBody>
      </p:sp>
      <p:sp>
        <p:nvSpPr>
          <p:cNvPr id="17" name="Shape 15"/>
          <p:cNvSpPr/>
          <p:nvPr/>
        </p:nvSpPr>
        <p:spPr>
          <a:xfrm>
            <a:off x="4041648" y="3312414"/>
            <a:ext cx="91440" cy="91440"/>
          </a:xfrm>
          <a:prstGeom prst="ellipse">
            <a:avLst/>
          </a:prstGeom>
          <a:solidFill>
            <a:srgbClr val="6E37B0"/>
          </a:solidFill>
          <a:ln w="12700">
            <a:solidFill>
              <a:srgbClr val="333333"/>
            </a:solidFill>
            <a:prstDash val="solid"/>
          </a:ln>
        </p:spPr>
      </p:sp>
      <p:sp>
        <p:nvSpPr>
          <p:cNvPr id="18" name="Text 16"/>
          <p:cNvSpPr/>
          <p:nvPr/>
        </p:nvSpPr>
        <p:spPr>
          <a:xfrm>
            <a:off x="4242816" y="3218688"/>
            <a:ext cx="2999232" cy="329184"/>
          </a:xfrm>
          <a:prstGeom prst="rect">
            <a:avLst/>
          </a:prstGeom>
          <a:noFill/>
          <a:ln/>
        </p:spPr>
        <p:txBody>
          <a:bodyPr wrap="square" rtlCol="0" anchor="t"/>
          <a:lstStyle/>
          <a:p>
            <a:pPr indent="0" marL="0">
              <a:buNone/>
            </a:pPr>
            <a:r>
              <a:rPr lang="en-US" sz="1150" dirty="0">
                <a:solidFill>
                  <a:srgbClr val="120B17"/>
                </a:solidFill>
                <a:latin typeface="Arial" pitchFamily="34" charset="0"/>
                <a:ea typeface="Arial" pitchFamily="34" charset="-122"/>
                <a:cs typeface="Arial" pitchFamily="34" charset="-120"/>
              </a:rPr>
              <a:t>Character artwork</a:t>
            </a:r>
            <a:endParaRPr lang="en-US" sz="1150" dirty="0"/>
          </a:p>
        </p:txBody>
      </p:sp>
      <p:sp>
        <p:nvSpPr>
          <p:cNvPr id="19" name="Shape 17"/>
          <p:cNvSpPr/>
          <p:nvPr/>
        </p:nvSpPr>
        <p:spPr>
          <a:xfrm>
            <a:off x="4041648" y="3641598"/>
            <a:ext cx="91440" cy="91440"/>
          </a:xfrm>
          <a:prstGeom prst="ellipse">
            <a:avLst/>
          </a:prstGeom>
          <a:solidFill>
            <a:srgbClr val="6E37B0"/>
          </a:solidFill>
          <a:ln w="12700">
            <a:solidFill>
              <a:srgbClr val="333333"/>
            </a:solidFill>
            <a:prstDash val="solid"/>
          </a:ln>
        </p:spPr>
      </p:sp>
      <p:sp>
        <p:nvSpPr>
          <p:cNvPr id="20" name="Text 18"/>
          <p:cNvSpPr/>
          <p:nvPr/>
        </p:nvSpPr>
        <p:spPr>
          <a:xfrm>
            <a:off x="4242816" y="3547872"/>
            <a:ext cx="2999232" cy="329184"/>
          </a:xfrm>
          <a:prstGeom prst="rect">
            <a:avLst/>
          </a:prstGeom>
          <a:noFill/>
          <a:ln/>
        </p:spPr>
        <p:txBody>
          <a:bodyPr wrap="square" rtlCol="0" anchor="t"/>
          <a:lstStyle/>
          <a:p>
            <a:pPr indent="0" marL="0">
              <a:buNone/>
            </a:pPr>
            <a:r>
              <a:rPr lang="en-US" sz="1150" dirty="0">
                <a:solidFill>
                  <a:srgbClr val="120B17"/>
                </a:solidFill>
                <a:latin typeface="Arial" pitchFamily="34" charset="0"/>
                <a:ea typeface="Arial" pitchFamily="34" charset="-122"/>
                <a:cs typeface="Arial" pitchFamily="34" charset="-120"/>
              </a:rPr>
              <a:t>Short personality description</a:t>
            </a:r>
            <a:endParaRPr lang="en-US" sz="1150" dirty="0"/>
          </a:p>
        </p:txBody>
      </p:sp>
      <p:sp>
        <p:nvSpPr>
          <p:cNvPr id="21" name="Shape 19"/>
          <p:cNvSpPr/>
          <p:nvPr/>
        </p:nvSpPr>
        <p:spPr>
          <a:xfrm>
            <a:off x="4041648" y="3970782"/>
            <a:ext cx="91440" cy="91440"/>
          </a:xfrm>
          <a:prstGeom prst="ellipse">
            <a:avLst/>
          </a:prstGeom>
          <a:solidFill>
            <a:srgbClr val="6E37B0"/>
          </a:solidFill>
          <a:ln w="12700">
            <a:solidFill>
              <a:srgbClr val="333333"/>
            </a:solidFill>
            <a:prstDash val="solid"/>
          </a:ln>
        </p:spPr>
      </p:sp>
      <p:sp>
        <p:nvSpPr>
          <p:cNvPr id="22" name="Text 20"/>
          <p:cNvSpPr/>
          <p:nvPr/>
        </p:nvSpPr>
        <p:spPr>
          <a:xfrm>
            <a:off x="4242816" y="3877056"/>
            <a:ext cx="2999232" cy="329184"/>
          </a:xfrm>
          <a:prstGeom prst="rect">
            <a:avLst/>
          </a:prstGeom>
          <a:noFill/>
          <a:ln/>
        </p:spPr>
        <p:txBody>
          <a:bodyPr wrap="square" rtlCol="0" anchor="t"/>
          <a:lstStyle/>
          <a:p>
            <a:pPr indent="0" marL="0">
              <a:buNone/>
            </a:pPr>
            <a:r>
              <a:rPr lang="en-US" sz="1150" dirty="0">
                <a:solidFill>
                  <a:srgbClr val="120B17"/>
                </a:solidFill>
                <a:latin typeface="Arial" pitchFamily="34" charset="0"/>
                <a:ea typeface="Arial" pitchFamily="34" charset="-122"/>
                <a:cs typeface="Arial" pitchFamily="34" charset="-120"/>
              </a:rPr>
              <a:t>QR code area</a:t>
            </a:r>
            <a:endParaRPr lang="en-US" sz="1150" dirty="0"/>
          </a:p>
        </p:txBody>
      </p:sp>
      <p:sp>
        <p:nvSpPr>
          <p:cNvPr id="23" name="Shape 21"/>
          <p:cNvSpPr/>
          <p:nvPr/>
        </p:nvSpPr>
        <p:spPr>
          <a:xfrm>
            <a:off x="4041648" y="4299966"/>
            <a:ext cx="91440" cy="91440"/>
          </a:xfrm>
          <a:prstGeom prst="ellipse">
            <a:avLst/>
          </a:prstGeom>
          <a:solidFill>
            <a:srgbClr val="6E37B0"/>
          </a:solidFill>
          <a:ln w="12700">
            <a:solidFill>
              <a:srgbClr val="333333"/>
            </a:solidFill>
            <a:prstDash val="solid"/>
          </a:ln>
        </p:spPr>
      </p:sp>
      <p:sp>
        <p:nvSpPr>
          <p:cNvPr id="24" name="Text 22"/>
          <p:cNvSpPr/>
          <p:nvPr/>
        </p:nvSpPr>
        <p:spPr>
          <a:xfrm>
            <a:off x="4242816" y="4206240"/>
            <a:ext cx="2999232" cy="329184"/>
          </a:xfrm>
          <a:prstGeom prst="rect">
            <a:avLst/>
          </a:prstGeom>
          <a:noFill/>
          <a:ln/>
        </p:spPr>
        <p:txBody>
          <a:bodyPr wrap="square" rtlCol="0" anchor="t"/>
          <a:lstStyle/>
          <a:p>
            <a:pPr indent="0" marL="0">
              <a:buNone/>
            </a:pPr>
            <a:r>
              <a:rPr lang="en-US" sz="1150" dirty="0">
                <a:solidFill>
                  <a:srgbClr val="120B17"/>
                </a:solidFill>
                <a:latin typeface="Arial" pitchFamily="34" charset="0"/>
                <a:ea typeface="Arial" pitchFamily="34" charset="-122"/>
                <a:cs typeface="Arial" pitchFamily="34" charset="-120"/>
              </a:rPr>
              <a:t>Safety and compliance panel</a:t>
            </a:r>
            <a:endParaRPr lang="en-US" sz="1150" dirty="0"/>
          </a:p>
        </p:txBody>
      </p:sp>
      <p:sp>
        <p:nvSpPr>
          <p:cNvPr id="25" name="Text 23"/>
          <p:cNvSpPr/>
          <p:nvPr/>
        </p:nvSpPr>
        <p:spPr>
          <a:xfrm>
            <a:off x="658368" y="4663440"/>
            <a:ext cx="6766560" cy="237744"/>
          </a:xfrm>
          <a:prstGeom prst="rect">
            <a:avLst/>
          </a:prstGeom>
          <a:noFill/>
          <a:ln/>
        </p:spPr>
        <p:txBody>
          <a:bodyPr wrap="square" rtlCol="0" anchor="ctr"/>
          <a:lstStyle/>
          <a:p>
            <a:pPr indent="0" marL="0">
              <a:buNone/>
            </a:pPr>
            <a:r>
              <a:rPr lang="en-US" sz="950" b="1" spc="140" kern="0" dirty="0">
                <a:solidFill>
                  <a:srgbClr val="17788F"/>
                </a:solidFill>
                <a:latin typeface="Arial" pitchFamily="34" charset="0"/>
                <a:ea typeface="Arial" pitchFamily="34" charset="-122"/>
                <a:cs typeface="Arial" pitchFamily="34" charset="-120"/>
              </a:rPr>
              <a:t>FORMATS</a:t>
            </a:r>
            <a:endParaRPr lang="en-US" sz="950" dirty="0"/>
          </a:p>
        </p:txBody>
      </p:sp>
      <p:sp>
        <p:nvSpPr>
          <p:cNvPr id="26" name="Shape 24"/>
          <p:cNvSpPr/>
          <p:nvPr/>
        </p:nvSpPr>
        <p:spPr>
          <a:xfrm>
            <a:off x="658368" y="4956048"/>
            <a:ext cx="1737360" cy="310896"/>
          </a:xfrm>
          <a:prstGeom prst="roundRect">
            <a:avLst>
              <a:gd name="adj" fmla="val 147059"/>
            </a:avLst>
          </a:prstGeom>
          <a:solidFill>
            <a:srgbClr val="F2FAFD"/>
          </a:solidFill>
          <a:ln w="12700">
            <a:solidFill>
              <a:srgbClr val="333333"/>
            </a:solidFill>
            <a:prstDash val="solid"/>
          </a:ln>
        </p:spPr>
      </p:sp>
      <p:sp>
        <p:nvSpPr>
          <p:cNvPr id="27" name="Text 25"/>
          <p:cNvSpPr/>
          <p:nvPr/>
        </p:nvSpPr>
        <p:spPr>
          <a:xfrm>
            <a:off x="658368" y="4956048"/>
            <a:ext cx="1737360" cy="310896"/>
          </a:xfrm>
          <a:prstGeom prst="rect">
            <a:avLst/>
          </a:prstGeom>
          <a:noFill/>
          <a:ln/>
        </p:spPr>
        <p:txBody>
          <a:bodyPr wrap="square" rtlCol="0" anchor="ctr"/>
          <a:lstStyle/>
          <a:p>
            <a:pPr algn="ctr" indent="0" marL="0">
              <a:buNone/>
            </a:pPr>
            <a:r>
              <a:rPr lang="en-US" sz="950" b="1" dirty="0">
                <a:solidFill>
                  <a:srgbClr val="17788F"/>
                </a:solidFill>
                <a:latin typeface="Arial" pitchFamily="34" charset="0"/>
                <a:ea typeface="Arial" pitchFamily="34" charset="-122"/>
                <a:cs typeface="Arial" pitchFamily="34" charset="-120"/>
              </a:rPr>
              <a:t>Window box</a:t>
            </a:r>
            <a:endParaRPr lang="en-US" sz="950" dirty="0"/>
          </a:p>
        </p:txBody>
      </p:sp>
      <p:sp>
        <p:nvSpPr>
          <p:cNvPr id="28" name="Shape 26"/>
          <p:cNvSpPr/>
          <p:nvPr/>
        </p:nvSpPr>
        <p:spPr>
          <a:xfrm>
            <a:off x="2542032" y="4956048"/>
            <a:ext cx="2377440" cy="310896"/>
          </a:xfrm>
          <a:prstGeom prst="roundRect">
            <a:avLst>
              <a:gd name="adj" fmla="val 147059"/>
            </a:avLst>
          </a:prstGeom>
          <a:solidFill>
            <a:srgbClr val="F2FAFD"/>
          </a:solidFill>
          <a:ln w="12700">
            <a:solidFill>
              <a:srgbClr val="333333"/>
            </a:solidFill>
            <a:prstDash val="solid"/>
          </a:ln>
        </p:spPr>
      </p:sp>
      <p:sp>
        <p:nvSpPr>
          <p:cNvPr id="29" name="Text 27"/>
          <p:cNvSpPr/>
          <p:nvPr/>
        </p:nvSpPr>
        <p:spPr>
          <a:xfrm>
            <a:off x="2542032" y="4956048"/>
            <a:ext cx="2377440" cy="310896"/>
          </a:xfrm>
          <a:prstGeom prst="rect">
            <a:avLst/>
          </a:prstGeom>
          <a:noFill/>
          <a:ln/>
        </p:spPr>
        <p:txBody>
          <a:bodyPr wrap="square" rtlCol="0" anchor="ctr"/>
          <a:lstStyle/>
          <a:p>
            <a:pPr algn="ctr" indent="0" marL="0">
              <a:buNone/>
            </a:pPr>
            <a:r>
              <a:rPr lang="en-US" sz="950" b="1" dirty="0">
                <a:solidFill>
                  <a:srgbClr val="17788F"/>
                </a:solidFill>
                <a:latin typeface="Arial" pitchFamily="34" charset="0"/>
                <a:ea typeface="Arial" pitchFamily="34" charset="-122"/>
                <a:cs typeface="Arial" pitchFamily="34" charset="-120"/>
              </a:rPr>
              <a:t>Branded polybag</a:t>
            </a:r>
            <a:endParaRPr lang="en-US" sz="950" dirty="0"/>
          </a:p>
        </p:txBody>
      </p:sp>
      <p:sp>
        <p:nvSpPr>
          <p:cNvPr id="30" name="Shape 28"/>
          <p:cNvSpPr/>
          <p:nvPr/>
        </p:nvSpPr>
        <p:spPr>
          <a:xfrm>
            <a:off x="5065776" y="4956048"/>
            <a:ext cx="1609344" cy="310896"/>
          </a:xfrm>
          <a:prstGeom prst="roundRect">
            <a:avLst>
              <a:gd name="adj" fmla="val 147059"/>
            </a:avLst>
          </a:prstGeom>
          <a:solidFill>
            <a:srgbClr val="F2FAFD"/>
          </a:solidFill>
          <a:ln w="12700">
            <a:solidFill>
              <a:srgbClr val="333333"/>
            </a:solidFill>
            <a:prstDash val="solid"/>
          </a:ln>
        </p:spPr>
      </p:sp>
      <p:sp>
        <p:nvSpPr>
          <p:cNvPr id="31" name="Text 29"/>
          <p:cNvSpPr/>
          <p:nvPr/>
        </p:nvSpPr>
        <p:spPr>
          <a:xfrm>
            <a:off x="5065776" y="4956048"/>
            <a:ext cx="1609344" cy="310896"/>
          </a:xfrm>
          <a:prstGeom prst="rect">
            <a:avLst/>
          </a:prstGeom>
          <a:noFill/>
          <a:ln/>
        </p:spPr>
        <p:txBody>
          <a:bodyPr wrap="square" rtlCol="0" anchor="ctr"/>
          <a:lstStyle/>
          <a:p>
            <a:pPr algn="ctr" indent="0" marL="0">
              <a:buNone/>
            </a:pPr>
            <a:r>
              <a:rPr lang="en-US" sz="950" b="1" dirty="0">
                <a:solidFill>
                  <a:srgbClr val="17788F"/>
                </a:solidFill>
                <a:latin typeface="Arial" pitchFamily="34" charset="0"/>
                <a:ea typeface="Arial" pitchFamily="34" charset="-122"/>
                <a:cs typeface="Arial" pitchFamily="34" charset="-120"/>
              </a:rPr>
              <a:t>Blind box</a:t>
            </a:r>
            <a:endParaRPr lang="en-US" sz="950" dirty="0"/>
          </a:p>
        </p:txBody>
      </p:sp>
      <p:sp>
        <p:nvSpPr>
          <p:cNvPr id="32" name="Shape 30"/>
          <p:cNvSpPr/>
          <p:nvPr/>
        </p:nvSpPr>
        <p:spPr>
          <a:xfrm>
            <a:off x="658368" y="5376672"/>
            <a:ext cx="4169664" cy="310896"/>
          </a:xfrm>
          <a:prstGeom prst="roundRect">
            <a:avLst>
              <a:gd name="adj" fmla="val 147059"/>
            </a:avLst>
          </a:prstGeom>
          <a:solidFill>
            <a:srgbClr val="F2FAFD"/>
          </a:solidFill>
          <a:ln w="12700">
            <a:solidFill>
              <a:srgbClr val="333333"/>
            </a:solidFill>
            <a:prstDash val="solid"/>
          </a:ln>
        </p:spPr>
      </p:sp>
      <p:sp>
        <p:nvSpPr>
          <p:cNvPr id="33" name="Text 31"/>
          <p:cNvSpPr/>
          <p:nvPr/>
        </p:nvSpPr>
        <p:spPr>
          <a:xfrm>
            <a:off x="658368" y="5376672"/>
            <a:ext cx="4169664" cy="310896"/>
          </a:xfrm>
          <a:prstGeom prst="rect">
            <a:avLst/>
          </a:prstGeom>
          <a:noFill/>
          <a:ln/>
        </p:spPr>
        <p:txBody>
          <a:bodyPr wrap="square" rtlCol="0" anchor="ctr"/>
          <a:lstStyle/>
          <a:p>
            <a:pPr algn="ctr" indent="0" marL="0">
              <a:buNone/>
            </a:pPr>
            <a:r>
              <a:rPr lang="en-US" sz="950" b="1" dirty="0">
                <a:solidFill>
                  <a:srgbClr val="17788F"/>
                </a:solidFill>
                <a:latin typeface="Arial" pitchFamily="34" charset="0"/>
                <a:ea typeface="Arial" pitchFamily="34" charset="-122"/>
                <a:cs typeface="Arial" pitchFamily="34" charset="-120"/>
              </a:rPr>
              <a:t>Multi-character collector set</a:t>
            </a:r>
            <a:endParaRPr lang="en-US" sz="950" dirty="0"/>
          </a:p>
        </p:txBody>
      </p:sp>
      <p:sp>
        <p:nvSpPr>
          <p:cNvPr id="34" name="Shape 32"/>
          <p:cNvSpPr/>
          <p:nvPr/>
        </p:nvSpPr>
        <p:spPr>
          <a:xfrm>
            <a:off x="7772400" y="2066544"/>
            <a:ext cx="3749040" cy="3310128"/>
          </a:xfrm>
          <a:prstGeom prst="roundRect">
            <a:avLst>
              <a:gd name="adj" fmla="val 3867"/>
            </a:avLst>
          </a:prstGeom>
          <a:solidFill>
            <a:srgbClr val="FFF8F3"/>
          </a:solidFill>
          <a:ln w="12700">
            <a:solidFill>
              <a:srgbClr val="E7DEE8"/>
            </a:solidFill>
            <a:prstDash val="solid"/>
          </a:ln>
        </p:spPr>
      </p:sp>
      <p:pic>
        <p:nvPicPr>
          <p:cNvPr id="35" name="Image 0" descr="D:\squishy-smash\docs\marketing\squishy_smash_deck_package\assets\staged\card_blushy_bun_bunny.jpg">    </p:cNvPr>
          <p:cNvPicPr>
            <a:picLocks noChangeAspect="1"/>
          </p:cNvPicPr>
          <p:nvPr/>
        </p:nvPicPr>
        <p:blipFill>
          <a:blip r:embed="rId1"/>
          <a:stretch>
            <a:fillRect/>
          </a:stretch>
        </p:blipFill>
        <p:spPr>
          <a:xfrm>
            <a:off x="8625078" y="2249424"/>
            <a:ext cx="2043684" cy="2724912"/>
          </a:xfrm>
          <a:prstGeom prst="rect">
            <a:avLst/>
          </a:prstGeom>
        </p:spPr>
      </p:pic>
      <p:sp>
        <p:nvSpPr>
          <p:cNvPr id="36" name="Text 33"/>
          <p:cNvSpPr/>
          <p:nvPr/>
        </p:nvSpPr>
        <p:spPr>
          <a:xfrm>
            <a:off x="7863840" y="5010912"/>
            <a:ext cx="3566160" cy="274320"/>
          </a:xfrm>
          <a:prstGeom prst="rect">
            <a:avLst/>
          </a:prstGeom>
          <a:noFill/>
          <a:ln/>
        </p:spPr>
        <p:txBody>
          <a:bodyPr wrap="square" rtlCol="0" anchor="ctr"/>
          <a:lstStyle/>
          <a:p>
            <a:pPr algn="ctr" indent="0" marL="0">
              <a:buNone/>
            </a:pPr>
            <a:r>
              <a:rPr lang="en-US" sz="950" i="1" dirty="0">
                <a:solidFill>
                  <a:srgbClr val="7C6E86"/>
                </a:solidFill>
                <a:latin typeface="Arial" pitchFamily="34" charset="0"/>
                <a:ea typeface="Arial" pitchFamily="34" charset="-122"/>
                <a:cs typeface="Arial" pitchFamily="34" charset="-120"/>
              </a:rPr>
              <a:t>Existing trading card — design reference</a:t>
            </a:r>
            <a:endParaRPr lang="en-US" sz="950" dirty="0"/>
          </a:p>
        </p:txBody>
      </p:sp>
      <p:sp>
        <p:nvSpPr>
          <p:cNvPr id="37" name="Text 34"/>
          <p:cNvSpPr/>
          <p:nvPr/>
        </p:nvSpPr>
        <p:spPr>
          <a:xfrm>
            <a:off x="658368" y="6053328"/>
            <a:ext cx="10881360" cy="384048"/>
          </a:xfrm>
          <a:prstGeom prst="rect">
            <a:avLst/>
          </a:prstGeom>
          <a:noFill/>
          <a:ln/>
        </p:spPr>
        <p:txBody>
          <a:bodyPr wrap="square" rtlCol="0" anchor="t"/>
          <a:lstStyle/>
          <a:p>
            <a:pPr indent="0" marL="0">
              <a:buNone/>
            </a:pPr>
            <a:r>
              <a:rPr lang="en-US" sz="1050" i="1" dirty="0">
                <a:solidFill>
                  <a:srgbClr val="7C6E86"/>
                </a:solidFill>
                <a:latin typeface="Arial" pitchFamily="34" charset="0"/>
                <a:ea typeface="Arial" pitchFamily="34" charset="-122"/>
                <a:cs typeface="Arial" pitchFamily="34" charset="-120"/>
              </a:rPr>
              <a:t>Concept direction only. Existing trading card shown as a design reference, not as final packaging artwork.</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10</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C4306E"/>
                </a:solidFill>
                <a:latin typeface="Arial" pitchFamily="34" charset="0"/>
                <a:ea typeface="Arial" pitchFamily="34" charset="-122"/>
                <a:cs typeface="Arial" pitchFamily="34" charset="-120"/>
              </a:rPr>
              <a:t>TARGET AUDIENCE</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Who Squishy Smash Is Built For</a:t>
            </a:r>
            <a:endParaRPr lang="en-US" sz="3000" dirty="0"/>
          </a:p>
        </p:txBody>
      </p:sp>
      <p:sp>
        <p:nvSpPr>
          <p:cNvPr id="6" name="Shape 4"/>
          <p:cNvSpPr/>
          <p:nvPr/>
        </p:nvSpPr>
        <p:spPr>
          <a:xfrm>
            <a:off x="658368" y="1737360"/>
            <a:ext cx="786384" cy="50292"/>
          </a:xfrm>
          <a:prstGeom prst="rect">
            <a:avLst/>
          </a:prstGeom>
          <a:solidFill>
            <a:srgbClr val="C4306E"/>
          </a:solidFill>
          <a:ln w="12700">
            <a:solidFill>
              <a:srgbClr val="333333"/>
            </a:solidFill>
            <a:prstDash val="solid"/>
          </a:ln>
        </p:spPr>
      </p:sp>
      <p:sp>
        <p:nvSpPr>
          <p:cNvPr id="7" name="Shape 5"/>
          <p:cNvSpPr/>
          <p:nvPr/>
        </p:nvSpPr>
        <p:spPr>
          <a:xfrm>
            <a:off x="658368" y="2084832"/>
            <a:ext cx="4846320" cy="1371600"/>
          </a:xfrm>
          <a:prstGeom prst="roundRect">
            <a:avLst>
              <a:gd name="adj" fmla="val 9333"/>
            </a:avLst>
          </a:prstGeom>
          <a:solidFill>
            <a:srgbClr val="120B17"/>
          </a:solidFill>
          <a:ln w="12700">
            <a:solidFill>
              <a:srgbClr val="333333"/>
            </a:solidFill>
            <a:prstDash val="solid"/>
          </a:ln>
        </p:spPr>
      </p:sp>
      <p:sp>
        <p:nvSpPr>
          <p:cNvPr id="8" name="Text 6"/>
          <p:cNvSpPr/>
          <p:nvPr/>
        </p:nvSpPr>
        <p:spPr>
          <a:xfrm>
            <a:off x="987552" y="2304288"/>
            <a:ext cx="4206240" cy="237744"/>
          </a:xfrm>
          <a:prstGeom prst="rect">
            <a:avLst/>
          </a:prstGeom>
          <a:noFill/>
          <a:ln/>
        </p:spPr>
        <p:txBody>
          <a:bodyPr wrap="square" rtlCol="0" anchor="ctr"/>
          <a:lstStyle/>
          <a:p>
            <a:pPr indent="0" marL="0">
              <a:buNone/>
            </a:pPr>
            <a:r>
              <a:rPr lang="en-US" sz="950" b="1" spc="140" kern="0" dirty="0">
                <a:solidFill>
                  <a:srgbClr val="FFD36E"/>
                </a:solidFill>
                <a:latin typeface="Arial" pitchFamily="34" charset="0"/>
                <a:ea typeface="Arial" pitchFamily="34" charset="-122"/>
                <a:cs typeface="Arial" pitchFamily="34" charset="-120"/>
              </a:rPr>
              <a:t>PRIMARY AUDIENCE</a:t>
            </a:r>
            <a:endParaRPr lang="en-US" sz="950" dirty="0"/>
          </a:p>
        </p:txBody>
      </p:sp>
      <p:sp>
        <p:nvSpPr>
          <p:cNvPr id="9" name="Text 7"/>
          <p:cNvSpPr/>
          <p:nvPr/>
        </p:nvSpPr>
        <p:spPr>
          <a:xfrm>
            <a:off x="987552" y="2596896"/>
            <a:ext cx="4297680" cy="640080"/>
          </a:xfrm>
          <a:prstGeom prst="rect">
            <a:avLst/>
          </a:prstGeom>
          <a:noFill/>
          <a:ln/>
        </p:spPr>
        <p:txBody>
          <a:bodyPr wrap="square"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Children approximately ages 4–10</a:t>
            </a:r>
            <a:endParaRPr lang="en-US" sz="1900" dirty="0"/>
          </a:p>
        </p:txBody>
      </p:sp>
      <p:sp>
        <p:nvSpPr>
          <p:cNvPr id="10" name="Text 8"/>
          <p:cNvSpPr/>
          <p:nvPr/>
        </p:nvSpPr>
        <p:spPr>
          <a:xfrm>
            <a:off x="658368" y="3712464"/>
            <a:ext cx="4846320" cy="237744"/>
          </a:xfrm>
          <a:prstGeom prst="rect">
            <a:avLst/>
          </a:prstGeom>
          <a:noFill/>
          <a:ln/>
        </p:spPr>
        <p:txBody>
          <a:bodyPr wrap="square" rtlCol="0" anchor="ctr"/>
          <a:lstStyle/>
          <a:p>
            <a:pPr indent="0" marL="0">
              <a:buNone/>
            </a:pPr>
            <a:r>
              <a:rPr lang="en-US" sz="950" b="1" spc="140" kern="0" dirty="0">
                <a:solidFill>
                  <a:srgbClr val="6E37B0"/>
                </a:solidFill>
                <a:latin typeface="Arial" pitchFamily="34" charset="0"/>
                <a:ea typeface="Arial" pitchFamily="34" charset="-122"/>
                <a:cs typeface="Arial" pitchFamily="34" charset="-120"/>
              </a:rPr>
              <a:t>SECONDARY AUDIENCES</a:t>
            </a:r>
            <a:endParaRPr lang="en-US" sz="950" dirty="0"/>
          </a:p>
        </p:txBody>
      </p:sp>
      <p:sp>
        <p:nvSpPr>
          <p:cNvPr id="11" name="Shape 9"/>
          <p:cNvSpPr/>
          <p:nvPr/>
        </p:nvSpPr>
        <p:spPr>
          <a:xfrm>
            <a:off x="658368" y="4121658"/>
            <a:ext cx="91440" cy="91440"/>
          </a:xfrm>
          <a:prstGeom prst="ellipse">
            <a:avLst/>
          </a:prstGeom>
          <a:solidFill>
            <a:srgbClr val="6E37B0"/>
          </a:solidFill>
          <a:ln w="12700">
            <a:solidFill>
              <a:srgbClr val="333333"/>
            </a:solidFill>
            <a:prstDash val="solid"/>
          </a:ln>
        </p:spPr>
      </p:sp>
      <p:sp>
        <p:nvSpPr>
          <p:cNvPr id="12" name="Text 10"/>
          <p:cNvSpPr/>
          <p:nvPr/>
        </p:nvSpPr>
        <p:spPr>
          <a:xfrm>
            <a:off x="859536" y="4023360"/>
            <a:ext cx="4553712" cy="384048"/>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Parents buying gifts</a:t>
            </a:r>
            <a:endParaRPr lang="en-US" sz="1250" dirty="0"/>
          </a:p>
        </p:txBody>
      </p:sp>
      <p:sp>
        <p:nvSpPr>
          <p:cNvPr id="13" name="Shape 11"/>
          <p:cNvSpPr/>
          <p:nvPr/>
        </p:nvSpPr>
        <p:spPr>
          <a:xfrm>
            <a:off x="658368" y="4505706"/>
            <a:ext cx="91440" cy="91440"/>
          </a:xfrm>
          <a:prstGeom prst="ellipse">
            <a:avLst/>
          </a:prstGeom>
          <a:solidFill>
            <a:srgbClr val="6E37B0"/>
          </a:solidFill>
          <a:ln w="12700">
            <a:solidFill>
              <a:srgbClr val="333333"/>
            </a:solidFill>
            <a:prstDash val="solid"/>
          </a:ln>
        </p:spPr>
      </p:sp>
      <p:sp>
        <p:nvSpPr>
          <p:cNvPr id="14" name="Text 12"/>
          <p:cNvSpPr/>
          <p:nvPr/>
        </p:nvSpPr>
        <p:spPr>
          <a:xfrm>
            <a:off x="859536" y="4407408"/>
            <a:ext cx="4553712" cy="384048"/>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Collectible toy fans</a:t>
            </a:r>
            <a:endParaRPr lang="en-US" sz="1250" dirty="0"/>
          </a:p>
        </p:txBody>
      </p:sp>
      <p:sp>
        <p:nvSpPr>
          <p:cNvPr id="15" name="Shape 13"/>
          <p:cNvSpPr/>
          <p:nvPr/>
        </p:nvSpPr>
        <p:spPr>
          <a:xfrm>
            <a:off x="658368" y="4889754"/>
            <a:ext cx="91440" cy="91440"/>
          </a:xfrm>
          <a:prstGeom prst="ellipse">
            <a:avLst/>
          </a:prstGeom>
          <a:solidFill>
            <a:srgbClr val="6E37B0"/>
          </a:solidFill>
          <a:ln w="12700">
            <a:solidFill>
              <a:srgbClr val="333333"/>
            </a:solidFill>
            <a:prstDash val="solid"/>
          </a:ln>
        </p:spPr>
      </p:sp>
      <p:sp>
        <p:nvSpPr>
          <p:cNvPr id="16" name="Text 14"/>
          <p:cNvSpPr/>
          <p:nvPr/>
        </p:nvSpPr>
        <p:spPr>
          <a:xfrm>
            <a:off x="859536" y="4791456"/>
            <a:ext cx="4553712" cy="384048"/>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Roblox and mobile game players</a:t>
            </a:r>
            <a:endParaRPr lang="en-US" sz="1250" dirty="0"/>
          </a:p>
        </p:txBody>
      </p:sp>
      <p:sp>
        <p:nvSpPr>
          <p:cNvPr id="17" name="Shape 15"/>
          <p:cNvSpPr/>
          <p:nvPr/>
        </p:nvSpPr>
        <p:spPr>
          <a:xfrm>
            <a:off x="658368" y="5273802"/>
            <a:ext cx="91440" cy="91440"/>
          </a:xfrm>
          <a:prstGeom prst="ellipse">
            <a:avLst/>
          </a:prstGeom>
          <a:solidFill>
            <a:srgbClr val="6E37B0"/>
          </a:solidFill>
          <a:ln w="12700">
            <a:solidFill>
              <a:srgbClr val="333333"/>
            </a:solidFill>
            <a:prstDash val="solid"/>
          </a:ln>
        </p:spPr>
      </p:sp>
      <p:sp>
        <p:nvSpPr>
          <p:cNvPr id="18" name="Text 16"/>
          <p:cNvSpPr/>
          <p:nvPr/>
        </p:nvSpPr>
        <p:spPr>
          <a:xfrm>
            <a:off x="859536" y="5175504"/>
            <a:ext cx="4553712" cy="384048"/>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Book readers</a:t>
            </a:r>
            <a:endParaRPr lang="en-US" sz="1250" dirty="0"/>
          </a:p>
        </p:txBody>
      </p:sp>
      <p:sp>
        <p:nvSpPr>
          <p:cNvPr id="19" name="Shape 17"/>
          <p:cNvSpPr/>
          <p:nvPr/>
        </p:nvSpPr>
        <p:spPr>
          <a:xfrm>
            <a:off x="658368" y="5657850"/>
            <a:ext cx="91440" cy="91440"/>
          </a:xfrm>
          <a:prstGeom prst="ellipse">
            <a:avLst/>
          </a:prstGeom>
          <a:solidFill>
            <a:srgbClr val="6E37B0"/>
          </a:solidFill>
          <a:ln w="12700">
            <a:solidFill>
              <a:srgbClr val="333333"/>
            </a:solidFill>
            <a:prstDash val="solid"/>
          </a:ln>
        </p:spPr>
      </p:sp>
      <p:sp>
        <p:nvSpPr>
          <p:cNvPr id="20" name="Text 18"/>
          <p:cNvSpPr/>
          <p:nvPr/>
        </p:nvSpPr>
        <p:spPr>
          <a:xfrm>
            <a:off x="859536" y="5559552"/>
            <a:ext cx="4553712" cy="384048"/>
          </a:xfrm>
          <a:prstGeom prst="rect">
            <a:avLst/>
          </a:prstGeom>
          <a:noFill/>
          <a:ln/>
        </p:spPr>
        <p:txBody>
          <a:bodyPr wrap="square" rtlCol="0" anchor="t"/>
          <a:lstStyle/>
          <a:p>
            <a:pPr indent="0" marL="0">
              <a:buNone/>
            </a:pPr>
            <a:r>
              <a:rPr lang="en-US" sz="1250" dirty="0">
                <a:solidFill>
                  <a:srgbClr val="120B17"/>
                </a:solidFill>
                <a:latin typeface="Arial" pitchFamily="34" charset="0"/>
                <a:ea typeface="Arial" pitchFamily="34" charset="-122"/>
                <a:cs typeface="Arial" pitchFamily="34" charset="-120"/>
              </a:rPr>
              <a:t>Teachers and family gift buyers</a:t>
            </a:r>
            <a:endParaRPr lang="en-US" sz="1250" dirty="0"/>
          </a:p>
        </p:txBody>
      </p:sp>
      <p:sp>
        <p:nvSpPr>
          <p:cNvPr id="21" name="Text 19"/>
          <p:cNvSpPr/>
          <p:nvPr/>
        </p:nvSpPr>
        <p:spPr>
          <a:xfrm>
            <a:off x="6355080" y="2084832"/>
            <a:ext cx="5175504" cy="237744"/>
          </a:xfrm>
          <a:prstGeom prst="rect">
            <a:avLst/>
          </a:prstGeom>
          <a:noFill/>
          <a:ln/>
        </p:spPr>
        <p:txBody>
          <a:bodyPr wrap="square" rtlCol="0" anchor="ctr"/>
          <a:lstStyle/>
          <a:p>
            <a:pPr indent="0" marL="0">
              <a:buNone/>
            </a:pPr>
            <a:r>
              <a:rPr lang="en-US" sz="950" b="1" spc="140" kern="0" dirty="0">
                <a:solidFill>
                  <a:srgbClr val="A8761B"/>
                </a:solidFill>
                <a:latin typeface="Arial" pitchFamily="34" charset="0"/>
                <a:ea typeface="Arial" pitchFamily="34" charset="-122"/>
                <a:cs typeface="Arial" pitchFamily="34" charset="-120"/>
              </a:rPr>
              <a:t>PURCHASE OCCASIONS</a:t>
            </a:r>
            <a:endParaRPr lang="en-US" sz="950" dirty="0"/>
          </a:p>
        </p:txBody>
      </p:sp>
      <p:sp>
        <p:nvSpPr>
          <p:cNvPr id="22" name="Shape 20"/>
          <p:cNvSpPr/>
          <p:nvPr/>
        </p:nvSpPr>
        <p:spPr>
          <a:xfrm>
            <a:off x="6355080" y="2414016"/>
            <a:ext cx="1586484" cy="329184"/>
          </a:xfrm>
          <a:prstGeom prst="roundRect">
            <a:avLst>
              <a:gd name="adj" fmla="val 138889"/>
            </a:avLst>
          </a:prstGeom>
          <a:solidFill>
            <a:srgbClr val="FFF8F3"/>
          </a:solidFill>
          <a:ln w="12700">
            <a:solidFill>
              <a:srgbClr val="333333"/>
            </a:solidFill>
            <a:prstDash val="solid"/>
          </a:ln>
        </p:spPr>
      </p:sp>
      <p:sp>
        <p:nvSpPr>
          <p:cNvPr id="23" name="Text 21"/>
          <p:cNvSpPr/>
          <p:nvPr/>
        </p:nvSpPr>
        <p:spPr>
          <a:xfrm>
            <a:off x="6355080" y="2414016"/>
            <a:ext cx="1586484" cy="329184"/>
          </a:xfrm>
          <a:prstGeom prst="rect">
            <a:avLst/>
          </a:prstGeom>
          <a:noFill/>
          <a:ln/>
        </p:spPr>
        <p:txBody>
          <a:bodyPr wrap="square" rtlCol="0" anchor="ctr"/>
          <a:lstStyle/>
          <a:p>
            <a:pPr algn="ctr" indent="0" marL="0">
              <a:buNone/>
            </a:pPr>
            <a:r>
              <a:rPr lang="en-US" sz="950" b="1" dirty="0">
                <a:solidFill>
                  <a:srgbClr val="A8761B"/>
                </a:solidFill>
                <a:latin typeface="Arial" pitchFamily="34" charset="0"/>
                <a:ea typeface="Arial" pitchFamily="34" charset="-122"/>
                <a:cs typeface="Arial" pitchFamily="34" charset="-120"/>
              </a:rPr>
              <a:t>Birthdays</a:t>
            </a:r>
            <a:endParaRPr lang="en-US" sz="950" dirty="0"/>
          </a:p>
        </p:txBody>
      </p:sp>
      <p:sp>
        <p:nvSpPr>
          <p:cNvPr id="24" name="Shape 22"/>
          <p:cNvSpPr/>
          <p:nvPr/>
        </p:nvSpPr>
        <p:spPr>
          <a:xfrm>
            <a:off x="8069580" y="2414016"/>
            <a:ext cx="1463040" cy="329184"/>
          </a:xfrm>
          <a:prstGeom prst="roundRect">
            <a:avLst>
              <a:gd name="adj" fmla="val 138889"/>
            </a:avLst>
          </a:prstGeom>
          <a:solidFill>
            <a:srgbClr val="FFF8F3"/>
          </a:solidFill>
          <a:ln w="12700">
            <a:solidFill>
              <a:srgbClr val="333333"/>
            </a:solidFill>
            <a:prstDash val="solid"/>
          </a:ln>
        </p:spPr>
      </p:sp>
      <p:sp>
        <p:nvSpPr>
          <p:cNvPr id="25" name="Text 23"/>
          <p:cNvSpPr/>
          <p:nvPr/>
        </p:nvSpPr>
        <p:spPr>
          <a:xfrm>
            <a:off x="8069580" y="2414016"/>
            <a:ext cx="1463040" cy="329184"/>
          </a:xfrm>
          <a:prstGeom prst="rect">
            <a:avLst/>
          </a:prstGeom>
          <a:noFill/>
          <a:ln/>
        </p:spPr>
        <p:txBody>
          <a:bodyPr wrap="square" rtlCol="0" anchor="ctr"/>
          <a:lstStyle/>
          <a:p>
            <a:pPr algn="ctr" indent="0" marL="0">
              <a:buNone/>
            </a:pPr>
            <a:r>
              <a:rPr lang="en-US" sz="950" b="1" dirty="0">
                <a:solidFill>
                  <a:srgbClr val="A8761B"/>
                </a:solidFill>
                <a:latin typeface="Arial" pitchFamily="34" charset="0"/>
                <a:ea typeface="Arial" pitchFamily="34" charset="-122"/>
                <a:cs typeface="Arial" pitchFamily="34" charset="-120"/>
              </a:rPr>
              <a:t>Holidays</a:t>
            </a:r>
            <a:endParaRPr lang="en-US" sz="950" dirty="0"/>
          </a:p>
        </p:txBody>
      </p:sp>
      <p:sp>
        <p:nvSpPr>
          <p:cNvPr id="26" name="Shape 24"/>
          <p:cNvSpPr/>
          <p:nvPr/>
        </p:nvSpPr>
        <p:spPr>
          <a:xfrm>
            <a:off x="9660636" y="2414016"/>
            <a:ext cx="1339596" cy="329184"/>
          </a:xfrm>
          <a:prstGeom prst="roundRect">
            <a:avLst>
              <a:gd name="adj" fmla="val 138889"/>
            </a:avLst>
          </a:prstGeom>
          <a:solidFill>
            <a:srgbClr val="FFF8F3"/>
          </a:solidFill>
          <a:ln w="12700">
            <a:solidFill>
              <a:srgbClr val="333333"/>
            </a:solidFill>
            <a:prstDash val="solid"/>
          </a:ln>
        </p:spPr>
      </p:sp>
      <p:sp>
        <p:nvSpPr>
          <p:cNvPr id="27" name="Text 25"/>
          <p:cNvSpPr/>
          <p:nvPr/>
        </p:nvSpPr>
        <p:spPr>
          <a:xfrm>
            <a:off x="9660636" y="2414016"/>
            <a:ext cx="1339596" cy="329184"/>
          </a:xfrm>
          <a:prstGeom prst="rect">
            <a:avLst/>
          </a:prstGeom>
          <a:noFill/>
          <a:ln/>
        </p:spPr>
        <p:txBody>
          <a:bodyPr wrap="square" rtlCol="0" anchor="ctr"/>
          <a:lstStyle/>
          <a:p>
            <a:pPr algn="ctr" indent="0" marL="0">
              <a:buNone/>
            </a:pPr>
            <a:r>
              <a:rPr lang="en-US" sz="950" b="1" dirty="0">
                <a:solidFill>
                  <a:srgbClr val="A8761B"/>
                </a:solidFill>
                <a:latin typeface="Arial" pitchFamily="34" charset="0"/>
                <a:ea typeface="Arial" pitchFamily="34" charset="-122"/>
                <a:cs typeface="Arial" pitchFamily="34" charset="-120"/>
              </a:rPr>
              <a:t>Rewards</a:t>
            </a:r>
            <a:endParaRPr lang="en-US" sz="950" dirty="0"/>
          </a:p>
        </p:txBody>
      </p:sp>
      <p:sp>
        <p:nvSpPr>
          <p:cNvPr id="28" name="Shape 26"/>
          <p:cNvSpPr/>
          <p:nvPr/>
        </p:nvSpPr>
        <p:spPr>
          <a:xfrm>
            <a:off x="6355080" y="2834640"/>
            <a:ext cx="2574036" cy="329184"/>
          </a:xfrm>
          <a:prstGeom prst="roundRect">
            <a:avLst>
              <a:gd name="adj" fmla="val 138889"/>
            </a:avLst>
          </a:prstGeom>
          <a:solidFill>
            <a:srgbClr val="FFF8F3"/>
          </a:solidFill>
          <a:ln w="12700">
            <a:solidFill>
              <a:srgbClr val="333333"/>
            </a:solidFill>
            <a:prstDash val="solid"/>
          </a:ln>
        </p:spPr>
      </p:sp>
      <p:sp>
        <p:nvSpPr>
          <p:cNvPr id="29" name="Text 27"/>
          <p:cNvSpPr/>
          <p:nvPr/>
        </p:nvSpPr>
        <p:spPr>
          <a:xfrm>
            <a:off x="6355080" y="2834640"/>
            <a:ext cx="2574036" cy="329184"/>
          </a:xfrm>
          <a:prstGeom prst="rect">
            <a:avLst/>
          </a:prstGeom>
          <a:noFill/>
          <a:ln/>
        </p:spPr>
        <p:txBody>
          <a:bodyPr wrap="square" rtlCol="0" anchor="ctr"/>
          <a:lstStyle/>
          <a:p>
            <a:pPr algn="ctr" indent="0" marL="0">
              <a:buNone/>
            </a:pPr>
            <a:r>
              <a:rPr lang="en-US" sz="950" b="1" dirty="0">
                <a:solidFill>
                  <a:srgbClr val="A8761B"/>
                </a:solidFill>
                <a:latin typeface="Arial" pitchFamily="34" charset="0"/>
                <a:ea typeface="Arial" pitchFamily="34" charset="-122"/>
                <a:cs typeface="Arial" pitchFamily="34" charset="-120"/>
              </a:rPr>
              <a:t>Stocking stuffers</a:t>
            </a:r>
            <a:endParaRPr lang="en-US" sz="950" dirty="0"/>
          </a:p>
        </p:txBody>
      </p:sp>
      <p:sp>
        <p:nvSpPr>
          <p:cNvPr id="30" name="Shape 28"/>
          <p:cNvSpPr/>
          <p:nvPr/>
        </p:nvSpPr>
        <p:spPr>
          <a:xfrm>
            <a:off x="9057132" y="2834640"/>
            <a:ext cx="1956816" cy="329184"/>
          </a:xfrm>
          <a:prstGeom prst="roundRect">
            <a:avLst>
              <a:gd name="adj" fmla="val 138889"/>
            </a:avLst>
          </a:prstGeom>
          <a:solidFill>
            <a:srgbClr val="FFF8F3"/>
          </a:solidFill>
          <a:ln w="12700">
            <a:solidFill>
              <a:srgbClr val="333333"/>
            </a:solidFill>
            <a:prstDash val="solid"/>
          </a:ln>
        </p:spPr>
      </p:sp>
      <p:sp>
        <p:nvSpPr>
          <p:cNvPr id="31" name="Text 29"/>
          <p:cNvSpPr/>
          <p:nvPr/>
        </p:nvSpPr>
        <p:spPr>
          <a:xfrm>
            <a:off x="9057132" y="2834640"/>
            <a:ext cx="1956816" cy="329184"/>
          </a:xfrm>
          <a:prstGeom prst="rect">
            <a:avLst/>
          </a:prstGeom>
          <a:noFill/>
          <a:ln/>
        </p:spPr>
        <p:txBody>
          <a:bodyPr wrap="square" rtlCol="0" anchor="ctr"/>
          <a:lstStyle/>
          <a:p>
            <a:pPr algn="ctr" indent="0" marL="0">
              <a:buNone/>
            </a:pPr>
            <a:r>
              <a:rPr lang="en-US" sz="950" b="1" dirty="0">
                <a:solidFill>
                  <a:srgbClr val="A8761B"/>
                </a:solidFill>
                <a:latin typeface="Arial" pitchFamily="34" charset="0"/>
                <a:ea typeface="Arial" pitchFamily="34" charset="-122"/>
                <a:cs typeface="Arial" pitchFamily="34" charset="-120"/>
              </a:rPr>
              <a:t>Book bundles</a:t>
            </a:r>
            <a:endParaRPr lang="en-US" sz="950" dirty="0"/>
          </a:p>
        </p:txBody>
      </p:sp>
      <p:sp>
        <p:nvSpPr>
          <p:cNvPr id="32" name="Shape 30"/>
          <p:cNvSpPr/>
          <p:nvPr/>
        </p:nvSpPr>
        <p:spPr>
          <a:xfrm>
            <a:off x="6355080" y="3255264"/>
            <a:ext cx="2450592" cy="329184"/>
          </a:xfrm>
          <a:prstGeom prst="roundRect">
            <a:avLst>
              <a:gd name="adj" fmla="val 138889"/>
            </a:avLst>
          </a:prstGeom>
          <a:solidFill>
            <a:srgbClr val="FFF8F3"/>
          </a:solidFill>
          <a:ln w="12700">
            <a:solidFill>
              <a:srgbClr val="333333"/>
            </a:solidFill>
            <a:prstDash val="solid"/>
          </a:ln>
        </p:spPr>
      </p:sp>
      <p:sp>
        <p:nvSpPr>
          <p:cNvPr id="33" name="Text 31"/>
          <p:cNvSpPr/>
          <p:nvPr/>
        </p:nvSpPr>
        <p:spPr>
          <a:xfrm>
            <a:off x="6355080" y="3255264"/>
            <a:ext cx="2450592" cy="329184"/>
          </a:xfrm>
          <a:prstGeom prst="rect">
            <a:avLst/>
          </a:prstGeom>
          <a:noFill/>
          <a:ln/>
        </p:spPr>
        <p:txBody>
          <a:bodyPr wrap="square" rtlCol="0" anchor="ctr"/>
          <a:lstStyle/>
          <a:p>
            <a:pPr algn="ctr" indent="0" marL="0">
              <a:buNone/>
            </a:pPr>
            <a:r>
              <a:rPr lang="en-US" sz="950" b="1" dirty="0">
                <a:solidFill>
                  <a:srgbClr val="A8761B"/>
                </a:solidFill>
                <a:latin typeface="Arial" pitchFamily="34" charset="0"/>
                <a:ea typeface="Arial" pitchFamily="34" charset="-122"/>
                <a:cs typeface="Arial" pitchFamily="34" charset="-120"/>
              </a:rPr>
              <a:t>Collectible play</a:t>
            </a:r>
            <a:endParaRPr lang="en-US" sz="950" dirty="0"/>
          </a:p>
        </p:txBody>
      </p:sp>
      <p:sp>
        <p:nvSpPr>
          <p:cNvPr id="34" name="Shape 32"/>
          <p:cNvSpPr/>
          <p:nvPr/>
        </p:nvSpPr>
        <p:spPr>
          <a:xfrm>
            <a:off x="7892186" y="3896258"/>
            <a:ext cx="2320747" cy="2320747"/>
          </a:xfrm>
          <a:prstGeom prst="ellipse">
            <a:avLst/>
          </a:prstGeom>
          <a:solidFill>
            <a:srgbClr val="FFF0F6"/>
          </a:solidFill>
          <a:ln w="12700">
            <a:solidFill>
              <a:srgbClr val="333333"/>
            </a:solidFill>
            <a:prstDash val="solid"/>
          </a:ln>
        </p:spPr>
      </p:sp>
      <p:pic>
        <p:nvPicPr>
          <p:cNvPr id="35" name="Image 0" descr="D:\squishy-smash\docs\marketing\squishy_smash_deck_package\assets\staged\sprite_blushy_bun_bunny.png">    </p:cNvPr>
          <p:cNvPicPr>
            <a:picLocks noChangeAspect="1"/>
          </p:cNvPicPr>
          <p:nvPr/>
        </p:nvPicPr>
        <p:blipFill>
          <a:blip r:embed="rId1"/>
          <a:stretch>
            <a:fillRect/>
          </a:stretch>
        </p:blipFill>
        <p:spPr>
          <a:xfrm>
            <a:off x="8015630" y="4019702"/>
            <a:ext cx="2073859" cy="2073859"/>
          </a:xfrm>
          <a:prstGeom prst="rect">
            <a:avLst/>
          </a:prstGeom>
        </p:spPr>
      </p:pic>
      <p:sp>
        <p:nvSpPr>
          <p:cNvPr id="36" name="Text 33"/>
          <p:cNvSpPr/>
          <p:nvPr/>
        </p:nvSpPr>
        <p:spPr>
          <a:xfrm>
            <a:off x="658368" y="6053328"/>
            <a:ext cx="10881360" cy="384048"/>
          </a:xfrm>
          <a:prstGeom prst="rect">
            <a:avLst/>
          </a:prstGeom>
          <a:noFill/>
          <a:ln/>
        </p:spPr>
        <p:txBody>
          <a:bodyPr wrap="square" rtlCol="0" anchor="t"/>
          <a:lstStyle/>
          <a:p>
            <a:pPr indent="0" marL="0">
              <a:buNone/>
            </a:pPr>
            <a:r>
              <a:rPr lang="en-US" sz="1050" i="1" dirty="0">
                <a:solidFill>
                  <a:srgbClr val="7C6E86"/>
                </a:solidFill>
                <a:latin typeface="Arial" pitchFamily="34" charset="0"/>
                <a:ea typeface="Arial" pitchFamily="34" charset="-122"/>
                <a:cs typeface="Arial" pitchFamily="34" charset="-120"/>
              </a:rPr>
              <a:t>Proposed age range. The final age grade must be confirmed through product design, testing and applicable toy-safety standards.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11</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6E37B0"/>
                </a:solidFill>
                <a:latin typeface="Arial" pitchFamily="34" charset="0"/>
                <a:ea typeface="Arial" pitchFamily="34" charset="-122"/>
                <a:cs typeface="Arial" pitchFamily="34" charset="-120"/>
              </a:rPr>
              <a:t>PARTNERSHIP REQUEST</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What We Are Seeking</a:t>
            </a:r>
            <a:endParaRPr lang="en-US" sz="3000" dirty="0"/>
          </a:p>
        </p:txBody>
      </p:sp>
      <p:sp>
        <p:nvSpPr>
          <p:cNvPr id="6" name="Shape 4"/>
          <p:cNvSpPr/>
          <p:nvPr/>
        </p:nvSpPr>
        <p:spPr>
          <a:xfrm>
            <a:off x="658368" y="1737360"/>
            <a:ext cx="786384" cy="50292"/>
          </a:xfrm>
          <a:prstGeom prst="rect">
            <a:avLst/>
          </a:prstGeom>
          <a:solidFill>
            <a:srgbClr val="6E37B0"/>
          </a:solidFill>
          <a:ln w="12700">
            <a:solidFill>
              <a:srgbClr val="333333"/>
            </a:solidFill>
            <a:prstDash val="solid"/>
          </a:ln>
        </p:spPr>
      </p:sp>
      <p:sp>
        <p:nvSpPr>
          <p:cNvPr id="7" name="Shape 5"/>
          <p:cNvSpPr/>
          <p:nvPr/>
        </p:nvSpPr>
        <p:spPr>
          <a:xfrm>
            <a:off x="658368" y="2084832"/>
            <a:ext cx="3502152" cy="786384"/>
          </a:xfrm>
          <a:prstGeom prst="roundRect">
            <a:avLst>
              <a:gd name="adj" fmla="val 16279"/>
            </a:avLst>
          </a:prstGeom>
          <a:solidFill>
            <a:srgbClr val="FFFFFF"/>
          </a:solidFill>
          <a:ln w="12700">
            <a:solidFill>
              <a:srgbClr val="E7DEE8"/>
            </a:solidFill>
            <a:prstDash val="solid"/>
          </a:ln>
        </p:spPr>
      </p:sp>
      <p:sp>
        <p:nvSpPr>
          <p:cNvPr id="8" name="Shape 6"/>
          <p:cNvSpPr/>
          <p:nvPr/>
        </p:nvSpPr>
        <p:spPr>
          <a:xfrm>
            <a:off x="896112" y="2377440"/>
            <a:ext cx="201168" cy="201168"/>
          </a:xfrm>
          <a:prstGeom prst="ellipse">
            <a:avLst/>
          </a:prstGeom>
          <a:solidFill>
            <a:srgbClr val="C4306E"/>
          </a:solidFill>
          <a:ln w="12700">
            <a:solidFill>
              <a:srgbClr val="333333"/>
            </a:solidFill>
            <a:prstDash val="solid"/>
          </a:ln>
        </p:spPr>
      </p:sp>
      <p:sp>
        <p:nvSpPr>
          <p:cNvPr id="9" name="Text 7"/>
          <p:cNvSpPr/>
          <p:nvPr/>
        </p:nvSpPr>
        <p:spPr>
          <a:xfrm>
            <a:off x="1225296" y="2084832"/>
            <a:ext cx="2788920" cy="786384"/>
          </a:xfrm>
          <a:prstGeom prst="rect">
            <a:avLst/>
          </a:prstGeom>
          <a:noFill/>
          <a:ln/>
        </p:spPr>
        <p:txBody>
          <a:bodyPr wrap="square" rtlCol="0" anchor="ctr"/>
          <a:lstStyle/>
          <a:p>
            <a:pPr indent="0" marL="0">
              <a:buNone/>
            </a:pPr>
            <a:r>
              <a:rPr lang="en-US" sz="1250" b="1" dirty="0">
                <a:solidFill>
                  <a:srgbClr val="120B17"/>
                </a:solidFill>
                <a:latin typeface="Trebuchet MS" pitchFamily="34" charset="0"/>
                <a:ea typeface="Trebuchet MS" pitchFamily="34" charset="-122"/>
                <a:cs typeface="Trebuchet MS" pitchFamily="34" charset="-120"/>
              </a:rPr>
              <a:t>Prototype development</a:t>
            </a:r>
            <a:endParaRPr lang="en-US" sz="1250" dirty="0"/>
          </a:p>
        </p:txBody>
      </p:sp>
      <p:sp>
        <p:nvSpPr>
          <p:cNvPr id="10" name="Shape 8"/>
          <p:cNvSpPr/>
          <p:nvPr/>
        </p:nvSpPr>
        <p:spPr>
          <a:xfrm>
            <a:off x="4343400" y="2084832"/>
            <a:ext cx="3502152" cy="786384"/>
          </a:xfrm>
          <a:prstGeom prst="roundRect">
            <a:avLst>
              <a:gd name="adj" fmla="val 16279"/>
            </a:avLst>
          </a:prstGeom>
          <a:solidFill>
            <a:srgbClr val="FFFFFF"/>
          </a:solidFill>
          <a:ln w="12700">
            <a:solidFill>
              <a:srgbClr val="E7DEE8"/>
            </a:solidFill>
            <a:prstDash val="solid"/>
          </a:ln>
        </p:spPr>
      </p:sp>
      <p:sp>
        <p:nvSpPr>
          <p:cNvPr id="11" name="Shape 9"/>
          <p:cNvSpPr/>
          <p:nvPr/>
        </p:nvSpPr>
        <p:spPr>
          <a:xfrm>
            <a:off x="4581144" y="2377440"/>
            <a:ext cx="201168" cy="201168"/>
          </a:xfrm>
          <a:prstGeom prst="ellipse">
            <a:avLst/>
          </a:prstGeom>
          <a:solidFill>
            <a:srgbClr val="6E37B0"/>
          </a:solidFill>
          <a:ln w="12700">
            <a:solidFill>
              <a:srgbClr val="333333"/>
            </a:solidFill>
            <a:prstDash val="solid"/>
          </a:ln>
        </p:spPr>
      </p:sp>
      <p:sp>
        <p:nvSpPr>
          <p:cNvPr id="12" name="Text 10"/>
          <p:cNvSpPr/>
          <p:nvPr/>
        </p:nvSpPr>
        <p:spPr>
          <a:xfrm>
            <a:off x="4910328" y="2084832"/>
            <a:ext cx="2788920" cy="786384"/>
          </a:xfrm>
          <a:prstGeom prst="rect">
            <a:avLst/>
          </a:prstGeom>
          <a:noFill/>
          <a:ln/>
        </p:spPr>
        <p:txBody>
          <a:bodyPr wrap="square" rtlCol="0" anchor="ctr"/>
          <a:lstStyle/>
          <a:p>
            <a:pPr indent="0" marL="0">
              <a:buNone/>
            </a:pPr>
            <a:r>
              <a:rPr lang="en-US" sz="1250" b="1" dirty="0">
                <a:solidFill>
                  <a:srgbClr val="120B17"/>
                </a:solidFill>
                <a:latin typeface="Trebuchet MS" pitchFamily="34" charset="0"/>
                <a:ea typeface="Trebuchet MS" pitchFamily="34" charset="-122"/>
                <a:cs typeface="Trebuchet MS" pitchFamily="34" charset="-120"/>
              </a:rPr>
              <a:t>Design-for-manufacturing review</a:t>
            </a:r>
            <a:endParaRPr lang="en-US" sz="1250" dirty="0"/>
          </a:p>
        </p:txBody>
      </p:sp>
      <p:sp>
        <p:nvSpPr>
          <p:cNvPr id="13" name="Shape 11"/>
          <p:cNvSpPr/>
          <p:nvPr/>
        </p:nvSpPr>
        <p:spPr>
          <a:xfrm>
            <a:off x="8028432" y="2084832"/>
            <a:ext cx="3502152" cy="786384"/>
          </a:xfrm>
          <a:prstGeom prst="roundRect">
            <a:avLst>
              <a:gd name="adj" fmla="val 16279"/>
            </a:avLst>
          </a:prstGeom>
          <a:solidFill>
            <a:srgbClr val="FFFFFF"/>
          </a:solidFill>
          <a:ln w="12700">
            <a:solidFill>
              <a:srgbClr val="E7DEE8"/>
            </a:solidFill>
            <a:prstDash val="solid"/>
          </a:ln>
        </p:spPr>
      </p:sp>
      <p:sp>
        <p:nvSpPr>
          <p:cNvPr id="14" name="Shape 12"/>
          <p:cNvSpPr/>
          <p:nvPr/>
        </p:nvSpPr>
        <p:spPr>
          <a:xfrm>
            <a:off x="8266176" y="2377440"/>
            <a:ext cx="201168" cy="201168"/>
          </a:xfrm>
          <a:prstGeom prst="ellipse">
            <a:avLst/>
          </a:prstGeom>
          <a:solidFill>
            <a:srgbClr val="17788F"/>
          </a:solidFill>
          <a:ln w="12700">
            <a:solidFill>
              <a:srgbClr val="333333"/>
            </a:solidFill>
            <a:prstDash val="solid"/>
          </a:ln>
        </p:spPr>
      </p:sp>
      <p:sp>
        <p:nvSpPr>
          <p:cNvPr id="15" name="Text 13"/>
          <p:cNvSpPr/>
          <p:nvPr/>
        </p:nvSpPr>
        <p:spPr>
          <a:xfrm>
            <a:off x="8595360" y="2084832"/>
            <a:ext cx="2788920" cy="786384"/>
          </a:xfrm>
          <a:prstGeom prst="rect">
            <a:avLst/>
          </a:prstGeom>
          <a:noFill/>
          <a:ln/>
        </p:spPr>
        <p:txBody>
          <a:bodyPr wrap="square" rtlCol="0" anchor="ctr"/>
          <a:lstStyle/>
          <a:p>
            <a:pPr indent="0" marL="0">
              <a:buNone/>
            </a:pPr>
            <a:r>
              <a:rPr lang="en-US" sz="1250" b="1" dirty="0">
                <a:solidFill>
                  <a:srgbClr val="120B17"/>
                </a:solidFill>
                <a:latin typeface="Trebuchet MS" pitchFamily="34" charset="0"/>
                <a:ea typeface="Trebuchet MS" pitchFamily="34" charset="-122"/>
                <a:cs typeface="Trebuchet MS" pitchFamily="34" charset="-120"/>
              </a:rPr>
              <a:t>Mold and tooling estimates</a:t>
            </a:r>
            <a:endParaRPr lang="en-US" sz="1250" dirty="0"/>
          </a:p>
        </p:txBody>
      </p:sp>
      <p:sp>
        <p:nvSpPr>
          <p:cNvPr id="16" name="Shape 14"/>
          <p:cNvSpPr/>
          <p:nvPr/>
        </p:nvSpPr>
        <p:spPr>
          <a:xfrm>
            <a:off x="658368" y="3054096"/>
            <a:ext cx="3502152" cy="786384"/>
          </a:xfrm>
          <a:prstGeom prst="roundRect">
            <a:avLst>
              <a:gd name="adj" fmla="val 16279"/>
            </a:avLst>
          </a:prstGeom>
          <a:solidFill>
            <a:srgbClr val="FFFFFF"/>
          </a:solidFill>
          <a:ln w="12700">
            <a:solidFill>
              <a:srgbClr val="E7DEE8"/>
            </a:solidFill>
            <a:prstDash val="solid"/>
          </a:ln>
        </p:spPr>
      </p:sp>
      <p:sp>
        <p:nvSpPr>
          <p:cNvPr id="17" name="Shape 15"/>
          <p:cNvSpPr/>
          <p:nvPr/>
        </p:nvSpPr>
        <p:spPr>
          <a:xfrm>
            <a:off x="896112" y="3346704"/>
            <a:ext cx="201168" cy="201168"/>
          </a:xfrm>
          <a:prstGeom prst="ellipse">
            <a:avLst/>
          </a:prstGeom>
          <a:solidFill>
            <a:srgbClr val="A8761B"/>
          </a:solidFill>
          <a:ln w="12700">
            <a:solidFill>
              <a:srgbClr val="333333"/>
            </a:solidFill>
            <a:prstDash val="solid"/>
          </a:ln>
        </p:spPr>
      </p:sp>
      <p:sp>
        <p:nvSpPr>
          <p:cNvPr id="18" name="Text 16"/>
          <p:cNvSpPr/>
          <p:nvPr/>
        </p:nvSpPr>
        <p:spPr>
          <a:xfrm>
            <a:off x="1225296" y="3054096"/>
            <a:ext cx="2788920" cy="786384"/>
          </a:xfrm>
          <a:prstGeom prst="rect">
            <a:avLst/>
          </a:prstGeom>
          <a:noFill/>
          <a:ln/>
        </p:spPr>
        <p:txBody>
          <a:bodyPr wrap="square" rtlCol="0" anchor="ctr"/>
          <a:lstStyle/>
          <a:p>
            <a:pPr indent="0" marL="0">
              <a:buNone/>
            </a:pPr>
            <a:r>
              <a:rPr lang="en-US" sz="1250" b="1" dirty="0">
                <a:solidFill>
                  <a:srgbClr val="120B17"/>
                </a:solidFill>
                <a:latin typeface="Trebuchet MS" pitchFamily="34" charset="0"/>
                <a:ea typeface="Trebuchet MS" pitchFamily="34" charset="-122"/>
                <a:cs typeface="Trebuchet MS" pitchFamily="34" charset="-120"/>
              </a:rPr>
              <a:t>Minimum order quantities</a:t>
            </a:r>
            <a:endParaRPr lang="en-US" sz="1250" dirty="0"/>
          </a:p>
        </p:txBody>
      </p:sp>
      <p:sp>
        <p:nvSpPr>
          <p:cNvPr id="19" name="Shape 17"/>
          <p:cNvSpPr/>
          <p:nvPr/>
        </p:nvSpPr>
        <p:spPr>
          <a:xfrm>
            <a:off x="4343400" y="3054096"/>
            <a:ext cx="3502152" cy="786384"/>
          </a:xfrm>
          <a:prstGeom prst="roundRect">
            <a:avLst>
              <a:gd name="adj" fmla="val 16279"/>
            </a:avLst>
          </a:prstGeom>
          <a:solidFill>
            <a:srgbClr val="FFFFFF"/>
          </a:solidFill>
          <a:ln w="12700">
            <a:solidFill>
              <a:srgbClr val="E7DEE8"/>
            </a:solidFill>
            <a:prstDash val="solid"/>
          </a:ln>
        </p:spPr>
      </p:sp>
      <p:sp>
        <p:nvSpPr>
          <p:cNvPr id="20" name="Shape 18"/>
          <p:cNvSpPr/>
          <p:nvPr/>
        </p:nvSpPr>
        <p:spPr>
          <a:xfrm>
            <a:off x="4581144" y="3346704"/>
            <a:ext cx="201168" cy="201168"/>
          </a:xfrm>
          <a:prstGeom prst="ellipse">
            <a:avLst/>
          </a:prstGeom>
          <a:solidFill>
            <a:srgbClr val="4F7A18"/>
          </a:solidFill>
          <a:ln w="12700">
            <a:solidFill>
              <a:srgbClr val="333333"/>
            </a:solidFill>
            <a:prstDash val="solid"/>
          </a:ln>
        </p:spPr>
      </p:sp>
      <p:sp>
        <p:nvSpPr>
          <p:cNvPr id="21" name="Text 19"/>
          <p:cNvSpPr/>
          <p:nvPr/>
        </p:nvSpPr>
        <p:spPr>
          <a:xfrm>
            <a:off x="4910328" y="3054096"/>
            <a:ext cx="2788920" cy="786384"/>
          </a:xfrm>
          <a:prstGeom prst="rect">
            <a:avLst/>
          </a:prstGeom>
          <a:noFill/>
          <a:ln/>
        </p:spPr>
        <p:txBody>
          <a:bodyPr wrap="square" rtlCol="0" anchor="ctr"/>
          <a:lstStyle/>
          <a:p>
            <a:pPr indent="0" marL="0">
              <a:buNone/>
            </a:pPr>
            <a:r>
              <a:rPr lang="en-US" sz="1250" b="1" dirty="0">
                <a:solidFill>
                  <a:srgbClr val="120B17"/>
                </a:solidFill>
                <a:latin typeface="Trebuchet MS" pitchFamily="34" charset="0"/>
                <a:ea typeface="Trebuchet MS" pitchFamily="34" charset="-122"/>
                <a:cs typeface="Trebuchet MS" pitchFamily="34" charset="-120"/>
              </a:rPr>
              <a:t>Unit pricing at multiple volumes</a:t>
            </a:r>
            <a:endParaRPr lang="en-US" sz="1250" dirty="0"/>
          </a:p>
        </p:txBody>
      </p:sp>
      <p:sp>
        <p:nvSpPr>
          <p:cNvPr id="22" name="Shape 20"/>
          <p:cNvSpPr/>
          <p:nvPr/>
        </p:nvSpPr>
        <p:spPr>
          <a:xfrm>
            <a:off x="8028432" y="3054096"/>
            <a:ext cx="3502152" cy="786384"/>
          </a:xfrm>
          <a:prstGeom prst="roundRect">
            <a:avLst>
              <a:gd name="adj" fmla="val 16279"/>
            </a:avLst>
          </a:prstGeom>
          <a:solidFill>
            <a:srgbClr val="FFFFFF"/>
          </a:solidFill>
          <a:ln w="12700">
            <a:solidFill>
              <a:srgbClr val="E7DEE8"/>
            </a:solidFill>
            <a:prstDash val="solid"/>
          </a:ln>
        </p:spPr>
      </p:sp>
      <p:sp>
        <p:nvSpPr>
          <p:cNvPr id="23" name="Shape 21"/>
          <p:cNvSpPr/>
          <p:nvPr/>
        </p:nvSpPr>
        <p:spPr>
          <a:xfrm>
            <a:off x="8266176" y="3346704"/>
            <a:ext cx="201168" cy="201168"/>
          </a:xfrm>
          <a:prstGeom prst="ellipse">
            <a:avLst/>
          </a:prstGeom>
          <a:solidFill>
            <a:srgbClr val="C4306E"/>
          </a:solidFill>
          <a:ln w="12700">
            <a:solidFill>
              <a:srgbClr val="333333"/>
            </a:solidFill>
            <a:prstDash val="solid"/>
          </a:ln>
        </p:spPr>
      </p:sp>
      <p:sp>
        <p:nvSpPr>
          <p:cNvPr id="24" name="Text 22"/>
          <p:cNvSpPr/>
          <p:nvPr/>
        </p:nvSpPr>
        <p:spPr>
          <a:xfrm>
            <a:off x="8595360" y="3054096"/>
            <a:ext cx="2788920" cy="786384"/>
          </a:xfrm>
          <a:prstGeom prst="rect">
            <a:avLst/>
          </a:prstGeom>
          <a:noFill/>
          <a:ln/>
        </p:spPr>
        <p:txBody>
          <a:bodyPr wrap="square" rtlCol="0" anchor="ctr"/>
          <a:lstStyle/>
          <a:p>
            <a:pPr indent="0" marL="0">
              <a:buNone/>
            </a:pPr>
            <a:r>
              <a:rPr lang="en-US" sz="1250" b="1" dirty="0">
                <a:solidFill>
                  <a:srgbClr val="120B17"/>
                </a:solidFill>
                <a:latin typeface="Trebuchet MS" pitchFamily="34" charset="0"/>
                <a:ea typeface="Trebuchet MS" pitchFamily="34" charset="-122"/>
                <a:cs typeface="Trebuchet MS" pitchFamily="34" charset="-120"/>
              </a:rPr>
              <a:t>Packaging capabilities</a:t>
            </a:r>
            <a:endParaRPr lang="en-US" sz="1250" dirty="0"/>
          </a:p>
        </p:txBody>
      </p:sp>
      <p:sp>
        <p:nvSpPr>
          <p:cNvPr id="25" name="Shape 23"/>
          <p:cNvSpPr/>
          <p:nvPr/>
        </p:nvSpPr>
        <p:spPr>
          <a:xfrm>
            <a:off x="658368" y="4023360"/>
            <a:ext cx="3502152" cy="786384"/>
          </a:xfrm>
          <a:prstGeom prst="roundRect">
            <a:avLst>
              <a:gd name="adj" fmla="val 16279"/>
            </a:avLst>
          </a:prstGeom>
          <a:solidFill>
            <a:srgbClr val="FFFFFF"/>
          </a:solidFill>
          <a:ln w="12700">
            <a:solidFill>
              <a:srgbClr val="E7DEE8"/>
            </a:solidFill>
            <a:prstDash val="solid"/>
          </a:ln>
        </p:spPr>
      </p:sp>
      <p:sp>
        <p:nvSpPr>
          <p:cNvPr id="26" name="Shape 24"/>
          <p:cNvSpPr/>
          <p:nvPr/>
        </p:nvSpPr>
        <p:spPr>
          <a:xfrm>
            <a:off x="896112" y="4315968"/>
            <a:ext cx="201168" cy="201168"/>
          </a:xfrm>
          <a:prstGeom prst="ellipse">
            <a:avLst/>
          </a:prstGeom>
          <a:solidFill>
            <a:srgbClr val="6E37B0"/>
          </a:solidFill>
          <a:ln w="12700">
            <a:solidFill>
              <a:srgbClr val="333333"/>
            </a:solidFill>
            <a:prstDash val="solid"/>
          </a:ln>
        </p:spPr>
      </p:sp>
      <p:sp>
        <p:nvSpPr>
          <p:cNvPr id="27" name="Text 25"/>
          <p:cNvSpPr/>
          <p:nvPr/>
        </p:nvSpPr>
        <p:spPr>
          <a:xfrm>
            <a:off x="1225296" y="4023360"/>
            <a:ext cx="2788920" cy="786384"/>
          </a:xfrm>
          <a:prstGeom prst="rect">
            <a:avLst/>
          </a:prstGeom>
          <a:noFill/>
          <a:ln/>
        </p:spPr>
        <p:txBody>
          <a:bodyPr wrap="square" rtlCol="0" anchor="ctr"/>
          <a:lstStyle/>
          <a:p>
            <a:pPr indent="0" marL="0">
              <a:buNone/>
            </a:pPr>
            <a:r>
              <a:rPr lang="en-US" sz="1250" b="1" dirty="0">
                <a:solidFill>
                  <a:srgbClr val="120B17"/>
                </a:solidFill>
                <a:latin typeface="Trebuchet MS" pitchFamily="34" charset="0"/>
                <a:ea typeface="Trebuchet MS" pitchFamily="34" charset="-122"/>
                <a:cs typeface="Trebuchet MS" pitchFamily="34" charset="-120"/>
              </a:rPr>
              <a:t>Safety testing support</a:t>
            </a:r>
            <a:endParaRPr lang="en-US" sz="1250" dirty="0"/>
          </a:p>
        </p:txBody>
      </p:sp>
      <p:sp>
        <p:nvSpPr>
          <p:cNvPr id="28" name="Shape 26"/>
          <p:cNvSpPr/>
          <p:nvPr/>
        </p:nvSpPr>
        <p:spPr>
          <a:xfrm>
            <a:off x="4343400" y="4023360"/>
            <a:ext cx="3502152" cy="786384"/>
          </a:xfrm>
          <a:prstGeom prst="roundRect">
            <a:avLst>
              <a:gd name="adj" fmla="val 16279"/>
            </a:avLst>
          </a:prstGeom>
          <a:solidFill>
            <a:srgbClr val="FFFFFF"/>
          </a:solidFill>
          <a:ln w="12700">
            <a:solidFill>
              <a:srgbClr val="E7DEE8"/>
            </a:solidFill>
            <a:prstDash val="solid"/>
          </a:ln>
        </p:spPr>
      </p:sp>
      <p:sp>
        <p:nvSpPr>
          <p:cNvPr id="29" name="Shape 27"/>
          <p:cNvSpPr/>
          <p:nvPr/>
        </p:nvSpPr>
        <p:spPr>
          <a:xfrm>
            <a:off x="4581144" y="4315968"/>
            <a:ext cx="201168" cy="201168"/>
          </a:xfrm>
          <a:prstGeom prst="ellipse">
            <a:avLst/>
          </a:prstGeom>
          <a:solidFill>
            <a:srgbClr val="17788F"/>
          </a:solidFill>
          <a:ln w="12700">
            <a:solidFill>
              <a:srgbClr val="333333"/>
            </a:solidFill>
            <a:prstDash val="solid"/>
          </a:ln>
        </p:spPr>
      </p:sp>
      <p:sp>
        <p:nvSpPr>
          <p:cNvPr id="30" name="Text 28"/>
          <p:cNvSpPr/>
          <p:nvPr/>
        </p:nvSpPr>
        <p:spPr>
          <a:xfrm>
            <a:off x="4910328" y="4023360"/>
            <a:ext cx="2788920" cy="786384"/>
          </a:xfrm>
          <a:prstGeom prst="rect">
            <a:avLst/>
          </a:prstGeom>
          <a:noFill/>
          <a:ln/>
        </p:spPr>
        <p:txBody>
          <a:bodyPr wrap="square" rtlCol="0" anchor="ctr"/>
          <a:lstStyle/>
          <a:p>
            <a:pPr indent="0" marL="0">
              <a:buNone/>
            </a:pPr>
            <a:r>
              <a:rPr lang="en-US" sz="1250" b="1" dirty="0">
                <a:solidFill>
                  <a:srgbClr val="120B17"/>
                </a:solidFill>
                <a:latin typeface="Trebuchet MS" pitchFamily="34" charset="0"/>
                <a:ea typeface="Trebuchet MS" pitchFamily="34" charset="-122"/>
                <a:cs typeface="Trebuchet MS" pitchFamily="34" charset="-120"/>
              </a:rPr>
              <a:t>Production timelines</a:t>
            </a:r>
            <a:endParaRPr lang="en-US" sz="1250" dirty="0"/>
          </a:p>
        </p:txBody>
      </p:sp>
      <p:sp>
        <p:nvSpPr>
          <p:cNvPr id="31" name="Shape 29"/>
          <p:cNvSpPr/>
          <p:nvPr/>
        </p:nvSpPr>
        <p:spPr>
          <a:xfrm>
            <a:off x="8028432" y="4023360"/>
            <a:ext cx="3502152" cy="786384"/>
          </a:xfrm>
          <a:prstGeom prst="roundRect">
            <a:avLst>
              <a:gd name="adj" fmla="val 16279"/>
            </a:avLst>
          </a:prstGeom>
          <a:solidFill>
            <a:srgbClr val="FFFFFF"/>
          </a:solidFill>
          <a:ln w="12700">
            <a:solidFill>
              <a:srgbClr val="E7DEE8"/>
            </a:solidFill>
            <a:prstDash val="solid"/>
          </a:ln>
        </p:spPr>
      </p:sp>
      <p:sp>
        <p:nvSpPr>
          <p:cNvPr id="32" name="Shape 30"/>
          <p:cNvSpPr/>
          <p:nvPr/>
        </p:nvSpPr>
        <p:spPr>
          <a:xfrm>
            <a:off x="8266176" y="4315968"/>
            <a:ext cx="201168" cy="201168"/>
          </a:xfrm>
          <a:prstGeom prst="ellipse">
            <a:avLst/>
          </a:prstGeom>
          <a:solidFill>
            <a:srgbClr val="A8761B"/>
          </a:solidFill>
          <a:ln w="12700">
            <a:solidFill>
              <a:srgbClr val="333333"/>
            </a:solidFill>
            <a:prstDash val="solid"/>
          </a:ln>
        </p:spPr>
      </p:sp>
      <p:sp>
        <p:nvSpPr>
          <p:cNvPr id="33" name="Text 31"/>
          <p:cNvSpPr/>
          <p:nvPr/>
        </p:nvSpPr>
        <p:spPr>
          <a:xfrm>
            <a:off x="8595360" y="4023360"/>
            <a:ext cx="2788920" cy="786384"/>
          </a:xfrm>
          <a:prstGeom prst="rect">
            <a:avLst/>
          </a:prstGeom>
          <a:noFill/>
          <a:ln/>
        </p:spPr>
        <p:txBody>
          <a:bodyPr wrap="square" rtlCol="0" anchor="ctr"/>
          <a:lstStyle/>
          <a:p>
            <a:pPr indent="0" marL="0">
              <a:buNone/>
            </a:pPr>
            <a:r>
              <a:rPr lang="en-US" sz="1250" b="1" dirty="0">
                <a:solidFill>
                  <a:srgbClr val="120B17"/>
                </a:solidFill>
                <a:latin typeface="Trebuchet MS" pitchFamily="34" charset="0"/>
                <a:ea typeface="Trebuchet MS" pitchFamily="34" charset="-122"/>
                <a:cs typeface="Trebuchet MS" pitchFamily="34" charset="-120"/>
              </a:rPr>
              <a:t>Shipping and fulfilment options</a:t>
            </a:r>
            <a:endParaRPr lang="en-US" sz="1250" dirty="0"/>
          </a:p>
        </p:txBody>
      </p:sp>
      <p:sp>
        <p:nvSpPr>
          <p:cNvPr id="34" name="Shape 32"/>
          <p:cNvSpPr/>
          <p:nvPr/>
        </p:nvSpPr>
        <p:spPr>
          <a:xfrm>
            <a:off x="658368" y="5084064"/>
            <a:ext cx="10881360" cy="786384"/>
          </a:xfrm>
          <a:prstGeom prst="roundRect">
            <a:avLst>
              <a:gd name="adj" fmla="val 16279"/>
            </a:avLst>
          </a:prstGeom>
          <a:solidFill>
            <a:srgbClr val="FFF0F6"/>
          </a:solidFill>
          <a:ln w="12700">
            <a:solidFill>
              <a:srgbClr val="333333"/>
            </a:solidFill>
            <a:prstDash val="solid"/>
          </a:ln>
        </p:spPr>
      </p:sp>
      <p:sp>
        <p:nvSpPr>
          <p:cNvPr id="35" name="Text 33"/>
          <p:cNvSpPr/>
          <p:nvPr/>
        </p:nvSpPr>
        <p:spPr>
          <a:xfrm>
            <a:off x="1024128" y="5084064"/>
            <a:ext cx="10149840" cy="786384"/>
          </a:xfrm>
          <a:prstGeom prst="rect">
            <a:avLst/>
          </a:prstGeom>
          <a:noFill/>
          <a:ln/>
        </p:spPr>
        <p:txBody>
          <a:bodyPr wrap="square" rtlCol="0" anchor="ctr"/>
          <a:lstStyle/>
          <a:p>
            <a:pPr indent="0" marL="0">
              <a:buNone/>
            </a:pPr>
            <a:r>
              <a:rPr lang="en-US" sz="1450" b="1" dirty="0">
                <a:solidFill>
                  <a:srgbClr val="120B17"/>
                </a:solidFill>
                <a:latin typeface="Trebuchet MS" pitchFamily="34" charset="0"/>
                <a:ea typeface="Trebuchet MS" pitchFamily="34" charset="-122"/>
                <a:cs typeface="Trebuchet MS" pitchFamily="34" charset="-120"/>
              </a:rPr>
              <a:t>Where feasible, we would appreciate pricing at 250, 500, 1,000 and 5,000 units per design.</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12</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17788F"/>
                </a:solidFill>
                <a:latin typeface="Arial" pitchFamily="34" charset="0"/>
                <a:ea typeface="Arial" pitchFamily="34" charset="-122"/>
                <a:cs typeface="Arial" pitchFamily="34" charset="-120"/>
              </a:rPr>
              <a:t>WHY SQUISHY SMASH</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More Than a Single Toy</a:t>
            </a:r>
            <a:endParaRPr lang="en-US" sz="3000" dirty="0"/>
          </a:p>
        </p:txBody>
      </p:sp>
      <p:sp>
        <p:nvSpPr>
          <p:cNvPr id="6" name="Shape 4"/>
          <p:cNvSpPr/>
          <p:nvPr/>
        </p:nvSpPr>
        <p:spPr>
          <a:xfrm>
            <a:off x="658368" y="1737360"/>
            <a:ext cx="786384" cy="50292"/>
          </a:xfrm>
          <a:prstGeom prst="rect">
            <a:avLst/>
          </a:prstGeom>
          <a:solidFill>
            <a:srgbClr val="17788F"/>
          </a:solidFill>
          <a:ln w="12700">
            <a:solidFill>
              <a:srgbClr val="333333"/>
            </a:solidFill>
            <a:prstDash val="solid"/>
          </a:ln>
        </p:spPr>
      </p:sp>
      <p:sp>
        <p:nvSpPr>
          <p:cNvPr id="7" name="Shape 5"/>
          <p:cNvSpPr/>
          <p:nvPr/>
        </p:nvSpPr>
        <p:spPr>
          <a:xfrm>
            <a:off x="658368" y="2084832"/>
            <a:ext cx="3502152" cy="1298448"/>
          </a:xfrm>
          <a:prstGeom prst="roundRect">
            <a:avLst>
              <a:gd name="adj" fmla="val 9859"/>
            </a:avLst>
          </a:prstGeom>
          <a:solidFill>
            <a:srgbClr val="FFF8F3"/>
          </a:solidFill>
          <a:ln w="12700">
            <a:solidFill>
              <a:srgbClr val="E7DEE8"/>
            </a:solidFill>
            <a:prstDash val="solid"/>
          </a:ln>
        </p:spPr>
      </p:sp>
      <p:sp>
        <p:nvSpPr>
          <p:cNvPr id="8" name="Shape 6"/>
          <p:cNvSpPr/>
          <p:nvPr/>
        </p:nvSpPr>
        <p:spPr>
          <a:xfrm>
            <a:off x="932688" y="2359152"/>
            <a:ext cx="384048" cy="45720"/>
          </a:xfrm>
          <a:prstGeom prst="rect">
            <a:avLst/>
          </a:prstGeom>
          <a:solidFill>
            <a:srgbClr val="C4306E"/>
          </a:solidFill>
          <a:ln w="12700">
            <a:solidFill>
              <a:srgbClr val="333333"/>
            </a:solidFill>
            <a:prstDash val="solid"/>
          </a:ln>
        </p:spPr>
      </p:sp>
      <p:sp>
        <p:nvSpPr>
          <p:cNvPr id="9" name="Text 7"/>
          <p:cNvSpPr/>
          <p:nvPr/>
        </p:nvSpPr>
        <p:spPr>
          <a:xfrm>
            <a:off x="932688" y="2487168"/>
            <a:ext cx="2953512" cy="310896"/>
          </a:xfrm>
          <a:prstGeom prst="rect">
            <a:avLst/>
          </a:prstGeom>
          <a:noFill/>
          <a:ln/>
        </p:spPr>
        <p:txBody>
          <a:bodyPr wrap="square" rtlCol="0" anchor="ctr"/>
          <a:lstStyle/>
          <a:p>
            <a:pPr indent="0" marL="0">
              <a:buNone/>
            </a:pPr>
            <a:r>
              <a:rPr lang="en-US" sz="1350" b="1" dirty="0">
                <a:solidFill>
                  <a:srgbClr val="120B17"/>
                </a:solidFill>
                <a:latin typeface="Trebuchet MS" pitchFamily="34" charset="0"/>
                <a:ea typeface="Trebuchet MS" pitchFamily="34" charset="-122"/>
                <a:cs typeface="Trebuchet MS" pitchFamily="34" charset="-120"/>
              </a:rPr>
              <a:t>Original, expandable IP</a:t>
            </a:r>
            <a:endParaRPr lang="en-US" sz="1350" dirty="0"/>
          </a:p>
        </p:txBody>
      </p:sp>
      <p:sp>
        <p:nvSpPr>
          <p:cNvPr id="10" name="Text 8"/>
          <p:cNvSpPr/>
          <p:nvPr/>
        </p:nvSpPr>
        <p:spPr>
          <a:xfrm>
            <a:off x="932688" y="2816352"/>
            <a:ext cx="2953512" cy="457200"/>
          </a:xfrm>
          <a:prstGeom prst="rect">
            <a:avLst/>
          </a:prstGeom>
          <a:noFill/>
          <a:ln/>
        </p:spPr>
        <p:txBody>
          <a:bodyPr wrap="square" rtlCol="0" anchor="t"/>
          <a:lstStyle/>
          <a:p>
            <a:pPr indent="0" marL="0">
              <a:buNone/>
            </a:pPr>
            <a:r>
              <a:rPr lang="en-US" sz="1100" dirty="0">
                <a:solidFill>
                  <a:srgbClr val="4A3F52"/>
                </a:solidFill>
                <a:latin typeface="Arial" pitchFamily="34" charset="0"/>
                <a:ea typeface="Arial" pitchFamily="34" charset="-122"/>
                <a:cs typeface="Arial" pitchFamily="34" charset="-120"/>
              </a:rPr>
              <a:t>48 characters across three themed packs</a:t>
            </a:r>
            <a:endParaRPr lang="en-US" sz="1100" dirty="0"/>
          </a:p>
        </p:txBody>
      </p:sp>
      <p:sp>
        <p:nvSpPr>
          <p:cNvPr id="11" name="Shape 9"/>
          <p:cNvSpPr/>
          <p:nvPr/>
        </p:nvSpPr>
        <p:spPr>
          <a:xfrm>
            <a:off x="4343400" y="2084832"/>
            <a:ext cx="3502152" cy="1298448"/>
          </a:xfrm>
          <a:prstGeom prst="roundRect">
            <a:avLst>
              <a:gd name="adj" fmla="val 9859"/>
            </a:avLst>
          </a:prstGeom>
          <a:solidFill>
            <a:srgbClr val="FFF8F3"/>
          </a:solidFill>
          <a:ln w="12700">
            <a:solidFill>
              <a:srgbClr val="E7DEE8"/>
            </a:solidFill>
            <a:prstDash val="solid"/>
          </a:ln>
        </p:spPr>
      </p:sp>
      <p:sp>
        <p:nvSpPr>
          <p:cNvPr id="12" name="Shape 10"/>
          <p:cNvSpPr/>
          <p:nvPr/>
        </p:nvSpPr>
        <p:spPr>
          <a:xfrm>
            <a:off x="4617720" y="2359152"/>
            <a:ext cx="384048" cy="45720"/>
          </a:xfrm>
          <a:prstGeom prst="rect">
            <a:avLst/>
          </a:prstGeom>
          <a:solidFill>
            <a:srgbClr val="6E37B0"/>
          </a:solidFill>
          <a:ln w="12700">
            <a:solidFill>
              <a:srgbClr val="333333"/>
            </a:solidFill>
            <a:prstDash val="solid"/>
          </a:ln>
        </p:spPr>
      </p:sp>
      <p:sp>
        <p:nvSpPr>
          <p:cNvPr id="13" name="Text 11"/>
          <p:cNvSpPr/>
          <p:nvPr/>
        </p:nvSpPr>
        <p:spPr>
          <a:xfrm>
            <a:off x="4617720" y="2487168"/>
            <a:ext cx="2953512" cy="310896"/>
          </a:xfrm>
          <a:prstGeom prst="rect">
            <a:avLst/>
          </a:prstGeom>
          <a:noFill/>
          <a:ln/>
        </p:spPr>
        <p:txBody>
          <a:bodyPr wrap="square" rtlCol="0" anchor="ctr"/>
          <a:lstStyle/>
          <a:p>
            <a:pPr indent="0" marL="0">
              <a:buNone/>
            </a:pPr>
            <a:r>
              <a:rPr lang="en-US" sz="1350" b="1" dirty="0">
                <a:solidFill>
                  <a:srgbClr val="120B17"/>
                </a:solidFill>
                <a:latin typeface="Trebuchet MS" pitchFamily="34" charset="0"/>
                <a:ea typeface="Trebuchet MS" pitchFamily="34" charset="-122"/>
                <a:cs typeface="Trebuchet MS" pitchFamily="34" charset="-120"/>
              </a:rPr>
              <a:t>Published presence</a:t>
            </a:r>
            <a:endParaRPr lang="en-US" sz="1350" dirty="0"/>
          </a:p>
        </p:txBody>
      </p:sp>
      <p:sp>
        <p:nvSpPr>
          <p:cNvPr id="14" name="Text 12"/>
          <p:cNvSpPr/>
          <p:nvPr/>
        </p:nvSpPr>
        <p:spPr>
          <a:xfrm>
            <a:off x="4617720" y="2816352"/>
            <a:ext cx="2953512" cy="457200"/>
          </a:xfrm>
          <a:prstGeom prst="rect">
            <a:avLst/>
          </a:prstGeom>
          <a:noFill/>
          <a:ln/>
        </p:spPr>
        <p:txBody>
          <a:bodyPr wrap="square" rtlCol="0" anchor="t"/>
          <a:lstStyle/>
          <a:p>
            <a:pPr indent="0" marL="0">
              <a:buNone/>
            </a:pPr>
            <a:r>
              <a:rPr lang="en-US" sz="1100" dirty="0">
                <a:solidFill>
                  <a:srgbClr val="4A3F52"/>
                </a:solidFill>
                <a:latin typeface="Arial" pitchFamily="34" charset="0"/>
                <a:ea typeface="Arial" pitchFamily="34" charset="-122"/>
                <a:cs typeface="Arial" pitchFamily="34" charset="-120"/>
              </a:rPr>
              <a:t>Two books available on Amazon</a:t>
            </a:r>
            <a:endParaRPr lang="en-US" sz="1100" dirty="0"/>
          </a:p>
        </p:txBody>
      </p:sp>
      <p:sp>
        <p:nvSpPr>
          <p:cNvPr id="15" name="Shape 13"/>
          <p:cNvSpPr/>
          <p:nvPr/>
        </p:nvSpPr>
        <p:spPr>
          <a:xfrm>
            <a:off x="8028432" y="2084832"/>
            <a:ext cx="3502152" cy="1298448"/>
          </a:xfrm>
          <a:prstGeom prst="roundRect">
            <a:avLst>
              <a:gd name="adj" fmla="val 9859"/>
            </a:avLst>
          </a:prstGeom>
          <a:solidFill>
            <a:srgbClr val="FFF8F3"/>
          </a:solidFill>
          <a:ln w="12700">
            <a:solidFill>
              <a:srgbClr val="E7DEE8"/>
            </a:solidFill>
            <a:prstDash val="solid"/>
          </a:ln>
        </p:spPr>
      </p:sp>
      <p:sp>
        <p:nvSpPr>
          <p:cNvPr id="16" name="Shape 14"/>
          <p:cNvSpPr/>
          <p:nvPr/>
        </p:nvSpPr>
        <p:spPr>
          <a:xfrm>
            <a:off x="8302752" y="2359152"/>
            <a:ext cx="384048" cy="45720"/>
          </a:xfrm>
          <a:prstGeom prst="rect">
            <a:avLst/>
          </a:prstGeom>
          <a:solidFill>
            <a:srgbClr val="17788F"/>
          </a:solidFill>
          <a:ln w="12700">
            <a:solidFill>
              <a:srgbClr val="333333"/>
            </a:solidFill>
            <a:prstDash val="solid"/>
          </a:ln>
        </p:spPr>
      </p:sp>
      <p:sp>
        <p:nvSpPr>
          <p:cNvPr id="17" name="Text 15"/>
          <p:cNvSpPr/>
          <p:nvPr/>
        </p:nvSpPr>
        <p:spPr>
          <a:xfrm>
            <a:off x="8302752" y="2487168"/>
            <a:ext cx="2953512" cy="310896"/>
          </a:xfrm>
          <a:prstGeom prst="rect">
            <a:avLst/>
          </a:prstGeom>
          <a:noFill/>
          <a:ln/>
        </p:spPr>
        <p:txBody>
          <a:bodyPr wrap="square" rtlCol="0" anchor="ctr"/>
          <a:lstStyle/>
          <a:p>
            <a:pPr indent="0" marL="0">
              <a:buNone/>
            </a:pPr>
            <a:r>
              <a:rPr lang="en-US" sz="1350" b="1" dirty="0">
                <a:solidFill>
                  <a:srgbClr val="120B17"/>
                </a:solidFill>
                <a:latin typeface="Trebuchet MS" pitchFamily="34" charset="0"/>
                <a:ea typeface="Trebuchet MS" pitchFamily="34" charset="-122"/>
                <a:cs typeface="Trebuchet MS" pitchFamily="34" charset="-120"/>
              </a:rPr>
              <a:t>Existing card designs</a:t>
            </a:r>
            <a:endParaRPr lang="en-US" sz="1350" dirty="0"/>
          </a:p>
        </p:txBody>
      </p:sp>
      <p:sp>
        <p:nvSpPr>
          <p:cNvPr id="18" name="Text 16"/>
          <p:cNvSpPr/>
          <p:nvPr/>
        </p:nvSpPr>
        <p:spPr>
          <a:xfrm>
            <a:off x="8302752" y="2816352"/>
            <a:ext cx="2953512" cy="457200"/>
          </a:xfrm>
          <a:prstGeom prst="rect">
            <a:avLst/>
          </a:prstGeom>
          <a:noFill/>
          <a:ln/>
        </p:spPr>
        <p:txBody>
          <a:bodyPr wrap="square" rtlCol="0" anchor="t"/>
          <a:lstStyle/>
          <a:p>
            <a:pPr indent="0" marL="0">
              <a:buNone/>
            </a:pPr>
            <a:r>
              <a:rPr lang="en-US" sz="1100" dirty="0">
                <a:solidFill>
                  <a:srgbClr val="4A3F52"/>
                </a:solidFill>
                <a:latin typeface="Arial" pitchFamily="34" charset="0"/>
                <a:ea typeface="Arial" pitchFamily="34" charset="-122"/>
                <a:cs typeface="Arial" pitchFamily="34" charset="-120"/>
              </a:rPr>
              <a:t>A finished collectible card for every character</a:t>
            </a:r>
            <a:endParaRPr lang="en-US" sz="1100" dirty="0"/>
          </a:p>
        </p:txBody>
      </p:sp>
      <p:sp>
        <p:nvSpPr>
          <p:cNvPr id="19" name="Shape 17"/>
          <p:cNvSpPr/>
          <p:nvPr/>
        </p:nvSpPr>
        <p:spPr>
          <a:xfrm>
            <a:off x="658368" y="3584448"/>
            <a:ext cx="3502152" cy="1298448"/>
          </a:xfrm>
          <a:prstGeom prst="roundRect">
            <a:avLst>
              <a:gd name="adj" fmla="val 9859"/>
            </a:avLst>
          </a:prstGeom>
          <a:solidFill>
            <a:srgbClr val="FFF8F3"/>
          </a:solidFill>
          <a:ln w="12700">
            <a:solidFill>
              <a:srgbClr val="E7DEE8"/>
            </a:solidFill>
            <a:prstDash val="solid"/>
          </a:ln>
        </p:spPr>
      </p:sp>
      <p:sp>
        <p:nvSpPr>
          <p:cNvPr id="20" name="Shape 18"/>
          <p:cNvSpPr/>
          <p:nvPr/>
        </p:nvSpPr>
        <p:spPr>
          <a:xfrm>
            <a:off x="932688" y="3858768"/>
            <a:ext cx="384048" cy="45720"/>
          </a:xfrm>
          <a:prstGeom prst="rect">
            <a:avLst/>
          </a:prstGeom>
          <a:solidFill>
            <a:srgbClr val="A8761B"/>
          </a:solidFill>
          <a:ln w="12700">
            <a:solidFill>
              <a:srgbClr val="333333"/>
            </a:solidFill>
            <a:prstDash val="solid"/>
          </a:ln>
        </p:spPr>
      </p:sp>
      <p:sp>
        <p:nvSpPr>
          <p:cNvPr id="21" name="Text 19"/>
          <p:cNvSpPr/>
          <p:nvPr/>
        </p:nvSpPr>
        <p:spPr>
          <a:xfrm>
            <a:off x="932688" y="3986784"/>
            <a:ext cx="2953512" cy="310896"/>
          </a:xfrm>
          <a:prstGeom prst="rect">
            <a:avLst/>
          </a:prstGeom>
          <a:noFill/>
          <a:ln/>
        </p:spPr>
        <p:txBody>
          <a:bodyPr wrap="square" rtlCol="0" anchor="ctr"/>
          <a:lstStyle/>
          <a:p>
            <a:pPr indent="0" marL="0">
              <a:buNone/>
            </a:pPr>
            <a:r>
              <a:rPr lang="en-US" sz="1350" b="1" dirty="0">
                <a:solidFill>
                  <a:srgbClr val="120B17"/>
                </a:solidFill>
                <a:latin typeface="Trebuchet MS" pitchFamily="34" charset="0"/>
                <a:ea typeface="Trebuchet MS" pitchFamily="34" charset="-122"/>
                <a:cs typeface="Trebuchet MS" pitchFamily="34" charset="-120"/>
              </a:rPr>
              <a:t>Live digital surfaces</a:t>
            </a:r>
            <a:endParaRPr lang="en-US" sz="1350" dirty="0"/>
          </a:p>
        </p:txBody>
      </p:sp>
      <p:sp>
        <p:nvSpPr>
          <p:cNvPr id="22" name="Text 20"/>
          <p:cNvSpPr/>
          <p:nvPr/>
        </p:nvSpPr>
        <p:spPr>
          <a:xfrm>
            <a:off x="932688" y="4315968"/>
            <a:ext cx="2953512" cy="457200"/>
          </a:xfrm>
          <a:prstGeom prst="rect">
            <a:avLst/>
          </a:prstGeom>
          <a:noFill/>
          <a:ln/>
        </p:spPr>
        <p:txBody>
          <a:bodyPr wrap="square" rtlCol="0" anchor="t"/>
          <a:lstStyle/>
          <a:p>
            <a:pPr indent="0" marL="0">
              <a:buNone/>
            </a:pPr>
            <a:r>
              <a:rPr lang="en-US" sz="1100" dirty="0">
                <a:solidFill>
                  <a:srgbClr val="4A3F52"/>
                </a:solidFill>
                <a:latin typeface="Arial" pitchFamily="34" charset="0"/>
                <a:ea typeface="Arial" pitchFamily="34" charset="-122"/>
                <a:cs typeface="Arial" pitchFamily="34" charset="-120"/>
              </a:rPr>
              <a:t>iOS app and Roblox experience</a:t>
            </a:r>
            <a:endParaRPr lang="en-US" sz="1100" dirty="0"/>
          </a:p>
        </p:txBody>
      </p:sp>
      <p:sp>
        <p:nvSpPr>
          <p:cNvPr id="23" name="Shape 21"/>
          <p:cNvSpPr/>
          <p:nvPr/>
        </p:nvSpPr>
        <p:spPr>
          <a:xfrm>
            <a:off x="4343400" y="3584448"/>
            <a:ext cx="3502152" cy="1298448"/>
          </a:xfrm>
          <a:prstGeom prst="roundRect">
            <a:avLst>
              <a:gd name="adj" fmla="val 9859"/>
            </a:avLst>
          </a:prstGeom>
          <a:solidFill>
            <a:srgbClr val="FFF8F3"/>
          </a:solidFill>
          <a:ln w="12700">
            <a:solidFill>
              <a:srgbClr val="E7DEE8"/>
            </a:solidFill>
            <a:prstDash val="solid"/>
          </a:ln>
        </p:spPr>
      </p:sp>
      <p:sp>
        <p:nvSpPr>
          <p:cNvPr id="24" name="Shape 22"/>
          <p:cNvSpPr/>
          <p:nvPr/>
        </p:nvSpPr>
        <p:spPr>
          <a:xfrm>
            <a:off x="4617720" y="3858768"/>
            <a:ext cx="384048" cy="45720"/>
          </a:xfrm>
          <a:prstGeom prst="rect">
            <a:avLst/>
          </a:prstGeom>
          <a:solidFill>
            <a:srgbClr val="4F7A18"/>
          </a:solidFill>
          <a:ln w="12700">
            <a:solidFill>
              <a:srgbClr val="333333"/>
            </a:solidFill>
            <a:prstDash val="solid"/>
          </a:ln>
        </p:spPr>
      </p:sp>
      <p:sp>
        <p:nvSpPr>
          <p:cNvPr id="25" name="Text 23"/>
          <p:cNvSpPr/>
          <p:nvPr/>
        </p:nvSpPr>
        <p:spPr>
          <a:xfrm>
            <a:off x="4617720" y="3986784"/>
            <a:ext cx="2953512" cy="310896"/>
          </a:xfrm>
          <a:prstGeom prst="rect">
            <a:avLst/>
          </a:prstGeom>
          <a:noFill/>
          <a:ln/>
        </p:spPr>
        <p:txBody>
          <a:bodyPr wrap="square" rtlCol="0" anchor="ctr"/>
          <a:lstStyle/>
          <a:p>
            <a:pPr indent="0" marL="0">
              <a:buNone/>
            </a:pPr>
            <a:r>
              <a:rPr lang="en-US" sz="1350" b="1" dirty="0">
                <a:solidFill>
                  <a:srgbClr val="120B17"/>
                </a:solidFill>
                <a:latin typeface="Trebuchet MS" pitchFamily="34" charset="0"/>
                <a:ea typeface="Trebuchet MS" pitchFamily="34" charset="-122"/>
                <a:cs typeface="Trebuchet MS" pitchFamily="34" charset="-120"/>
              </a:rPr>
              <a:t>3D foundation</a:t>
            </a:r>
            <a:endParaRPr lang="en-US" sz="1350" dirty="0"/>
          </a:p>
        </p:txBody>
      </p:sp>
      <p:sp>
        <p:nvSpPr>
          <p:cNvPr id="26" name="Text 24"/>
          <p:cNvSpPr/>
          <p:nvPr/>
        </p:nvSpPr>
        <p:spPr>
          <a:xfrm>
            <a:off x="4617720" y="4315968"/>
            <a:ext cx="2953512" cy="457200"/>
          </a:xfrm>
          <a:prstGeom prst="rect">
            <a:avLst/>
          </a:prstGeom>
          <a:noFill/>
          <a:ln/>
        </p:spPr>
        <p:txBody>
          <a:bodyPr wrap="square" rtlCol="0" anchor="t"/>
          <a:lstStyle/>
          <a:p>
            <a:pPr indent="0" marL="0">
              <a:buNone/>
            </a:pPr>
            <a:r>
              <a:rPr lang="en-US" sz="1100" dirty="0">
                <a:solidFill>
                  <a:srgbClr val="4A3F52"/>
                </a:solidFill>
                <a:latin typeface="Arial" pitchFamily="34" charset="0"/>
                <a:ea typeface="Arial" pitchFamily="34" charset="-122"/>
                <a:cs typeface="Arial" pitchFamily="34" charset="-120"/>
              </a:rPr>
              <a:t>Six characters already modelled</a:t>
            </a:r>
            <a:endParaRPr lang="en-US" sz="1100" dirty="0"/>
          </a:p>
        </p:txBody>
      </p:sp>
      <p:sp>
        <p:nvSpPr>
          <p:cNvPr id="27" name="Shape 25"/>
          <p:cNvSpPr/>
          <p:nvPr/>
        </p:nvSpPr>
        <p:spPr>
          <a:xfrm>
            <a:off x="8028432" y="3584448"/>
            <a:ext cx="3502152" cy="1298448"/>
          </a:xfrm>
          <a:prstGeom prst="roundRect">
            <a:avLst>
              <a:gd name="adj" fmla="val 9859"/>
            </a:avLst>
          </a:prstGeom>
          <a:solidFill>
            <a:srgbClr val="FFF8F3"/>
          </a:solidFill>
          <a:ln w="12700">
            <a:solidFill>
              <a:srgbClr val="E7DEE8"/>
            </a:solidFill>
            <a:prstDash val="solid"/>
          </a:ln>
        </p:spPr>
      </p:sp>
      <p:sp>
        <p:nvSpPr>
          <p:cNvPr id="28" name="Shape 26"/>
          <p:cNvSpPr/>
          <p:nvPr/>
        </p:nvSpPr>
        <p:spPr>
          <a:xfrm>
            <a:off x="8302752" y="3858768"/>
            <a:ext cx="384048" cy="45720"/>
          </a:xfrm>
          <a:prstGeom prst="rect">
            <a:avLst/>
          </a:prstGeom>
          <a:solidFill>
            <a:srgbClr val="C4306E"/>
          </a:solidFill>
          <a:ln w="12700">
            <a:solidFill>
              <a:srgbClr val="333333"/>
            </a:solidFill>
            <a:prstDash val="solid"/>
          </a:ln>
        </p:spPr>
      </p:sp>
      <p:sp>
        <p:nvSpPr>
          <p:cNvPr id="29" name="Text 27"/>
          <p:cNvSpPr/>
          <p:nvPr/>
        </p:nvSpPr>
        <p:spPr>
          <a:xfrm>
            <a:off x="8302752" y="3986784"/>
            <a:ext cx="2953512" cy="310896"/>
          </a:xfrm>
          <a:prstGeom prst="rect">
            <a:avLst/>
          </a:prstGeom>
          <a:noFill/>
          <a:ln/>
        </p:spPr>
        <p:txBody>
          <a:bodyPr wrap="square" rtlCol="0" anchor="ctr"/>
          <a:lstStyle/>
          <a:p>
            <a:pPr indent="0" marL="0">
              <a:buNone/>
            </a:pPr>
            <a:r>
              <a:rPr lang="en-US" sz="1350" b="1" dirty="0">
                <a:solidFill>
                  <a:srgbClr val="120B17"/>
                </a:solidFill>
                <a:latin typeface="Trebuchet MS" pitchFamily="34" charset="0"/>
                <a:ea typeface="Trebuchet MS" pitchFamily="34" charset="-122"/>
                <a:cs typeface="Trebuchet MS" pitchFamily="34" charset="-120"/>
              </a:rPr>
              <a:t>Room to grow</a:t>
            </a:r>
            <a:endParaRPr lang="en-US" sz="1350" dirty="0"/>
          </a:p>
        </p:txBody>
      </p:sp>
      <p:sp>
        <p:nvSpPr>
          <p:cNvPr id="30" name="Text 28"/>
          <p:cNvSpPr/>
          <p:nvPr/>
        </p:nvSpPr>
        <p:spPr>
          <a:xfrm>
            <a:off x="8302752" y="4315968"/>
            <a:ext cx="2953512" cy="457200"/>
          </a:xfrm>
          <a:prstGeom prst="rect">
            <a:avLst/>
          </a:prstGeom>
          <a:noFill/>
          <a:ln/>
        </p:spPr>
        <p:txBody>
          <a:bodyPr wrap="square" rtlCol="0" anchor="t"/>
          <a:lstStyle/>
          <a:p>
            <a:pPr indent="0" marL="0">
              <a:buNone/>
            </a:pPr>
            <a:r>
              <a:rPr lang="en-US" sz="1100" dirty="0">
                <a:solidFill>
                  <a:srgbClr val="4A3F52"/>
                </a:solidFill>
                <a:latin typeface="Arial" pitchFamily="34" charset="0"/>
                <a:ea typeface="Arial" pitchFamily="34" charset="-122"/>
                <a:cs typeface="Arial" pitchFamily="34" charset="-120"/>
              </a:rPr>
              <a:t>Multiple future product categories</a:t>
            </a:r>
            <a:endParaRPr lang="en-US" sz="1100" dirty="0"/>
          </a:p>
        </p:txBody>
      </p:sp>
      <p:sp>
        <p:nvSpPr>
          <p:cNvPr id="31" name="Shape 29"/>
          <p:cNvSpPr/>
          <p:nvPr/>
        </p:nvSpPr>
        <p:spPr>
          <a:xfrm>
            <a:off x="658368" y="5193792"/>
            <a:ext cx="10881360" cy="822960"/>
          </a:xfrm>
          <a:prstGeom prst="roundRect">
            <a:avLst>
              <a:gd name="adj" fmla="val 15556"/>
            </a:avLst>
          </a:prstGeom>
          <a:solidFill>
            <a:srgbClr val="120B17"/>
          </a:solidFill>
          <a:ln w="12700">
            <a:solidFill>
              <a:srgbClr val="333333"/>
            </a:solidFill>
            <a:prstDash val="solid"/>
          </a:ln>
        </p:spPr>
      </p:sp>
      <p:sp>
        <p:nvSpPr>
          <p:cNvPr id="32" name="Text 30"/>
          <p:cNvSpPr/>
          <p:nvPr/>
        </p:nvSpPr>
        <p:spPr>
          <a:xfrm>
            <a:off x="658368" y="5193792"/>
            <a:ext cx="10881360" cy="822960"/>
          </a:xfrm>
          <a:prstGeom prst="rect">
            <a:avLst/>
          </a:prstGeom>
          <a:noFill/>
          <a:ln/>
        </p:spPr>
        <p:txBody>
          <a:bodyPr wrap="square" rtlCol="0" anchor="ctr"/>
          <a:lstStyle/>
          <a:p>
            <a:pPr algn="ctr" indent="0" marL="0">
              <a:buNone/>
            </a:pPr>
            <a:r>
              <a:rPr lang="en-US" sz="1600" b="1" dirty="0">
                <a:solidFill>
                  <a:srgbClr val="FFD36E"/>
                </a:solidFill>
                <a:latin typeface="Trebuchet MS" pitchFamily="34" charset="0"/>
                <a:ea typeface="Trebuchet MS" pitchFamily="34" charset="-122"/>
                <a:cs typeface="Trebuchet MS" pitchFamily="34" charset="-120"/>
              </a:rPr>
              <a:t>A physical squishy line would join an ecosystem that already exists.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13</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A8761B"/>
                </a:solidFill>
                <a:latin typeface="Arial" pitchFamily="34" charset="0"/>
                <a:ea typeface="Arial" pitchFamily="34" charset="-122"/>
                <a:cs typeface="Arial" pitchFamily="34" charset="-120"/>
              </a:rPr>
              <a:t>FUTURE EXPANSION</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Long-Term Product Possibilities</a:t>
            </a:r>
            <a:endParaRPr lang="en-US" sz="3000" dirty="0"/>
          </a:p>
        </p:txBody>
      </p:sp>
      <p:sp>
        <p:nvSpPr>
          <p:cNvPr id="6" name="Shape 4"/>
          <p:cNvSpPr/>
          <p:nvPr/>
        </p:nvSpPr>
        <p:spPr>
          <a:xfrm>
            <a:off x="658368" y="1737360"/>
            <a:ext cx="786384" cy="50292"/>
          </a:xfrm>
          <a:prstGeom prst="rect">
            <a:avLst/>
          </a:prstGeom>
          <a:solidFill>
            <a:srgbClr val="A8761B"/>
          </a:solidFill>
          <a:ln w="12700">
            <a:solidFill>
              <a:srgbClr val="333333"/>
            </a:solidFill>
            <a:prstDash val="solid"/>
          </a:ln>
        </p:spPr>
      </p:sp>
      <p:sp>
        <p:nvSpPr>
          <p:cNvPr id="7" name="Shape 5"/>
          <p:cNvSpPr/>
          <p:nvPr/>
        </p:nvSpPr>
        <p:spPr>
          <a:xfrm>
            <a:off x="658368" y="2084832"/>
            <a:ext cx="3200400" cy="1371600"/>
          </a:xfrm>
          <a:prstGeom prst="roundRect">
            <a:avLst>
              <a:gd name="adj" fmla="val 9333"/>
            </a:avLst>
          </a:prstGeom>
          <a:solidFill>
            <a:srgbClr val="FFF0F6"/>
          </a:solidFill>
          <a:ln w="12700">
            <a:solidFill>
              <a:srgbClr val="C4306E"/>
            </a:solidFill>
            <a:prstDash val="solid"/>
          </a:ln>
        </p:spPr>
      </p:sp>
      <p:sp>
        <p:nvSpPr>
          <p:cNvPr id="8" name="Text 6"/>
          <p:cNvSpPr/>
          <p:nvPr/>
        </p:nvSpPr>
        <p:spPr>
          <a:xfrm>
            <a:off x="932688" y="2395728"/>
            <a:ext cx="2651760" cy="457200"/>
          </a:xfrm>
          <a:prstGeom prst="rect">
            <a:avLst/>
          </a:prstGeom>
          <a:noFill/>
          <a:ln/>
        </p:spPr>
        <p:txBody>
          <a:bodyPr wrap="square" rtlCol="0" anchor="ctr"/>
          <a:lstStyle/>
          <a:p>
            <a:pPr indent="0" marL="0">
              <a:buNone/>
            </a:pPr>
            <a:r>
              <a:rPr lang="en-US" sz="1600" b="1" dirty="0">
                <a:solidFill>
                  <a:srgbClr val="C4306E"/>
                </a:solidFill>
                <a:latin typeface="Trebuchet MS" pitchFamily="34" charset="0"/>
                <a:ea typeface="Trebuchet MS" pitchFamily="34" charset="-122"/>
                <a:cs typeface="Trebuchet MS" pitchFamily="34" charset="-120"/>
              </a:rPr>
              <a:t>Collectible Squishies</a:t>
            </a:r>
            <a:endParaRPr lang="en-US" sz="1600" dirty="0"/>
          </a:p>
        </p:txBody>
      </p:sp>
      <p:sp>
        <p:nvSpPr>
          <p:cNvPr id="9" name="Text 7"/>
          <p:cNvSpPr/>
          <p:nvPr/>
        </p:nvSpPr>
        <p:spPr>
          <a:xfrm>
            <a:off x="932688" y="2871216"/>
            <a:ext cx="2651760" cy="274320"/>
          </a:xfrm>
          <a:prstGeom prst="rect">
            <a:avLst/>
          </a:prstGeom>
          <a:noFill/>
          <a:ln/>
        </p:spPr>
        <p:txBody>
          <a:bodyPr wrap="square" rtlCol="0" anchor="ctr"/>
          <a:lstStyle/>
          <a:p>
            <a:pPr indent="0" marL="0">
              <a:buNone/>
            </a:pPr>
            <a:r>
              <a:rPr lang="en-US" sz="1150" dirty="0">
                <a:solidFill>
                  <a:srgbClr val="4A3F52"/>
                </a:solidFill>
                <a:latin typeface="Arial" pitchFamily="34" charset="0"/>
                <a:ea typeface="Arial" pitchFamily="34" charset="-122"/>
                <a:cs typeface="Arial" pitchFamily="34" charset="-120"/>
              </a:rPr>
              <a:t>The immediate focus</a:t>
            </a:r>
            <a:endParaRPr lang="en-US" sz="1150" dirty="0"/>
          </a:p>
        </p:txBody>
      </p:sp>
      <p:sp>
        <p:nvSpPr>
          <p:cNvPr id="10" name="Text 8"/>
          <p:cNvSpPr/>
          <p:nvPr/>
        </p:nvSpPr>
        <p:spPr>
          <a:xfrm>
            <a:off x="4224528" y="2139696"/>
            <a:ext cx="7315200" cy="292608"/>
          </a:xfrm>
          <a:prstGeom prst="rect">
            <a:avLst/>
          </a:prstGeom>
          <a:noFill/>
          <a:ln/>
        </p:spPr>
        <p:txBody>
          <a:bodyPr wrap="square" rtlCol="0" anchor="ctr"/>
          <a:lstStyle/>
          <a:p>
            <a:pPr indent="0" marL="0">
              <a:buNone/>
            </a:pPr>
            <a:r>
              <a:rPr lang="en-US" sz="1000" b="1" spc="120" kern="0" dirty="0">
                <a:solidFill>
                  <a:srgbClr val="8B7F92"/>
                </a:solidFill>
                <a:latin typeface="Arial" pitchFamily="34" charset="0"/>
                <a:ea typeface="Arial" pitchFamily="34" charset="-122"/>
                <a:cs typeface="Arial" pitchFamily="34" charset="-120"/>
              </a:rPr>
              <a:t>Broader licensing potential</a:t>
            </a:r>
            <a:endParaRPr lang="en-US" sz="1000" dirty="0"/>
          </a:p>
        </p:txBody>
      </p:sp>
      <p:sp>
        <p:nvSpPr>
          <p:cNvPr id="11" name="Shape 9"/>
          <p:cNvSpPr/>
          <p:nvPr/>
        </p:nvSpPr>
        <p:spPr>
          <a:xfrm>
            <a:off x="4224528" y="2505456"/>
            <a:ext cx="3634740" cy="365760"/>
          </a:xfrm>
          <a:prstGeom prst="roundRect">
            <a:avLst>
              <a:gd name="adj" fmla="val 125000"/>
            </a:avLst>
          </a:prstGeom>
          <a:solidFill>
            <a:srgbClr val="FFF8F3"/>
          </a:solidFill>
          <a:ln w="12700">
            <a:solidFill>
              <a:srgbClr val="333333"/>
            </a:solidFill>
            <a:prstDash val="solid"/>
          </a:ln>
        </p:spPr>
      </p:sp>
      <p:sp>
        <p:nvSpPr>
          <p:cNvPr id="12" name="Text 10"/>
          <p:cNvSpPr/>
          <p:nvPr/>
        </p:nvSpPr>
        <p:spPr>
          <a:xfrm>
            <a:off x="4224528" y="2505456"/>
            <a:ext cx="3634740" cy="365760"/>
          </a:xfrm>
          <a:prstGeom prst="rect">
            <a:avLst/>
          </a:prstGeom>
          <a:noFill/>
          <a:ln/>
        </p:spPr>
        <p:txBody>
          <a:bodyPr wrap="square" rtlCol="0" anchor="ctr"/>
          <a:lstStyle/>
          <a:p>
            <a:pPr algn="ctr" indent="0" marL="0">
              <a:buNone/>
            </a:pPr>
            <a:r>
              <a:rPr lang="en-US" sz="950" b="1" dirty="0">
                <a:solidFill>
                  <a:srgbClr val="C4306E"/>
                </a:solidFill>
                <a:latin typeface="Arial" pitchFamily="34" charset="0"/>
                <a:ea typeface="Arial" pitchFamily="34" charset="-122"/>
                <a:cs typeface="Arial" pitchFamily="34" charset="-120"/>
              </a:rPr>
              <a:t>Additional squishy series</a:t>
            </a:r>
            <a:endParaRPr lang="en-US" sz="950" dirty="0"/>
          </a:p>
        </p:txBody>
      </p:sp>
      <p:sp>
        <p:nvSpPr>
          <p:cNvPr id="13" name="Shape 11"/>
          <p:cNvSpPr/>
          <p:nvPr/>
        </p:nvSpPr>
        <p:spPr>
          <a:xfrm>
            <a:off x="8005572" y="2505456"/>
            <a:ext cx="1783080" cy="365760"/>
          </a:xfrm>
          <a:prstGeom prst="roundRect">
            <a:avLst>
              <a:gd name="adj" fmla="val 125000"/>
            </a:avLst>
          </a:prstGeom>
          <a:solidFill>
            <a:srgbClr val="FFF8F3"/>
          </a:solidFill>
          <a:ln w="12700">
            <a:solidFill>
              <a:srgbClr val="333333"/>
            </a:solidFill>
            <a:prstDash val="solid"/>
          </a:ln>
        </p:spPr>
      </p:sp>
      <p:sp>
        <p:nvSpPr>
          <p:cNvPr id="14" name="Text 12"/>
          <p:cNvSpPr/>
          <p:nvPr/>
        </p:nvSpPr>
        <p:spPr>
          <a:xfrm>
            <a:off x="8005572" y="2505456"/>
            <a:ext cx="1783080" cy="365760"/>
          </a:xfrm>
          <a:prstGeom prst="rect">
            <a:avLst/>
          </a:prstGeom>
          <a:noFill/>
          <a:ln/>
        </p:spPr>
        <p:txBody>
          <a:bodyPr wrap="square" rtlCol="0" anchor="ctr"/>
          <a:lstStyle/>
          <a:p>
            <a:pPr algn="ctr" indent="0" marL="0">
              <a:buNone/>
            </a:pPr>
            <a:r>
              <a:rPr lang="en-US" sz="950" b="1" dirty="0">
                <a:solidFill>
                  <a:srgbClr val="6E37B0"/>
                </a:solidFill>
                <a:latin typeface="Arial" pitchFamily="34" charset="0"/>
                <a:ea typeface="Arial" pitchFamily="34" charset="-122"/>
                <a:cs typeface="Arial" pitchFamily="34" charset="-120"/>
              </a:rPr>
              <a:t>Plush toys</a:t>
            </a:r>
            <a:endParaRPr lang="en-US" sz="950" dirty="0"/>
          </a:p>
        </p:txBody>
      </p:sp>
      <p:sp>
        <p:nvSpPr>
          <p:cNvPr id="15" name="Shape 13"/>
          <p:cNvSpPr/>
          <p:nvPr/>
        </p:nvSpPr>
        <p:spPr>
          <a:xfrm>
            <a:off x="4224528" y="2962656"/>
            <a:ext cx="2029968" cy="365760"/>
          </a:xfrm>
          <a:prstGeom prst="roundRect">
            <a:avLst>
              <a:gd name="adj" fmla="val 125000"/>
            </a:avLst>
          </a:prstGeom>
          <a:solidFill>
            <a:srgbClr val="FFF8F3"/>
          </a:solidFill>
          <a:ln w="12700">
            <a:solidFill>
              <a:srgbClr val="333333"/>
            </a:solidFill>
            <a:prstDash val="solid"/>
          </a:ln>
        </p:spPr>
      </p:sp>
      <p:sp>
        <p:nvSpPr>
          <p:cNvPr id="16" name="Text 14"/>
          <p:cNvSpPr/>
          <p:nvPr/>
        </p:nvSpPr>
        <p:spPr>
          <a:xfrm>
            <a:off x="4224528" y="2962656"/>
            <a:ext cx="2029968" cy="365760"/>
          </a:xfrm>
          <a:prstGeom prst="rect">
            <a:avLst/>
          </a:prstGeom>
          <a:noFill/>
          <a:ln/>
        </p:spPr>
        <p:txBody>
          <a:bodyPr wrap="square" rtlCol="0" anchor="ctr"/>
          <a:lstStyle/>
          <a:p>
            <a:pPr algn="ctr" indent="0" marL="0">
              <a:buNone/>
            </a:pPr>
            <a:r>
              <a:rPr lang="en-US" sz="950" b="1" dirty="0">
                <a:solidFill>
                  <a:srgbClr val="17788F"/>
                </a:solidFill>
                <a:latin typeface="Arial" pitchFamily="34" charset="0"/>
                <a:ea typeface="Arial" pitchFamily="34" charset="-122"/>
                <a:cs typeface="Arial" pitchFamily="34" charset="-120"/>
              </a:rPr>
              <a:t>Mini figures</a:t>
            </a:r>
            <a:endParaRPr lang="en-US" sz="950" dirty="0"/>
          </a:p>
        </p:txBody>
      </p:sp>
      <p:sp>
        <p:nvSpPr>
          <p:cNvPr id="17" name="Shape 15"/>
          <p:cNvSpPr/>
          <p:nvPr/>
        </p:nvSpPr>
        <p:spPr>
          <a:xfrm>
            <a:off x="6400800" y="2962656"/>
            <a:ext cx="1659636" cy="365760"/>
          </a:xfrm>
          <a:prstGeom prst="roundRect">
            <a:avLst>
              <a:gd name="adj" fmla="val 125000"/>
            </a:avLst>
          </a:prstGeom>
          <a:solidFill>
            <a:srgbClr val="FFF8F3"/>
          </a:solidFill>
          <a:ln w="12700">
            <a:solidFill>
              <a:srgbClr val="333333"/>
            </a:solidFill>
            <a:prstDash val="solid"/>
          </a:ln>
        </p:spPr>
      </p:sp>
      <p:sp>
        <p:nvSpPr>
          <p:cNvPr id="18" name="Text 16"/>
          <p:cNvSpPr/>
          <p:nvPr/>
        </p:nvSpPr>
        <p:spPr>
          <a:xfrm>
            <a:off x="6400800" y="2962656"/>
            <a:ext cx="1659636" cy="365760"/>
          </a:xfrm>
          <a:prstGeom prst="rect">
            <a:avLst/>
          </a:prstGeom>
          <a:noFill/>
          <a:ln/>
        </p:spPr>
        <p:txBody>
          <a:bodyPr wrap="square" rtlCol="0" anchor="ctr"/>
          <a:lstStyle/>
          <a:p>
            <a:pPr algn="ctr" indent="0" marL="0">
              <a:buNone/>
            </a:pPr>
            <a:r>
              <a:rPr lang="en-US" sz="950" b="1" dirty="0">
                <a:solidFill>
                  <a:srgbClr val="A8761B"/>
                </a:solidFill>
                <a:latin typeface="Arial" pitchFamily="34" charset="0"/>
                <a:ea typeface="Arial" pitchFamily="34" charset="-122"/>
                <a:cs typeface="Arial" pitchFamily="34" charset="-120"/>
              </a:rPr>
              <a:t>Keychains</a:t>
            </a:r>
            <a:endParaRPr lang="en-US" sz="950" dirty="0"/>
          </a:p>
        </p:txBody>
      </p:sp>
      <p:sp>
        <p:nvSpPr>
          <p:cNvPr id="19" name="Shape 17"/>
          <p:cNvSpPr/>
          <p:nvPr/>
        </p:nvSpPr>
        <p:spPr>
          <a:xfrm>
            <a:off x="4224528" y="3419856"/>
            <a:ext cx="3387852" cy="365760"/>
          </a:xfrm>
          <a:prstGeom prst="roundRect">
            <a:avLst>
              <a:gd name="adj" fmla="val 125000"/>
            </a:avLst>
          </a:prstGeom>
          <a:solidFill>
            <a:srgbClr val="FFF8F3"/>
          </a:solidFill>
          <a:ln w="12700">
            <a:solidFill>
              <a:srgbClr val="333333"/>
            </a:solidFill>
            <a:prstDash val="solid"/>
          </a:ln>
        </p:spPr>
      </p:sp>
      <p:sp>
        <p:nvSpPr>
          <p:cNvPr id="20" name="Text 18"/>
          <p:cNvSpPr/>
          <p:nvPr/>
        </p:nvSpPr>
        <p:spPr>
          <a:xfrm>
            <a:off x="4224528" y="3419856"/>
            <a:ext cx="3387852" cy="365760"/>
          </a:xfrm>
          <a:prstGeom prst="rect">
            <a:avLst/>
          </a:prstGeom>
          <a:noFill/>
          <a:ln/>
        </p:spPr>
        <p:txBody>
          <a:bodyPr wrap="square" rtlCol="0" anchor="ctr"/>
          <a:lstStyle/>
          <a:p>
            <a:pPr algn="ctr" indent="0" marL="0">
              <a:buNone/>
            </a:pPr>
            <a:r>
              <a:rPr lang="en-US" sz="950" b="1" dirty="0">
                <a:solidFill>
                  <a:srgbClr val="4F7A18"/>
                </a:solidFill>
                <a:latin typeface="Arial" pitchFamily="34" charset="0"/>
                <a:ea typeface="Arial" pitchFamily="34" charset="-122"/>
                <a:cs typeface="Arial" pitchFamily="34" charset="-120"/>
              </a:rPr>
              <a:t>Backpacks &amp; accessories</a:t>
            </a:r>
            <a:endParaRPr lang="en-US" sz="950" dirty="0"/>
          </a:p>
        </p:txBody>
      </p:sp>
      <p:sp>
        <p:nvSpPr>
          <p:cNvPr id="21" name="Shape 19"/>
          <p:cNvSpPr/>
          <p:nvPr/>
        </p:nvSpPr>
        <p:spPr>
          <a:xfrm>
            <a:off x="7758684" y="3419856"/>
            <a:ext cx="2153412" cy="365760"/>
          </a:xfrm>
          <a:prstGeom prst="roundRect">
            <a:avLst>
              <a:gd name="adj" fmla="val 125000"/>
            </a:avLst>
          </a:prstGeom>
          <a:solidFill>
            <a:srgbClr val="FFF8F3"/>
          </a:solidFill>
          <a:ln w="12700">
            <a:solidFill>
              <a:srgbClr val="333333"/>
            </a:solidFill>
            <a:prstDash val="solid"/>
          </a:ln>
        </p:spPr>
      </p:sp>
      <p:sp>
        <p:nvSpPr>
          <p:cNvPr id="22" name="Text 20"/>
          <p:cNvSpPr/>
          <p:nvPr/>
        </p:nvSpPr>
        <p:spPr>
          <a:xfrm>
            <a:off x="7758684" y="3419856"/>
            <a:ext cx="2153412" cy="365760"/>
          </a:xfrm>
          <a:prstGeom prst="rect">
            <a:avLst/>
          </a:prstGeom>
          <a:noFill/>
          <a:ln/>
        </p:spPr>
        <p:txBody>
          <a:bodyPr wrap="square" rtlCol="0" anchor="ctr"/>
          <a:lstStyle/>
          <a:p>
            <a:pPr algn="ctr" indent="0" marL="0">
              <a:buNone/>
            </a:pPr>
            <a:r>
              <a:rPr lang="en-US" sz="950" b="1" dirty="0">
                <a:solidFill>
                  <a:srgbClr val="C4306E"/>
                </a:solidFill>
                <a:latin typeface="Arial" pitchFamily="34" charset="0"/>
                <a:ea typeface="Arial" pitchFamily="34" charset="-122"/>
                <a:cs typeface="Arial" pitchFamily="34" charset="-120"/>
              </a:rPr>
              <a:t>Activity kits</a:t>
            </a:r>
            <a:endParaRPr lang="en-US" sz="950" dirty="0"/>
          </a:p>
        </p:txBody>
      </p:sp>
      <p:sp>
        <p:nvSpPr>
          <p:cNvPr id="23" name="Shape 21"/>
          <p:cNvSpPr/>
          <p:nvPr/>
        </p:nvSpPr>
        <p:spPr>
          <a:xfrm>
            <a:off x="4224528" y="3877056"/>
            <a:ext cx="1536192" cy="365760"/>
          </a:xfrm>
          <a:prstGeom prst="roundRect">
            <a:avLst>
              <a:gd name="adj" fmla="val 125000"/>
            </a:avLst>
          </a:prstGeom>
          <a:solidFill>
            <a:srgbClr val="FFF8F3"/>
          </a:solidFill>
          <a:ln w="12700">
            <a:solidFill>
              <a:srgbClr val="333333"/>
            </a:solidFill>
            <a:prstDash val="solid"/>
          </a:ln>
        </p:spPr>
      </p:sp>
      <p:sp>
        <p:nvSpPr>
          <p:cNvPr id="24" name="Text 22"/>
          <p:cNvSpPr/>
          <p:nvPr/>
        </p:nvSpPr>
        <p:spPr>
          <a:xfrm>
            <a:off x="4224528" y="3877056"/>
            <a:ext cx="1536192" cy="365760"/>
          </a:xfrm>
          <a:prstGeom prst="rect">
            <a:avLst/>
          </a:prstGeom>
          <a:noFill/>
          <a:ln/>
        </p:spPr>
        <p:txBody>
          <a:bodyPr wrap="square" rtlCol="0" anchor="ctr"/>
          <a:lstStyle/>
          <a:p>
            <a:pPr algn="ctr" indent="0" marL="0">
              <a:buNone/>
            </a:pPr>
            <a:r>
              <a:rPr lang="en-US" sz="950" b="1" dirty="0">
                <a:solidFill>
                  <a:srgbClr val="6E37B0"/>
                </a:solidFill>
                <a:latin typeface="Arial" pitchFamily="34" charset="0"/>
                <a:ea typeface="Arial" pitchFamily="34" charset="-122"/>
                <a:cs typeface="Arial" pitchFamily="34" charset="-120"/>
              </a:rPr>
              <a:t>Stickers</a:t>
            </a:r>
            <a:endParaRPr lang="en-US" sz="950" dirty="0"/>
          </a:p>
        </p:txBody>
      </p:sp>
      <p:sp>
        <p:nvSpPr>
          <p:cNvPr id="25" name="Shape 23"/>
          <p:cNvSpPr/>
          <p:nvPr/>
        </p:nvSpPr>
        <p:spPr>
          <a:xfrm>
            <a:off x="5907024" y="3877056"/>
            <a:ext cx="1412748" cy="365760"/>
          </a:xfrm>
          <a:prstGeom prst="roundRect">
            <a:avLst>
              <a:gd name="adj" fmla="val 125000"/>
            </a:avLst>
          </a:prstGeom>
          <a:solidFill>
            <a:srgbClr val="FFF8F3"/>
          </a:solidFill>
          <a:ln w="12700">
            <a:solidFill>
              <a:srgbClr val="333333"/>
            </a:solidFill>
            <a:prstDash val="solid"/>
          </a:ln>
        </p:spPr>
      </p:sp>
      <p:sp>
        <p:nvSpPr>
          <p:cNvPr id="26" name="Text 24"/>
          <p:cNvSpPr/>
          <p:nvPr/>
        </p:nvSpPr>
        <p:spPr>
          <a:xfrm>
            <a:off x="5907024" y="3877056"/>
            <a:ext cx="1412748" cy="365760"/>
          </a:xfrm>
          <a:prstGeom prst="rect">
            <a:avLst/>
          </a:prstGeom>
          <a:noFill/>
          <a:ln/>
        </p:spPr>
        <p:txBody>
          <a:bodyPr wrap="square" rtlCol="0" anchor="ctr"/>
          <a:lstStyle/>
          <a:p>
            <a:pPr algn="ctr" indent="0" marL="0">
              <a:buNone/>
            </a:pPr>
            <a:r>
              <a:rPr lang="en-US" sz="950" b="1" dirty="0">
                <a:solidFill>
                  <a:srgbClr val="17788F"/>
                </a:solidFill>
                <a:latin typeface="Arial" pitchFamily="34" charset="0"/>
                <a:ea typeface="Arial" pitchFamily="34" charset="-122"/>
                <a:cs typeface="Arial" pitchFamily="34" charset="-120"/>
              </a:rPr>
              <a:t>Apparel</a:t>
            </a:r>
            <a:endParaRPr lang="en-US" sz="950" dirty="0"/>
          </a:p>
        </p:txBody>
      </p:sp>
      <p:sp>
        <p:nvSpPr>
          <p:cNvPr id="27" name="Shape 25"/>
          <p:cNvSpPr/>
          <p:nvPr/>
        </p:nvSpPr>
        <p:spPr>
          <a:xfrm>
            <a:off x="7466076" y="3877056"/>
            <a:ext cx="3758184" cy="365760"/>
          </a:xfrm>
          <a:prstGeom prst="roundRect">
            <a:avLst>
              <a:gd name="adj" fmla="val 125000"/>
            </a:avLst>
          </a:prstGeom>
          <a:solidFill>
            <a:srgbClr val="FFF8F3"/>
          </a:solidFill>
          <a:ln w="12700">
            <a:solidFill>
              <a:srgbClr val="333333"/>
            </a:solidFill>
            <a:prstDash val="solid"/>
          </a:ln>
        </p:spPr>
      </p:sp>
      <p:sp>
        <p:nvSpPr>
          <p:cNvPr id="28" name="Text 26"/>
          <p:cNvSpPr/>
          <p:nvPr/>
        </p:nvSpPr>
        <p:spPr>
          <a:xfrm>
            <a:off x="7466076" y="3877056"/>
            <a:ext cx="3758184" cy="365760"/>
          </a:xfrm>
          <a:prstGeom prst="rect">
            <a:avLst/>
          </a:prstGeom>
          <a:noFill/>
          <a:ln/>
        </p:spPr>
        <p:txBody>
          <a:bodyPr wrap="square" rtlCol="0" anchor="ctr"/>
          <a:lstStyle/>
          <a:p>
            <a:pPr algn="ctr" indent="0" marL="0">
              <a:buNone/>
            </a:pPr>
            <a:r>
              <a:rPr lang="en-US" sz="950" b="1" dirty="0">
                <a:solidFill>
                  <a:srgbClr val="A8761B"/>
                </a:solidFill>
                <a:latin typeface="Arial" pitchFamily="34" charset="0"/>
                <a:ea typeface="Arial" pitchFamily="34" charset="-122"/>
                <a:cs typeface="Arial" pitchFamily="34" charset="-120"/>
              </a:rPr>
              <a:t>Classroom &amp; party products</a:t>
            </a:r>
            <a:endParaRPr lang="en-US" sz="950" dirty="0"/>
          </a:p>
        </p:txBody>
      </p:sp>
      <p:sp>
        <p:nvSpPr>
          <p:cNvPr id="29" name="Shape 27"/>
          <p:cNvSpPr/>
          <p:nvPr/>
        </p:nvSpPr>
        <p:spPr>
          <a:xfrm>
            <a:off x="997610" y="4582058"/>
            <a:ext cx="1461211" cy="1461211"/>
          </a:xfrm>
          <a:prstGeom prst="ellipse">
            <a:avLst/>
          </a:prstGeom>
          <a:solidFill>
            <a:srgbClr val="FFF0F6"/>
          </a:solidFill>
          <a:ln w="12700">
            <a:solidFill>
              <a:srgbClr val="333333"/>
            </a:solidFill>
            <a:prstDash val="solid"/>
          </a:ln>
        </p:spPr>
      </p:sp>
      <p:pic>
        <p:nvPicPr>
          <p:cNvPr id="30" name="Image 0" descr="D:\squishy-smash\docs\marketing\squishy_smash_deck_package\assets\staged\model_soft_dumpling.png">    </p:cNvPr>
          <p:cNvPicPr>
            <a:picLocks noChangeAspect="1"/>
          </p:cNvPicPr>
          <p:nvPr/>
        </p:nvPicPr>
        <p:blipFill>
          <a:blip r:embed="rId1"/>
          <a:stretch>
            <a:fillRect/>
          </a:stretch>
        </p:blipFill>
        <p:spPr>
          <a:xfrm>
            <a:off x="1059790" y="4644238"/>
            <a:ext cx="1336853" cy="1336853"/>
          </a:xfrm>
          <a:prstGeom prst="rect">
            <a:avLst/>
          </a:prstGeom>
        </p:spPr>
      </p:pic>
      <p:sp>
        <p:nvSpPr>
          <p:cNvPr id="31" name="Shape 28"/>
          <p:cNvSpPr/>
          <p:nvPr/>
        </p:nvSpPr>
        <p:spPr>
          <a:xfrm>
            <a:off x="2716682" y="4582058"/>
            <a:ext cx="1461211" cy="1461211"/>
          </a:xfrm>
          <a:prstGeom prst="ellipse">
            <a:avLst/>
          </a:prstGeom>
          <a:solidFill>
            <a:srgbClr val="F2FAFD"/>
          </a:solidFill>
          <a:ln w="12700">
            <a:solidFill>
              <a:srgbClr val="333333"/>
            </a:solidFill>
            <a:prstDash val="solid"/>
          </a:ln>
        </p:spPr>
      </p:sp>
      <p:pic>
        <p:nvPicPr>
          <p:cNvPr id="32" name="Image 1" descr="D:\squishy-smash\docs\marketing\squishy_smash_deck_package\assets\staged\model_goo_ball.png">    </p:cNvPr>
          <p:cNvPicPr>
            <a:picLocks noChangeAspect="1"/>
          </p:cNvPicPr>
          <p:nvPr/>
        </p:nvPicPr>
        <p:blipFill>
          <a:blip r:embed="rId2"/>
          <a:stretch>
            <a:fillRect/>
          </a:stretch>
        </p:blipFill>
        <p:spPr>
          <a:xfrm>
            <a:off x="2778862" y="4644238"/>
            <a:ext cx="1336853" cy="1336853"/>
          </a:xfrm>
          <a:prstGeom prst="rect">
            <a:avLst/>
          </a:prstGeom>
        </p:spPr>
      </p:pic>
      <p:sp>
        <p:nvSpPr>
          <p:cNvPr id="33" name="Shape 29"/>
          <p:cNvSpPr/>
          <p:nvPr/>
        </p:nvSpPr>
        <p:spPr>
          <a:xfrm>
            <a:off x="4435754" y="4582058"/>
            <a:ext cx="1461211" cy="1461211"/>
          </a:xfrm>
          <a:prstGeom prst="ellipse">
            <a:avLst/>
          </a:prstGeom>
          <a:solidFill>
            <a:srgbClr val="FFF8F3"/>
          </a:solidFill>
          <a:ln w="12700">
            <a:solidFill>
              <a:srgbClr val="333333"/>
            </a:solidFill>
            <a:prstDash val="solid"/>
          </a:ln>
        </p:spPr>
      </p:sp>
      <p:pic>
        <p:nvPicPr>
          <p:cNvPr id="34" name="Image 2" descr="D:\squishy-smash\docs\marketing\squishy_smash_deck_package\assets\staged\model_blushy_bun_bunny.png">    </p:cNvPr>
          <p:cNvPicPr>
            <a:picLocks noChangeAspect="1"/>
          </p:cNvPicPr>
          <p:nvPr/>
        </p:nvPicPr>
        <p:blipFill>
          <a:blip r:embed="rId3"/>
          <a:stretch>
            <a:fillRect/>
          </a:stretch>
        </p:blipFill>
        <p:spPr>
          <a:xfrm>
            <a:off x="4497934" y="4644238"/>
            <a:ext cx="1336853" cy="1336853"/>
          </a:xfrm>
          <a:prstGeom prst="rect">
            <a:avLst/>
          </a:prstGeom>
        </p:spPr>
      </p:pic>
      <p:sp>
        <p:nvSpPr>
          <p:cNvPr id="35" name="Shape 30"/>
          <p:cNvSpPr/>
          <p:nvPr/>
        </p:nvSpPr>
        <p:spPr>
          <a:xfrm>
            <a:off x="6154826" y="4582058"/>
            <a:ext cx="1461211" cy="1461211"/>
          </a:xfrm>
          <a:prstGeom prst="ellipse">
            <a:avLst/>
          </a:prstGeom>
          <a:solidFill>
            <a:srgbClr val="FFF0F6"/>
          </a:solidFill>
          <a:ln w="12700">
            <a:solidFill>
              <a:srgbClr val="333333"/>
            </a:solidFill>
            <a:prstDash val="solid"/>
          </a:ln>
        </p:spPr>
      </p:sp>
      <p:pic>
        <p:nvPicPr>
          <p:cNvPr id="36" name="Image 3" descr="D:\squishy-smash\docs\marketing\squishy_smash_deck_package\assets\staged\model_celestial_dumpling_core.png">    </p:cNvPr>
          <p:cNvPicPr>
            <a:picLocks noChangeAspect="1"/>
          </p:cNvPicPr>
          <p:nvPr/>
        </p:nvPicPr>
        <p:blipFill>
          <a:blip r:embed="rId4"/>
          <a:stretch>
            <a:fillRect/>
          </a:stretch>
        </p:blipFill>
        <p:spPr>
          <a:xfrm>
            <a:off x="6217006" y="4644238"/>
            <a:ext cx="1336853" cy="1336853"/>
          </a:xfrm>
          <a:prstGeom prst="rect">
            <a:avLst/>
          </a:prstGeom>
        </p:spPr>
      </p:pic>
      <p:sp>
        <p:nvSpPr>
          <p:cNvPr id="37" name="Shape 31"/>
          <p:cNvSpPr/>
          <p:nvPr/>
        </p:nvSpPr>
        <p:spPr>
          <a:xfrm>
            <a:off x="7873898" y="4582058"/>
            <a:ext cx="1461211" cy="1461211"/>
          </a:xfrm>
          <a:prstGeom prst="ellipse">
            <a:avLst/>
          </a:prstGeom>
          <a:solidFill>
            <a:srgbClr val="F2FAFD"/>
          </a:solidFill>
          <a:ln w="12700">
            <a:solidFill>
              <a:srgbClr val="333333"/>
            </a:solidFill>
            <a:prstDash val="solid"/>
          </a:ln>
        </p:spPr>
      </p:sp>
      <p:pic>
        <p:nvPicPr>
          <p:cNvPr id="38" name="Image 4" descr="D:\squishy-smash\docs\marketing\squishy_smash_deck_package\assets\staged\model_singularity_goo_core.png">    </p:cNvPr>
          <p:cNvPicPr>
            <a:picLocks noChangeAspect="1"/>
          </p:cNvPicPr>
          <p:nvPr/>
        </p:nvPicPr>
        <p:blipFill>
          <a:blip r:embed="rId5"/>
          <a:stretch>
            <a:fillRect/>
          </a:stretch>
        </p:blipFill>
        <p:spPr>
          <a:xfrm>
            <a:off x="7936078" y="4644238"/>
            <a:ext cx="1336853" cy="1336853"/>
          </a:xfrm>
          <a:prstGeom prst="rect">
            <a:avLst/>
          </a:prstGeom>
        </p:spPr>
      </p:pic>
      <p:sp>
        <p:nvSpPr>
          <p:cNvPr id="39" name="Shape 32"/>
          <p:cNvSpPr/>
          <p:nvPr/>
        </p:nvSpPr>
        <p:spPr>
          <a:xfrm>
            <a:off x="9592970" y="4582058"/>
            <a:ext cx="1461211" cy="1461211"/>
          </a:xfrm>
          <a:prstGeom prst="ellipse">
            <a:avLst/>
          </a:prstGeom>
          <a:solidFill>
            <a:srgbClr val="FFF8F3"/>
          </a:solidFill>
          <a:ln w="12700">
            <a:solidFill>
              <a:srgbClr val="333333"/>
            </a:solidFill>
            <a:prstDash val="solid"/>
          </a:ln>
        </p:spPr>
      </p:sp>
      <p:pic>
        <p:nvPicPr>
          <p:cNvPr id="40" name="Image 5" descr="D:\squishy-smash\docs\marketing\squishy_smash_deck_package\assets\staged\model_mythic_plush_familiar.png">    </p:cNvPr>
          <p:cNvPicPr>
            <a:picLocks noChangeAspect="1"/>
          </p:cNvPicPr>
          <p:nvPr/>
        </p:nvPicPr>
        <p:blipFill>
          <a:blip r:embed="rId6"/>
          <a:stretch>
            <a:fillRect/>
          </a:stretch>
        </p:blipFill>
        <p:spPr>
          <a:xfrm>
            <a:off x="9655150" y="4644238"/>
            <a:ext cx="1336853" cy="1336853"/>
          </a:xfrm>
          <a:prstGeom prst="rect">
            <a:avLst/>
          </a:prstGeom>
        </p:spPr>
      </p:pic>
      <p:sp>
        <p:nvSpPr>
          <p:cNvPr id="41" name="Text 33"/>
          <p:cNvSpPr/>
          <p:nvPr/>
        </p:nvSpPr>
        <p:spPr>
          <a:xfrm>
            <a:off x="658368" y="6053328"/>
            <a:ext cx="10881360" cy="384048"/>
          </a:xfrm>
          <a:prstGeom prst="rect">
            <a:avLst/>
          </a:prstGeom>
          <a:noFill/>
          <a:ln/>
        </p:spPr>
        <p:txBody>
          <a:bodyPr wrap="square" rtlCol="0" anchor="t"/>
          <a:lstStyle/>
          <a:p>
            <a:pPr indent="0" marL="0">
              <a:buNone/>
            </a:pPr>
            <a:r>
              <a:rPr lang="en-US" sz="1050" i="1" dirty="0">
                <a:solidFill>
                  <a:srgbClr val="7C6E86"/>
                </a:solidFill>
                <a:latin typeface="Arial" pitchFamily="34" charset="0"/>
                <a:ea typeface="Arial" pitchFamily="34" charset="-122"/>
                <a:cs typeface="Arial" pitchFamily="34" charset="-120"/>
              </a:rPr>
              <a:t>Concept categories illustrating licensing breadth. No timeline is proposed for these.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0B17"/>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7A6B85"/>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7A6B85"/>
                </a:solidFill>
                <a:latin typeface="Arial" pitchFamily="34" charset="0"/>
                <a:ea typeface="Arial" pitchFamily="34" charset="-122"/>
                <a:cs typeface="Arial" pitchFamily="34" charset="-120"/>
              </a:rPr>
              <a:t>14</a:t>
            </a:r>
            <a:endParaRPr lang="en-US" sz="950" dirty="0"/>
          </a:p>
        </p:txBody>
      </p:sp>
      <p:sp>
        <p:nvSpPr>
          <p:cNvPr id="4" name="Shape 2"/>
          <p:cNvSpPr/>
          <p:nvPr/>
        </p:nvSpPr>
        <p:spPr>
          <a:xfrm>
            <a:off x="6949440" y="640080"/>
            <a:ext cx="5120640" cy="5120640"/>
          </a:xfrm>
          <a:prstGeom prst="ellipse">
            <a:avLst/>
          </a:prstGeom>
          <a:solidFill>
            <a:srgbClr val="241634"/>
          </a:solidFill>
          <a:ln w="12700">
            <a:solidFill>
              <a:srgbClr val="333333"/>
            </a:solidFill>
            <a:prstDash val="solid"/>
          </a:ln>
        </p:spPr>
      </p:sp>
      <p:pic>
        <p:nvPicPr>
          <p:cNvPr id="5" name="Image 0" descr="D:\squishy-smash\docs\marketing\squishy_smash_deck_package\assets\staged\model_mythic_plush_familiar.png">    </p:cNvPr>
          <p:cNvPicPr>
            <a:picLocks noChangeAspect="1"/>
          </p:cNvPicPr>
          <p:nvPr/>
        </p:nvPicPr>
        <p:blipFill>
          <a:blip r:embed="rId1"/>
          <a:stretch>
            <a:fillRect/>
          </a:stretch>
        </p:blipFill>
        <p:spPr>
          <a:xfrm>
            <a:off x="7406640" y="1097280"/>
            <a:ext cx="4206240" cy="4206240"/>
          </a:xfrm>
          <a:prstGeom prst="rect">
            <a:avLst/>
          </a:prstGeom>
        </p:spPr>
      </p:pic>
      <p:sp>
        <p:nvSpPr>
          <p:cNvPr id="6" name="Text 3"/>
          <p:cNvSpPr/>
          <p:nvPr/>
        </p:nvSpPr>
        <p:spPr>
          <a:xfrm>
            <a:off x="658368" y="1371600"/>
            <a:ext cx="6400800" cy="1371600"/>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Let’s Bring Squishy Smash to Life</a:t>
            </a:r>
            <a:endParaRPr lang="en-US" sz="3400" dirty="0"/>
          </a:p>
        </p:txBody>
      </p:sp>
      <p:sp>
        <p:nvSpPr>
          <p:cNvPr id="7" name="Shape 4"/>
          <p:cNvSpPr/>
          <p:nvPr/>
        </p:nvSpPr>
        <p:spPr>
          <a:xfrm>
            <a:off x="658368" y="2798064"/>
            <a:ext cx="786384" cy="50292"/>
          </a:xfrm>
          <a:prstGeom prst="rect">
            <a:avLst/>
          </a:prstGeom>
          <a:solidFill>
            <a:srgbClr val="FF8FB8"/>
          </a:solidFill>
          <a:ln w="12700">
            <a:solidFill>
              <a:srgbClr val="333333"/>
            </a:solidFill>
            <a:prstDash val="solid"/>
          </a:ln>
        </p:spPr>
      </p:sp>
      <p:sp>
        <p:nvSpPr>
          <p:cNvPr id="8" name="Text 5"/>
          <p:cNvSpPr/>
          <p:nvPr/>
        </p:nvSpPr>
        <p:spPr>
          <a:xfrm>
            <a:off x="658368" y="3017520"/>
            <a:ext cx="6126480" cy="822960"/>
          </a:xfrm>
          <a:prstGeom prst="rect">
            <a:avLst/>
          </a:prstGeom>
          <a:noFill/>
          <a:ln/>
        </p:spPr>
        <p:txBody>
          <a:bodyPr wrap="square" rtlCol="0" anchor="ctr"/>
          <a:lstStyle/>
          <a:p>
            <a:pPr indent="0" marL="0">
              <a:lnSpc>
                <a:spcPct val="130000"/>
              </a:lnSpc>
              <a:buNone/>
            </a:pPr>
            <a:r>
              <a:rPr lang="en-US" sz="1350" dirty="0">
                <a:solidFill>
                  <a:srgbClr val="C9BCD2"/>
                </a:solidFill>
                <a:latin typeface="Arial" pitchFamily="34" charset="0"/>
                <a:ea typeface="Arial" pitchFamily="34" charset="-122"/>
                <a:cs typeface="Arial" pitchFamily="34" charset="-120"/>
              </a:rPr>
              <a:t>We are seeking experienced manufacturing and licensing partners to help develop the first physical Squishy Smash collection.</a:t>
            </a:r>
            <a:endParaRPr lang="en-US" sz="1350" dirty="0"/>
          </a:p>
        </p:txBody>
      </p:sp>
      <p:sp>
        <p:nvSpPr>
          <p:cNvPr id="9" name="Text 6"/>
          <p:cNvSpPr/>
          <p:nvPr/>
        </p:nvSpPr>
        <p:spPr>
          <a:xfrm>
            <a:off x="658368" y="3977640"/>
            <a:ext cx="1371600" cy="292608"/>
          </a:xfrm>
          <a:prstGeom prst="rect">
            <a:avLst/>
          </a:prstGeom>
          <a:noFill/>
          <a:ln/>
        </p:spPr>
        <p:txBody>
          <a:bodyPr wrap="square" rtlCol="0" anchor="ctr"/>
          <a:lstStyle/>
          <a:p>
            <a:pPr indent="0" marL="0">
              <a:buNone/>
            </a:pPr>
            <a:r>
              <a:rPr lang="en-US" sz="950" b="1" spc="120" kern="0" dirty="0">
                <a:solidFill>
                  <a:srgbClr val="8B7F92"/>
                </a:solidFill>
                <a:latin typeface="Arial" pitchFamily="34" charset="0"/>
                <a:ea typeface="Arial" pitchFamily="34" charset="-122"/>
                <a:cs typeface="Arial" pitchFamily="34" charset="-120"/>
              </a:rPr>
              <a:t>CONTACT</a:t>
            </a:r>
            <a:endParaRPr lang="en-US" sz="950" dirty="0"/>
          </a:p>
        </p:txBody>
      </p:sp>
      <p:sp>
        <p:nvSpPr>
          <p:cNvPr id="10" name="Text 7"/>
          <p:cNvSpPr/>
          <p:nvPr/>
        </p:nvSpPr>
        <p:spPr>
          <a:xfrm>
            <a:off x="2075688" y="3977640"/>
            <a:ext cx="4754880" cy="292608"/>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Christopher Ryan Campbell</a:t>
            </a:r>
            <a:endParaRPr lang="en-US" sz="1300" dirty="0"/>
          </a:p>
        </p:txBody>
      </p:sp>
      <p:sp>
        <p:nvSpPr>
          <p:cNvPr id="11" name="Text 8"/>
          <p:cNvSpPr/>
          <p:nvPr/>
        </p:nvSpPr>
        <p:spPr>
          <a:xfrm>
            <a:off x="658368" y="4361688"/>
            <a:ext cx="1371600" cy="292608"/>
          </a:xfrm>
          <a:prstGeom prst="rect">
            <a:avLst/>
          </a:prstGeom>
          <a:noFill/>
          <a:ln/>
        </p:spPr>
        <p:txBody>
          <a:bodyPr wrap="square" rtlCol="0" anchor="ctr"/>
          <a:lstStyle/>
          <a:p>
            <a:pPr indent="0" marL="0">
              <a:buNone/>
            </a:pPr>
            <a:r>
              <a:rPr lang="en-US" sz="950" b="1" spc="120" kern="0" dirty="0">
                <a:solidFill>
                  <a:srgbClr val="8B7F92"/>
                </a:solidFill>
                <a:latin typeface="Arial" pitchFamily="34" charset="0"/>
                <a:ea typeface="Arial" pitchFamily="34" charset="-122"/>
                <a:cs typeface="Arial" pitchFamily="34" charset="-120"/>
              </a:rPr>
              <a:t>COMPANY</a:t>
            </a:r>
            <a:endParaRPr lang="en-US" sz="950" dirty="0"/>
          </a:p>
        </p:txBody>
      </p:sp>
      <p:sp>
        <p:nvSpPr>
          <p:cNvPr id="12" name="Text 9"/>
          <p:cNvSpPr/>
          <p:nvPr/>
        </p:nvSpPr>
        <p:spPr>
          <a:xfrm>
            <a:off x="2075688" y="4361688"/>
            <a:ext cx="4754880" cy="292608"/>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Athlete Domains, LLC</a:t>
            </a:r>
            <a:endParaRPr lang="en-US" sz="1300" dirty="0"/>
          </a:p>
        </p:txBody>
      </p:sp>
      <p:sp>
        <p:nvSpPr>
          <p:cNvPr id="13" name="Text 10"/>
          <p:cNvSpPr/>
          <p:nvPr/>
        </p:nvSpPr>
        <p:spPr>
          <a:xfrm>
            <a:off x="658368" y="4745736"/>
            <a:ext cx="1371600" cy="292608"/>
          </a:xfrm>
          <a:prstGeom prst="rect">
            <a:avLst/>
          </a:prstGeom>
          <a:noFill/>
          <a:ln/>
        </p:spPr>
        <p:txBody>
          <a:bodyPr wrap="square" rtlCol="0" anchor="ctr"/>
          <a:lstStyle/>
          <a:p>
            <a:pPr indent="0" marL="0">
              <a:buNone/>
            </a:pPr>
            <a:r>
              <a:rPr lang="en-US" sz="950" b="1" spc="120" kern="0" dirty="0">
                <a:solidFill>
                  <a:srgbClr val="8B7F92"/>
                </a:solidFill>
                <a:latin typeface="Arial" pitchFamily="34" charset="0"/>
                <a:ea typeface="Arial" pitchFamily="34" charset="-122"/>
                <a:cs typeface="Arial" pitchFamily="34" charset="-120"/>
              </a:rPr>
              <a:t>EMAIL</a:t>
            </a:r>
            <a:endParaRPr lang="en-US" sz="950" dirty="0"/>
          </a:p>
        </p:txBody>
      </p:sp>
      <p:sp>
        <p:nvSpPr>
          <p:cNvPr id="14" name="Text 11"/>
          <p:cNvSpPr/>
          <p:nvPr/>
        </p:nvSpPr>
        <p:spPr>
          <a:xfrm>
            <a:off x="2075688" y="4745736"/>
            <a:ext cx="4754880" cy="292608"/>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support@squishysmash.com</a:t>
            </a:r>
            <a:endParaRPr lang="en-US" sz="1300" dirty="0"/>
          </a:p>
        </p:txBody>
      </p:sp>
      <p:sp>
        <p:nvSpPr>
          <p:cNvPr id="15" name="Text 12"/>
          <p:cNvSpPr/>
          <p:nvPr/>
        </p:nvSpPr>
        <p:spPr>
          <a:xfrm>
            <a:off x="658368" y="5129784"/>
            <a:ext cx="1371600" cy="292608"/>
          </a:xfrm>
          <a:prstGeom prst="rect">
            <a:avLst/>
          </a:prstGeom>
          <a:noFill/>
          <a:ln/>
        </p:spPr>
        <p:txBody>
          <a:bodyPr wrap="square" rtlCol="0" anchor="ctr"/>
          <a:lstStyle/>
          <a:p>
            <a:pPr indent="0" marL="0">
              <a:buNone/>
            </a:pPr>
            <a:r>
              <a:rPr lang="en-US" sz="950" b="1" spc="120" kern="0" dirty="0">
                <a:solidFill>
                  <a:srgbClr val="8B7F92"/>
                </a:solidFill>
                <a:latin typeface="Arial" pitchFamily="34" charset="0"/>
                <a:ea typeface="Arial" pitchFamily="34" charset="-122"/>
                <a:cs typeface="Arial" pitchFamily="34" charset="-120"/>
              </a:rPr>
              <a:t>WEBSITE</a:t>
            </a:r>
            <a:endParaRPr lang="en-US" sz="950" dirty="0"/>
          </a:p>
        </p:txBody>
      </p:sp>
      <p:sp>
        <p:nvSpPr>
          <p:cNvPr id="16" name="Text 13"/>
          <p:cNvSpPr/>
          <p:nvPr/>
        </p:nvSpPr>
        <p:spPr>
          <a:xfrm>
            <a:off x="2075688" y="5129784"/>
            <a:ext cx="4754880" cy="292608"/>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www.squishysmash.com</a:t>
            </a:r>
            <a:endParaRPr lang="en-US" sz="1300" dirty="0"/>
          </a:p>
        </p:txBody>
      </p:sp>
      <p:sp>
        <p:nvSpPr>
          <p:cNvPr id="17" name="Text 14"/>
          <p:cNvSpPr/>
          <p:nvPr/>
        </p:nvSpPr>
        <p:spPr>
          <a:xfrm>
            <a:off x="658368" y="5513832"/>
            <a:ext cx="1371600" cy="292608"/>
          </a:xfrm>
          <a:prstGeom prst="rect">
            <a:avLst/>
          </a:prstGeom>
          <a:noFill/>
          <a:ln/>
        </p:spPr>
        <p:txBody>
          <a:bodyPr wrap="square" rtlCol="0" anchor="ctr"/>
          <a:lstStyle/>
          <a:p>
            <a:pPr indent="0" marL="0">
              <a:buNone/>
            </a:pPr>
            <a:r>
              <a:rPr lang="en-US" sz="950" b="1" spc="120" kern="0" dirty="0">
                <a:solidFill>
                  <a:srgbClr val="8B7F92"/>
                </a:solidFill>
                <a:latin typeface="Arial" pitchFamily="34" charset="0"/>
                <a:ea typeface="Arial" pitchFamily="34" charset="-122"/>
                <a:cs typeface="Arial" pitchFamily="34" charset="-120"/>
              </a:rPr>
              <a:t>PHONE</a:t>
            </a:r>
            <a:endParaRPr lang="en-US" sz="950" dirty="0"/>
          </a:p>
        </p:txBody>
      </p:sp>
      <p:sp>
        <p:nvSpPr>
          <p:cNvPr id="18" name="Text 15"/>
          <p:cNvSpPr/>
          <p:nvPr/>
        </p:nvSpPr>
        <p:spPr>
          <a:xfrm>
            <a:off x="2075688" y="5513832"/>
            <a:ext cx="4754880" cy="292608"/>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864-606-2284</a:t>
            </a:r>
            <a:endParaRPr lang="en-US" sz="1300" dirty="0"/>
          </a:p>
        </p:txBody>
      </p:sp>
      <p:sp>
        <p:nvSpPr>
          <p:cNvPr id="19" name="Text 16"/>
          <p:cNvSpPr/>
          <p:nvPr/>
        </p:nvSpPr>
        <p:spPr>
          <a:xfrm>
            <a:off x="658368" y="6053328"/>
            <a:ext cx="6858000" cy="274320"/>
          </a:xfrm>
          <a:prstGeom prst="rect">
            <a:avLst/>
          </a:prstGeom>
          <a:noFill/>
          <a:ln/>
        </p:spPr>
        <p:txBody>
          <a:bodyPr wrap="square" rtlCol="0" anchor="ctr"/>
          <a:lstStyle/>
          <a:p>
            <a:pPr indent="0" marL="0">
              <a:buNone/>
            </a:pPr>
            <a:r>
              <a:rPr lang="en-US" sz="950" dirty="0">
                <a:solidFill>
                  <a:srgbClr val="6F6079"/>
                </a:solidFill>
                <a:latin typeface="Arial" pitchFamily="34" charset="0"/>
                <a:ea typeface="Arial" pitchFamily="34" charset="-122"/>
                <a:cs typeface="Arial" pitchFamily="34" charset="-120"/>
              </a:rPr>
              <a:t>© 2026 Christopher Ryan Campbell / Athlete Domains, LLC. All rights reserved.</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15</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C4306E"/>
                </a:solidFill>
                <a:latin typeface="Arial" pitchFamily="34" charset="0"/>
                <a:ea typeface="Arial" pitchFamily="34" charset="-122"/>
                <a:cs typeface="Arial" pitchFamily="34" charset="-120"/>
              </a:rPr>
              <a:t>APPENDIX A</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Full Character Gallery</a:t>
            </a:r>
            <a:endParaRPr lang="en-US" sz="3000" dirty="0"/>
          </a:p>
        </p:txBody>
      </p:sp>
      <p:sp>
        <p:nvSpPr>
          <p:cNvPr id="6" name="Shape 4"/>
          <p:cNvSpPr/>
          <p:nvPr/>
        </p:nvSpPr>
        <p:spPr>
          <a:xfrm>
            <a:off x="658368" y="1737360"/>
            <a:ext cx="786384" cy="50292"/>
          </a:xfrm>
          <a:prstGeom prst="rect">
            <a:avLst/>
          </a:prstGeom>
          <a:solidFill>
            <a:srgbClr val="C4306E"/>
          </a:solidFill>
          <a:ln w="12700">
            <a:solidFill>
              <a:srgbClr val="333333"/>
            </a:solidFill>
            <a:prstDash val="solid"/>
          </a:ln>
        </p:spPr>
      </p:sp>
      <p:sp>
        <p:nvSpPr>
          <p:cNvPr id="7" name="Text 5"/>
          <p:cNvSpPr/>
          <p:nvPr/>
        </p:nvSpPr>
        <p:spPr>
          <a:xfrm>
            <a:off x="658368" y="2029968"/>
            <a:ext cx="10881360" cy="329184"/>
          </a:xfrm>
          <a:prstGeom prst="rect">
            <a:avLst/>
          </a:prstGeom>
          <a:noFill/>
          <a:ln/>
        </p:spPr>
        <p:txBody>
          <a:bodyPr wrap="square" rtlCol="0" anchor="ctr"/>
          <a:lstStyle/>
          <a:p>
            <a:pPr indent="0" marL="0">
              <a:buNone/>
            </a:pPr>
            <a:r>
              <a:rPr lang="en-US" sz="1250" dirty="0">
                <a:solidFill>
                  <a:srgbClr val="4A3F52"/>
                </a:solidFill>
                <a:latin typeface="Arial" pitchFamily="34" charset="0"/>
                <a:ea typeface="Arial" pitchFamily="34" charset="-122"/>
                <a:cs typeface="Arial" pitchFamily="34" charset="-120"/>
              </a:rPr>
              <a:t>All 48 characters. Every character has finished artwork, a name, a series number and a rarity tier.</a:t>
            </a:r>
            <a:endParaRPr lang="en-US" sz="1250" dirty="0"/>
          </a:p>
        </p:txBody>
      </p:sp>
      <p:pic>
        <p:nvPicPr>
          <p:cNvPr id="8" name="Image 0" descr="D:\squishy-smash\docs\marketing\squishy_smash_deck_package\assets\staged\grid_48_cards.png">    </p:cNvPr>
          <p:cNvPicPr>
            <a:picLocks noChangeAspect="1"/>
          </p:cNvPicPr>
          <p:nvPr/>
        </p:nvPicPr>
        <p:blipFill>
          <a:blip r:embed="rId1"/>
          <a:stretch>
            <a:fillRect/>
          </a:stretch>
        </p:blipFill>
        <p:spPr>
          <a:xfrm>
            <a:off x="978408" y="2468880"/>
            <a:ext cx="10204704" cy="3401568"/>
          </a:xfrm>
          <a:prstGeom prst="rect">
            <a:avLst/>
          </a:prstGeom>
        </p:spPr>
      </p:pic>
      <p:sp>
        <p:nvSpPr>
          <p:cNvPr id="9" name="Text 6"/>
          <p:cNvSpPr/>
          <p:nvPr/>
        </p:nvSpPr>
        <p:spPr>
          <a:xfrm>
            <a:off x="658368" y="6053328"/>
            <a:ext cx="10881360" cy="274320"/>
          </a:xfrm>
          <a:prstGeom prst="rect">
            <a:avLst/>
          </a:prstGeom>
          <a:noFill/>
          <a:ln/>
        </p:spPr>
        <p:txBody>
          <a:bodyPr wrap="square" rtlCol="0" anchor="ctr"/>
          <a:lstStyle/>
          <a:p>
            <a:pPr algn="ctr" indent="0" marL="0">
              <a:buNone/>
            </a:pPr>
            <a:r>
              <a:rPr lang="en-US" sz="1100" i="1" dirty="0">
                <a:solidFill>
                  <a:srgbClr val="7C6E86"/>
                </a:solidFill>
                <a:latin typeface="Arial" pitchFamily="34" charset="0"/>
                <a:ea typeface="Arial" pitchFamily="34" charset="-122"/>
                <a:cs typeface="Arial" pitchFamily="34" charset="-120"/>
              </a:rPr>
              <a:t>24 Common · 12 Rare · 9 Epic · 3 Legendary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473952"/>
            <a:ext cx="6400800" cy="228600"/>
          </a:xfrm>
          <a:prstGeom prst="rect">
            <a:avLst/>
          </a:prstGeom>
          <a:noFill/>
          <a:ln/>
        </p:spPr>
        <p:txBody>
          <a:bodyPr wrap="square" rtlCol="0" anchor="ctr"/>
          <a:lstStyle/>
          <a:p>
            <a:pPr indent="0" marL="0">
              <a:buNone/>
            </a:pPr>
            <a:r>
              <a:rPr lang="en-US" sz="950" dirty="0">
                <a:solidFill>
                  <a:srgbClr val="A99BB0"/>
                </a:solidFill>
                <a:latin typeface="Arial" pitchFamily="34" charset="0"/>
                <a:ea typeface="Arial" pitchFamily="34" charset="-122"/>
                <a:cs typeface="Arial" pitchFamily="34" charset="-120"/>
              </a:rPr>
              <a:t>Squishy Smash  |  Confidential Concept Presentation</a:t>
            </a:r>
            <a:endParaRPr lang="en-US" sz="950" dirty="0"/>
          </a:p>
        </p:txBody>
      </p:sp>
      <p:sp>
        <p:nvSpPr>
          <p:cNvPr id="3" name="Text 1"/>
          <p:cNvSpPr/>
          <p:nvPr/>
        </p:nvSpPr>
        <p:spPr>
          <a:xfrm>
            <a:off x="10984687" y="6473952"/>
            <a:ext cx="548640" cy="228600"/>
          </a:xfrm>
          <a:prstGeom prst="rect">
            <a:avLst/>
          </a:prstGeom>
          <a:noFill/>
          <a:ln/>
        </p:spPr>
        <p:txBody>
          <a:bodyPr wrap="square" rtlCol="0" anchor="ctr"/>
          <a:lstStyle/>
          <a:p>
            <a:pPr algn="r" indent="0" marL="0">
              <a:buNone/>
            </a:pPr>
            <a:r>
              <a:rPr lang="en-US" sz="950" dirty="0">
                <a:solidFill>
                  <a:srgbClr val="A99BB0"/>
                </a:solidFill>
                <a:latin typeface="Arial" pitchFamily="34" charset="0"/>
                <a:ea typeface="Arial" pitchFamily="34" charset="-122"/>
                <a:cs typeface="Arial" pitchFamily="34" charset="-120"/>
              </a:rPr>
              <a:t>16</a:t>
            </a:r>
            <a:endParaRPr lang="en-US" sz="950" dirty="0"/>
          </a:p>
        </p:txBody>
      </p:sp>
      <p:sp>
        <p:nvSpPr>
          <p:cNvPr id="4" name="Text 2"/>
          <p:cNvSpPr/>
          <p:nvPr/>
        </p:nvSpPr>
        <p:spPr>
          <a:xfrm>
            <a:off x="658368" y="566928"/>
            <a:ext cx="10881360" cy="256032"/>
          </a:xfrm>
          <a:prstGeom prst="rect">
            <a:avLst/>
          </a:prstGeom>
          <a:noFill/>
          <a:ln/>
        </p:spPr>
        <p:txBody>
          <a:bodyPr wrap="square" rtlCol="0" anchor="ctr"/>
          <a:lstStyle/>
          <a:p>
            <a:pPr indent="0" marL="0">
              <a:buNone/>
            </a:pPr>
            <a:r>
              <a:rPr lang="en-US" sz="1300" b="1" spc="220" kern="0" dirty="0">
                <a:solidFill>
                  <a:srgbClr val="6E37B0"/>
                </a:solidFill>
                <a:latin typeface="Arial" pitchFamily="34" charset="0"/>
                <a:ea typeface="Arial" pitchFamily="34" charset="-122"/>
                <a:cs typeface="Arial" pitchFamily="34" charset="-120"/>
              </a:rPr>
              <a:t>APPENDIX B</a:t>
            </a:r>
            <a:endParaRPr lang="en-US" sz="1300" dirty="0"/>
          </a:p>
        </p:txBody>
      </p:sp>
      <p:sp>
        <p:nvSpPr>
          <p:cNvPr id="5" name="Text 3"/>
          <p:cNvSpPr/>
          <p:nvPr/>
        </p:nvSpPr>
        <p:spPr>
          <a:xfrm>
            <a:off x="658368" y="950976"/>
            <a:ext cx="10881360" cy="713232"/>
          </a:xfrm>
          <a:prstGeom prst="rect">
            <a:avLst/>
          </a:prstGeom>
          <a:noFill/>
          <a:ln/>
        </p:spPr>
        <p:txBody>
          <a:bodyPr wrap="square" rtlCol="0" anchor="ctr"/>
          <a:lstStyle/>
          <a:p>
            <a:pPr indent="0" marL="0">
              <a:buNone/>
            </a:pPr>
            <a:r>
              <a:rPr lang="en-US" sz="3000" b="1" dirty="0">
                <a:solidFill>
                  <a:srgbClr val="120B17"/>
                </a:solidFill>
                <a:latin typeface="Trebuchet MS" pitchFamily="34" charset="0"/>
                <a:ea typeface="Trebuchet MS" pitchFamily="34" charset="-122"/>
                <a:cs typeface="Trebuchet MS" pitchFamily="34" charset="-120"/>
              </a:rPr>
              <a:t>Manufacturer RFQ</a:t>
            </a:r>
            <a:endParaRPr lang="en-US" sz="3000" dirty="0"/>
          </a:p>
        </p:txBody>
      </p:sp>
      <p:sp>
        <p:nvSpPr>
          <p:cNvPr id="6" name="Shape 4"/>
          <p:cNvSpPr/>
          <p:nvPr/>
        </p:nvSpPr>
        <p:spPr>
          <a:xfrm>
            <a:off x="658368" y="1737360"/>
            <a:ext cx="786384" cy="50292"/>
          </a:xfrm>
          <a:prstGeom prst="rect">
            <a:avLst/>
          </a:prstGeom>
          <a:solidFill>
            <a:srgbClr val="6E37B0"/>
          </a:solidFill>
          <a:ln w="12700">
            <a:solidFill>
              <a:srgbClr val="333333"/>
            </a:solidFill>
            <a:prstDash val="solid"/>
          </a:ln>
        </p:spPr>
      </p:sp>
      <p:sp>
        <p:nvSpPr>
          <p:cNvPr id="7" name="Text 5"/>
          <p:cNvSpPr/>
          <p:nvPr/>
        </p:nvSpPr>
        <p:spPr>
          <a:xfrm>
            <a:off x="658368" y="2029968"/>
            <a:ext cx="10881360" cy="310896"/>
          </a:xfrm>
          <a:prstGeom prst="rect">
            <a:avLst/>
          </a:prstGeom>
          <a:noFill/>
          <a:ln/>
        </p:spPr>
        <p:txBody>
          <a:bodyPr wrap="square" rtlCol="0" anchor="ctr"/>
          <a:lstStyle/>
          <a:p>
            <a:pPr indent="0" marL="0">
              <a:buNone/>
            </a:pPr>
            <a:r>
              <a:rPr lang="en-US" sz="1300" b="1" dirty="0">
                <a:solidFill>
                  <a:srgbClr val="120B17"/>
                </a:solidFill>
                <a:latin typeface="Trebuchet MS" pitchFamily="34" charset="0"/>
                <a:ea typeface="Trebuchet MS" pitchFamily="34" charset="-122"/>
                <a:cs typeface="Trebuchet MS" pitchFamily="34" charset="-120"/>
              </a:rPr>
              <a:t>Custom slow-rise polyurethane foam squishy based on an original Squishy Smash character.</a:t>
            </a:r>
            <a:endParaRPr lang="en-US" sz="1300" dirty="0"/>
          </a:p>
        </p:txBody>
      </p:sp>
      <p:sp>
        <p:nvSpPr>
          <p:cNvPr id="8" name="Text 6"/>
          <p:cNvSpPr/>
          <p:nvPr/>
        </p:nvSpPr>
        <p:spPr>
          <a:xfrm>
            <a:off x="658368" y="2432304"/>
            <a:ext cx="3200400" cy="237744"/>
          </a:xfrm>
          <a:prstGeom prst="rect">
            <a:avLst/>
          </a:prstGeom>
          <a:noFill/>
          <a:ln/>
        </p:spPr>
        <p:txBody>
          <a:bodyPr wrap="square" rtlCol="0" anchor="ctr"/>
          <a:lstStyle/>
          <a:p>
            <a:pPr indent="0" marL="0">
              <a:buNone/>
            </a:pPr>
            <a:r>
              <a:rPr lang="en-US" sz="900" b="1" spc="140" kern="0" dirty="0">
                <a:solidFill>
                  <a:srgbClr val="17788F"/>
                </a:solidFill>
                <a:latin typeface="Arial" pitchFamily="34" charset="0"/>
                <a:ea typeface="Arial" pitchFamily="34" charset="-122"/>
                <a:cs typeface="Arial" pitchFamily="34" charset="-120"/>
              </a:rPr>
              <a:t>WE CAN PROVIDE</a:t>
            </a:r>
            <a:endParaRPr lang="en-US" sz="900" dirty="0"/>
          </a:p>
        </p:txBody>
      </p:sp>
      <p:sp>
        <p:nvSpPr>
          <p:cNvPr id="9" name="Shape 7"/>
          <p:cNvSpPr/>
          <p:nvPr/>
        </p:nvSpPr>
        <p:spPr>
          <a:xfrm>
            <a:off x="658368" y="2814066"/>
            <a:ext cx="91440" cy="91440"/>
          </a:xfrm>
          <a:prstGeom prst="ellipse">
            <a:avLst/>
          </a:prstGeom>
          <a:solidFill>
            <a:srgbClr val="17788F"/>
          </a:solidFill>
          <a:ln w="12700">
            <a:solidFill>
              <a:srgbClr val="333333"/>
            </a:solidFill>
            <a:prstDash val="solid"/>
          </a:ln>
        </p:spPr>
      </p:sp>
      <p:sp>
        <p:nvSpPr>
          <p:cNvPr id="10" name="Text 8"/>
          <p:cNvSpPr/>
          <p:nvPr/>
        </p:nvSpPr>
        <p:spPr>
          <a:xfrm>
            <a:off x="859536" y="2724912"/>
            <a:ext cx="2816352" cy="292608"/>
          </a:xfrm>
          <a:prstGeom prst="rect">
            <a:avLst/>
          </a:prstGeom>
          <a:noFill/>
          <a:ln/>
        </p:spPr>
        <p:txBody>
          <a:bodyPr wrap="square" rtlCol="0" anchor="t"/>
          <a:lstStyle/>
          <a:p>
            <a:pPr indent="0" marL="0">
              <a:buNone/>
            </a:pPr>
            <a:r>
              <a:rPr lang="en-US" sz="1050" dirty="0">
                <a:solidFill>
                  <a:srgbClr val="120B17"/>
                </a:solidFill>
                <a:latin typeface="Arial" pitchFamily="34" charset="0"/>
                <a:ea typeface="Arial" pitchFamily="34" charset="-122"/>
                <a:cs typeface="Arial" pitchFamily="34" charset="-120"/>
              </a:rPr>
              <a:t>Existing 3D model (GLB)</a:t>
            </a:r>
            <a:endParaRPr lang="en-US" sz="1050" dirty="0"/>
          </a:p>
        </p:txBody>
      </p:sp>
      <p:sp>
        <p:nvSpPr>
          <p:cNvPr id="11" name="Shape 9"/>
          <p:cNvSpPr/>
          <p:nvPr/>
        </p:nvSpPr>
        <p:spPr>
          <a:xfrm>
            <a:off x="658368" y="3106674"/>
            <a:ext cx="91440" cy="91440"/>
          </a:xfrm>
          <a:prstGeom prst="ellipse">
            <a:avLst/>
          </a:prstGeom>
          <a:solidFill>
            <a:srgbClr val="17788F"/>
          </a:solidFill>
          <a:ln w="12700">
            <a:solidFill>
              <a:srgbClr val="333333"/>
            </a:solidFill>
            <a:prstDash val="solid"/>
          </a:ln>
        </p:spPr>
      </p:sp>
      <p:sp>
        <p:nvSpPr>
          <p:cNvPr id="12" name="Text 10"/>
          <p:cNvSpPr/>
          <p:nvPr/>
        </p:nvSpPr>
        <p:spPr>
          <a:xfrm>
            <a:off x="859536" y="3017520"/>
            <a:ext cx="2816352" cy="292608"/>
          </a:xfrm>
          <a:prstGeom prst="rect">
            <a:avLst/>
          </a:prstGeom>
          <a:noFill/>
          <a:ln/>
        </p:spPr>
        <p:txBody>
          <a:bodyPr wrap="square" rtlCol="0" anchor="t"/>
          <a:lstStyle/>
          <a:p>
            <a:pPr indent="0" marL="0">
              <a:buNone/>
            </a:pPr>
            <a:r>
              <a:rPr lang="en-US" sz="1050" dirty="0">
                <a:solidFill>
                  <a:srgbClr val="120B17"/>
                </a:solidFill>
                <a:latin typeface="Arial" pitchFamily="34" charset="0"/>
                <a:ea typeface="Arial" pitchFamily="34" charset="-122"/>
                <a:cs typeface="Arial" pitchFamily="34" charset="-120"/>
              </a:rPr>
              <a:t>Colour character artwork</a:t>
            </a:r>
            <a:endParaRPr lang="en-US" sz="1050" dirty="0"/>
          </a:p>
        </p:txBody>
      </p:sp>
      <p:sp>
        <p:nvSpPr>
          <p:cNvPr id="13" name="Shape 11"/>
          <p:cNvSpPr/>
          <p:nvPr/>
        </p:nvSpPr>
        <p:spPr>
          <a:xfrm>
            <a:off x="658368" y="3399282"/>
            <a:ext cx="91440" cy="91440"/>
          </a:xfrm>
          <a:prstGeom prst="ellipse">
            <a:avLst/>
          </a:prstGeom>
          <a:solidFill>
            <a:srgbClr val="17788F"/>
          </a:solidFill>
          <a:ln w="12700">
            <a:solidFill>
              <a:srgbClr val="333333"/>
            </a:solidFill>
            <a:prstDash val="solid"/>
          </a:ln>
        </p:spPr>
      </p:sp>
      <p:sp>
        <p:nvSpPr>
          <p:cNvPr id="14" name="Text 12"/>
          <p:cNvSpPr/>
          <p:nvPr/>
        </p:nvSpPr>
        <p:spPr>
          <a:xfrm>
            <a:off x="859536" y="3310128"/>
            <a:ext cx="2816352" cy="292608"/>
          </a:xfrm>
          <a:prstGeom prst="rect">
            <a:avLst/>
          </a:prstGeom>
          <a:noFill/>
          <a:ln/>
        </p:spPr>
        <p:txBody>
          <a:bodyPr wrap="square" rtlCol="0" anchor="t"/>
          <a:lstStyle/>
          <a:p>
            <a:pPr indent="0" marL="0">
              <a:buNone/>
            </a:pPr>
            <a:r>
              <a:rPr lang="en-US" sz="1050" dirty="0">
                <a:solidFill>
                  <a:srgbClr val="120B17"/>
                </a:solidFill>
                <a:latin typeface="Arial" pitchFamily="34" charset="0"/>
                <a:ea typeface="Arial" pitchFamily="34" charset="-122"/>
                <a:cs typeface="Arial" pitchFamily="34" charset="-120"/>
              </a:rPr>
              <a:t>Front / side / back references</a:t>
            </a:r>
            <a:endParaRPr lang="en-US" sz="1050" dirty="0"/>
          </a:p>
        </p:txBody>
      </p:sp>
      <p:sp>
        <p:nvSpPr>
          <p:cNvPr id="15" name="Shape 13"/>
          <p:cNvSpPr/>
          <p:nvPr/>
        </p:nvSpPr>
        <p:spPr>
          <a:xfrm>
            <a:off x="658368" y="3691890"/>
            <a:ext cx="91440" cy="91440"/>
          </a:xfrm>
          <a:prstGeom prst="ellipse">
            <a:avLst/>
          </a:prstGeom>
          <a:solidFill>
            <a:srgbClr val="17788F"/>
          </a:solidFill>
          <a:ln w="12700">
            <a:solidFill>
              <a:srgbClr val="333333"/>
            </a:solidFill>
            <a:prstDash val="solid"/>
          </a:ln>
        </p:spPr>
      </p:sp>
      <p:sp>
        <p:nvSpPr>
          <p:cNvPr id="16" name="Text 14"/>
          <p:cNvSpPr/>
          <p:nvPr/>
        </p:nvSpPr>
        <p:spPr>
          <a:xfrm>
            <a:off x="859536" y="3602736"/>
            <a:ext cx="2816352" cy="292608"/>
          </a:xfrm>
          <a:prstGeom prst="rect">
            <a:avLst/>
          </a:prstGeom>
          <a:noFill/>
          <a:ln/>
        </p:spPr>
        <p:txBody>
          <a:bodyPr wrap="square" rtlCol="0" anchor="t"/>
          <a:lstStyle/>
          <a:p>
            <a:pPr indent="0" marL="0">
              <a:buNone/>
            </a:pPr>
            <a:r>
              <a:rPr lang="en-US" sz="1050" dirty="0">
                <a:solidFill>
                  <a:srgbClr val="120B17"/>
                </a:solidFill>
                <a:latin typeface="Arial" pitchFamily="34" charset="0"/>
                <a:ea typeface="Arial" pitchFamily="34" charset="-122"/>
                <a:cs typeface="Arial" pitchFamily="34" charset="-120"/>
              </a:rPr>
              <a:t>Logo and branding assets</a:t>
            </a:r>
            <a:endParaRPr lang="en-US" sz="1050" dirty="0"/>
          </a:p>
        </p:txBody>
      </p:sp>
      <p:sp>
        <p:nvSpPr>
          <p:cNvPr id="17" name="Shape 15"/>
          <p:cNvSpPr/>
          <p:nvPr/>
        </p:nvSpPr>
        <p:spPr>
          <a:xfrm>
            <a:off x="658368" y="3984498"/>
            <a:ext cx="91440" cy="91440"/>
          </a:xfrm>
          <a:prstGeom prst="ellipse">
            <a:avLst/>
          </a:prstGeom>
          <a:solidFill>
            <a:srgbClr val="17788F"/>
          </a:solidFill>
          <a:ln w="12700">
            <a:solidFill>
              <a:srgbClr val="333333"/>
            </a:solidFill>
            <a:prstDash val="solid"/>
          </a:ln>
        </p:spPr>
      </p:sp>
      <p:sp>
        <p:nvSpPr>
          <p:cNvPr id="18" name="Text 16"/>
          <p:cNvSpPr/>
          <p:nvPr/>
        </p:nvSpPr>
        <p:spPr>
          <a:xfrm>
            <a:off x="859536" y="3895344"/>
            <a:ext cx="2816352" cy="292608"/>
          </a:xfrm>
          <a:prstGeom prst="rect">
            <a:avLst/>
          </a:prstGeom>
          <a:noFill/>
          <a:ln/>
        </p:spPr>
        <p:txBody>
          <a:bodyPr wrap="square" rtlCol="0" anchor="t"/>
          <a:lstStyle/>
          <a:p>
            <a:pPr indent="0" marL="0">
              <a:buNone/>
            </a:pPr>
            <a:r>
              <a:rPr lang="en-US" sz="1050" dirty="0">
                <a:solidFill>
                  <a:srgbClr val="120B17"/>
                </a:solidFill>
                <a:latin typeface="Arial" pitchFamily="34" charset="0"/>
                <a:ea typeface="Arial" pitchFamily="34" charset="-122"/>
                <a:cs typeface="Arial" pitchFamily="34" charset="-120"/>
              </a:rPr>
              <a:t>Packaging concept</a:t>
            </a:r>
            <a:endParaRPr lang="en-US" sz="1050" dirty="0"/>
          </a:p>
        </p:txBody>
      </p:sp>
      <p:sp>
        <p:nvSpPr>
          <p:cNvPr id="19" name="Text 17"/>
          <p:cNvSpPr/>
          <p:nvPr/>
        </p:nvSpPr>
        <p:spPr>
          <a:xfrm>
            <a:off x="4114800" y="2432304"/>
            <a:ext cx="7315200" cy="237744"/>
          </a:xfrm>
          <a:prstGeom prst="rect">
            <a:avLst/>
          </a:prstGeom>
          <a:noFill/>
          <a:ln/>
        </p:spPr>
        <p:txBody>
          <a:bodyPr wrap="square" rtlCol="0" anchor="ctr"/>
          <a:lstStyle/>
          <a:p>
            <a:pPr indent="0" marL="0">
              <a:buNone/>
            </a:pPr>
            <a:r>
              <a:rPr lang="en-US" sz="900" b="1" spc="140" kern="0" dirty="0">
                <a:solidFill>
                  <a:srgbClr val="C4306E"/>
                </a:solidFill>
                <a:latin typeface="Arial" pitchFamily="34" charset="0"/>
                <a:ea typeface="Arial" pitchFamily="34" charset="-122"/>
                <a:cs typeface="Arial" pitchFamily="34" charset="-120"/>
              </a:rPr>
              <a:t>INFORMATION REQUESTED</a:t>
            </a:r>
            <a:endParaRPr lang="en-US" sz="900" dirty="0"/>
          </a:p>
        </p:txBody>
      </p:sp>
      <p:sp>
        <p:nvSpPr>
          <p:cNvPr id="20" name="Text 18"/>
          <p:cNvSpPr/>
          <p:nvPr/>
        </p:nvSpPr>
        <p:spPr>
          <a:xfrm>
            <a:off x="4114800" y="272491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1.  Prototype and sample cost</a:t>
            </a:r>
            <a:endParaRPr lang="en-US" sz="1000" dirty="0"/>
          </a:p>
        </p:txBody>
      </p:sp>
      <p:sp>
        <p:nvSpPr>
          <p:cNvPr id="21" name="Text 19"/>
          <p:cNvSpPr/>
          <p:nvPr/>
        </p:nvSpPr>
        <p:spPr>
          <a:xfrm>
            <a:off x="4114800" y="299923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2.  Mold and tooling cost per character</a:t>
            </a:r>
            <a:endParaRPr lang="en-US" sz="1000" dirty="0"/>
          </a:p>
        </p:txBody>
      </p:sp>
      <p:sp>
        <p:nvSpPr>
          <p:cNvPr id="22" name="Text 20"/>
          <p:cNvSpPr/>
          <p:nvPr/>
        </p:nvSpPr>
        <p:spPr>
          <a:xfrm>
            <a:off x="4114800" y="327355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3.  Minimum order quantity</a:t>
            </a:r>
            <a:endParaRPr lang="en-US" sz="1000" dirty="0"/>
          </a:p>
        </p:txBody>
      </p:sp>
      <p:sp>
        <p:nvSpPr>
          <p:cNvPr id="23" name="Text 21"/>
          <p:cNvSpPr/>
          <p:nvPr/>
        </p:nvSpPr>
        <p:spPr>
          <a:xfrm>
            <a:off x="4114800" y="354787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4.  Unit cost at 250 / 500 / 1,000 / 5,000 pieces</a:t>
            </a:r>
            <a:endParaRPr lang="en-US" sz="1000" dirty="0"/>
          </a:p>
        </p:txBody>
      </p:sp>
      <p:sp>
        <p:nvSpPr>
          <p:cNvPr id="24" name="Text 22"/>
          <p:cNvSpPr/>
          <p:nvPr/>
        </p:nvSpPr>
        <p:spPr>
          <a:xfrm>
            <a:off x="4114800" y="382219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5.  Development and production timelines</a:t>
            </a:r>
            <a:endParaRPr lang="en-US" sz="1000" dirty="0"/>
          </a:p>
        </p:txBody>
      </p:sp>
      <p:sp>
        <p:nvSpPr>
          <p:cNvPr id="25" name="Text 23"/>
          <p:cNvSpPr/>
          <p:nvPr/>
        </p:nvSpPr>
        <p:spPr>
          <a:xfrm>
            <a:off x="4114800" y="409651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6.  Available foam densities and rebound speeds</a:t>
            </a:r>
            <a:endParaRPr lang="en-US" sz="1000" dirty="0"/>
          </a:p>
        </p:txBody>
      </p:sp>
      <p:sp>
        <p:nvSpPr>
          <p:cNvPr id="26" name="Text 24"/>
          <p:cNvSpPr/>
          <p:nvPr/>
        </p:nvSpPr>
        <p:spPr>
          <a:xfrm>
            <a:off x="4114800" y="437083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7.  Paint and coating options</a:t>
            </a:r>
            <a:endParaRPr lang="en-US" sz="1000" dirty="0"/>
          </a:p>
        </p:txBody>
      </p:sp>
      <p:sp>
        <p:nvSpPr>
          <p:cNvPr id="27" name="Text 25"/>
          <p:cNvSpPr/>
          <p:nvPr/>
        </p:nvSpPr>
        <p:spPr>
          <a:xfrm>
            <a:off x="7909560" y="272491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8.  Scent, glitter, glow or colour-change options</a:t>
            </a:r>
            <a:endParaRPr lang="en-US" sz="1000" dirty="0"/>
          </a:p>
        </p:txBody>
      </p:sp>
      <p:sp>
        <p:nvSpPr>
          <p:cNvPr id="28" name="Text 26"/>
          <p:cNvSpPr/>
          <p:nvPr/>
        </p:nvSpPr>
        <p:spPr>
          <a:xfrm>
            <a:off x="7909560" y="299923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9.  Packaging capabilities</a:t>
            </a:r>
            <a:endParaRPr lang="en-US" sz="1000" dirty="0"/>
          </a:p>
        </p:txBody>
      </p:sp>
      <p:sp>
        <p:nvSpPr>
          <p:cNvPr id="29" name="Text 27"/>
          <p:cNvSpPr/>
          <p:nvPr/>
        </p:nvSpPr>
        <p:spPr>
          <a:xfrm>
            <a:off x="7909560" y="327355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10.  Product safety testing support</a:t>
            </a:r>
            <a:endParaRPr lang="en-US" sz="1000" dirty="0"/>
          </a:p>
        </p:txBody>
      </p:sp>
      <p:sp>
        <p:nvSpPr>
          <p:cNvPr id="30" name="Text 28"/>
          <p:cNvSpPr/>
          <p:nvPr/>
        </p:nvSpPr>
        <p:spPr>
          <a:xfrm>
            <a:off x="7909560" y="354787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11.  Shipping terms and freight options</a:t>
            </a:r>
            <a:endParaRPr lang="en-US" sz="1000" dirty="0"/>
          </a:p>
        </p:txBody>
      </p:sp>
      <p:sp>
        <p:nvSpPr>
          <p:cNvPr id="31" name="Text 29"/>
          <p:cNvSpPr/>
          <p:nvPr/>
        </p:nvSpPr>
        <p:spPr>
          <a:xfrm>
            <a:off x="7909560" y="382219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12.  Ownership and storage of molds</a:t>
            </a:r>
            <a:endParaRPr lang="en-US" sz="1000" dirty="0"/>
          </a:p>
        </p:txBody>
      </p:sp>
      <p:sp>
        <p:nvSpPr>
          <p:cNvPr id="32" name="Text 30"/>
          <p:cNvSpPr/>
          <p:nvPr/>
        </p:nvSpPr>
        <p:spPr>
          <a:xfrm>
            <a:off x="7909560" y="409651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13.  Sample revision policy</a:t>
            </a:r>
            <a:endParaRPr lang="en-US" sz="1000" dirty="0"/>
          </a:p>
        </p:txBody>
      </p:sp>
      <p:sp>
        <p:nvSpPr>
          <p:cNvPr id="33" name="Text 31"/>
          <p:cNvSpPr/>
          <p:nvPr/>
        </p:nvSpPr>
        <p:spPr>
          <a:xfrm>
            <a:off x="7909560" y="4370832"/>
            <a:ext cx="3657600" cy="274320"/>
          </a:xfrm>
          <a:prstGeom prst="rect">
            <a:avLst/>
          </a:prstGeom>
          <a:noFill/>
          <a:ln/>
        </p:spPr>
        <p:txBody>
          <a:bodyPr wrap="square" rtlCol="0" anchor="t"/>
          <a:lstStyle/>
          <a:p>
            <a:pPr indent="0" marL="0">
              <a:buNone/>
            </a:pPr>
            <a:r>
              <a:rPr lang="en-US" sz="1000" dirty="0">
                <a:solidFill>
                  <a:srgbClr val="4A3F52"/>
                </a:solidFill>
                <a:latin typeface="Arial" pitchFamily="34" charset="0"/>
                <a:ea typeface="Arial" pitchFamily="34" charset="-122"/>
                <a:cs typeface="Arial" pitchFamily="34" charset="-120"/>
              </a:rPr>
              <a:t>14.  Payment schedule</a:t>
            </a:r>
            <a:endParaRPr lang="en-US" sz="1000" dirty="0"/>
          </a:p>
        </p:txBody>
      </p:sp>
      <p:sp>
        <p:nvSpPr>
          <p:cNvPr id="34" name="Shape 32"/>
          <p:cNvSpPr/>
          <p:nvPr/>
        </p:nvSpPr>
        <p:spPr>
          <a:xfrm>
            <a:off x="658368" y="4791456"/>
            <a:ext cx="10881360" cy="566928"/>
          </a:xfrm>
          <a:prstGeom prst="roundRect">
            <a:avLst>
              <a:gd name="adj" fmla="val 22581"/>
            </a:avLst>
          </a:prstGeom>
          <a:solidFill>
            <a:srgbClr val="F2FAFD"/>
          </a:solidFill>
          <a:ln w="12700">
            <a:solidFill>
              <a:srgbClr val="333333"/>
            </a:solidFill>
            <a:prstDash val="solid"/>
          </a:ln>
        </p:spPr>
      </p:sp>
      <p:sp>
        <p:nvSpPr>
          <p:cNvPr id="35" name="Text 33"/>
          <p:cNvSpPr/>
          <p:nvPr/>
        </p:nvSpPr>
        <p:spPr>
          <a:xfrm>
            <a:off x="932688" y="4791456"/>
            <a:ext cx="10332720" cy="566928"/>
          </a:xfrm>
          <a:prstGeom prst="rect">
            <a:avLst/>
          </a:prstGeom>
          <a:noFill/>
          <a:ln/>
        </p:spPr>
        <p:txBody>
          <a:bodyPr wrap="square" rtlCol="0" anchor="ctr"/>
          <a:lstStyle/>
          <a:p>
            <a:pPr indent="0" marL="0">
              <a:buNone/>
            </a:pPr>
            <a:r>
              <a:rPr lang="en-US" sz="1050" dirty="0">
                <a:solidFill>
                  <a:srgbClr val="120B17"/>
                </a:solidFill>
                <a:latin typeface="Arial" pitchFamily="34" charset="0"/>
                <a:ea typeface="Arial" pitchFamily="34" charset="-122"/>
                <a:cs typeface="Arial" pitchFamily="34" charset="-120"/>
              </a:rPr>
              <a:t>Please confirm whether you can support applicable U.S. toy-safety requirements, including age grading, labelling, tracking information and third-party testing where required.</a:t>
            </a:r>
            <a:endParaRPr lang="en-US" sz="1050" dirty="0"/>
          </a:p>
        </p:txBody>
      </p:sp>
      <p:sp>
        <p:nvSpPr>
          <p:cNvPr id="36" name="Text 34"/>
          <p:cNvSpPr/>
          <p:nvPr/>
        </p:nvSpPr>
        <p:spPr>
          <a:xfrm>
            <a:off x="658368" y="5449824"/>
            <a:ext cx="10881360" cy="384048"/>
          </a:xfrm>
          <a:prstGeom prst="rect">
            <a:avLst/>
          </a:prstGeom>
          <a:noFill/>
          <a:ln/>
        </p:spPr>
        <p:txBody>
          <a:bodyPr wrap="square" rtlCol="0" anchor="t"/>
          <a:lstStyle/>
          <a:p>
            <a:pPr indent="0" marL="0">
              <a:buNone/>
            </a:pPr>
            <a:r>
              <a:rPr lang="en-US" sz="1050" i="1" dirty="0">
                <a:solidFill>
                  <a:srgbClr val="7C6E86"/>
                </a:solidFill>
                <a:latin typeface="Arial" pitchFamily="34" charset="0"/>
                <a:ea typeface="Arial" pitchFamily="34" charset="-122"/>
                <a:cs typeface="Arial" pitchFamily="34" charset="-120"/>
              </a:rPr>
              <a:t>This list is a discussion starting point, not legal advice. Compliance requirements will be confirmed with qualified professionals and accredited testing laboratories.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Squishy Smash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Squishy Smash — Licensing &amp; Manufacturing Opportunity</dc:title>
  <dc:subject>Licensing and manufacturing partnership deck</dc:subject>
  <dc:creator>Christopher Ryan Campbell</dc:creator>
  <cp:lastModifiedBy>Christopher Ryan Campbell</cp:lastModifiedBy>
  <cp:revision>1</cp:revision>
  <dcterms:created xsi:type="dcterms:W3CDTF">2026-07-25T09:01:49Z</dcterms:created>
  <dcterms:modified xsi:type="dcterms:W3CDTF">2026-07-25T09:01:49Z</dcterms:modified>
</cp:coreProperties>
</file>